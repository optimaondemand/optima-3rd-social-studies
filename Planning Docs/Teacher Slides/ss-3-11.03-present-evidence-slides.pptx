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notesMasterIdLst>
    <p:notesMasterId r:id="rId24"/>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notesMaster" Target="notesMasters/notesMaster1.xml"/><Relationship Id="rId25" Type="http://schemas.openxmlformats.org/officeDocument/2006/relationships/presProps" Target="presProps.xml"/><Relationship Id="rId26" Type="http://schemas.openxmlformats.org/officeDocument/2006/relationships/viewProps" Target="viewProps.xml"/><Relationship Id="rId27" Type="http://schemas.openxmlformats.org/officeDocument/2006/relationships/theme" Target="theme/theme1.xml"/><Relationship Id="rId2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IMAGE TO INSERT: Wide museum exhibition hall at golden hour, red-velvet ropes, spotlights on a finished student exhibit panel with a map, a photograph, and a small placard, visitors' silhouettes gathering near the entrance.Visitor Day at the Museum. Build the energy of visitor day. Say: 'Listen -- that sound? Visitors are arriving. They want to hear you explain your exhibit.' Read the Curator's Question aloud. This is the final synthesis lesson before the closing lesson tomorrow.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IMAGE TO INSERT: The museum director standing in a doorway with lobby noise and visitor silhouettes behind her, speaking to a student curator holding a notebook beside their exhibit panel.Read the director's quote aloud with energy. Name the virtue: honesty -- 'Honesty for a museum guide isn't just telling the truth. It's saying what you actually know AND what you're still figuring out.' Reassure: 'You don't have to memorize a speech. You just have to know your four pieces and tell the truth about your choices.' Under 2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IMAGE TO INSERT: A single spotlight illuminating an open notebook page with the word HONESTY written at the top, museum hall softly blurred in the background.Explain both roles: Exhibit Designer (already done) and the new job, Museum Guide. This lesson is about presenting three kinds of evidence -- map, source, and virtue evidence -- honestly. Preview: 'Let's learn what a great walk-through sounds like before visitors reach your panel.'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both quotes aloud in different voices. Give 5 seconds of silence. Do not tell students which is better yet -- let them notice on the next slide. This begins Discovery Cycle 1: Map Evidence.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Facilitate discussion using the Socratic panel. Students should notice that naming the place + giving a real reason is stronger than a big claim with no proof. This discussion scaffolds Evidence Question 1: 'What's one honest thing you'd say about your map to a visitor, including a part you're still figuring out?'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IMAGE TO INSERT: A glowing museum placard reading MAP EVIDENCE STANDARD mounted beside a well-labeled regional map with a compass rose and legend.Name the standard students discovered: naming the place + a real reason + honesty about what's unclear. This is Step 2 of the five-step walk-through (Show the map). Give the retrieval challenge, then move to Source Evidence.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both quotes aloud. Guide A makes a huge unprovable claim; Guide B names the source type (photo) and what it proves. Give 5 seconds of silent thinking before moving to discussion.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discussion scaffolds Evidence Question 2: 'Why did you really pick this source? Tell it the way you'd tell a visitor -- in your own words.' Push students to name the source type and what it proves, in their own words, not fancy language.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IMAGE TO INSERT: A museum placard reading SOURCE EVIDENCE STANDARD beside a labeled primary source photograph with a small magnifying glass icon.Name the standard: source type + what it proves, in plain words. This is Step 3 of the five-step walk-through (Explain the source). Now move to Virtue Evidence, the third and final cycle.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both quotes. Guide A over-generalizes ('every person'); Guide B gives a specific, honest, real example and admits the limit of the claim. This begins the final discovery cycle: Virtue Evidence.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discussion scaffolds Evidence Question 3: 'Why does the virtue you chose matter for your community or region?' Push students toward real, specific examples of people doing things, not just abstract ideas.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IMAGE TO INSERT: A museum placard reading VIRTUE EVIDENCE STANDARD beside a photo of community members helping one another, with a small honesty medallion icon.Name the final standard: virtue connects to real, specific people, and invites a question. This completes Step 5 of the five-step walk-through. All three evidence cycles (map, source, virtue) are now discovered -- move to the Big Picture.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the full five-step shape together for the first time -- students already discovered each piece in the three cycles. Say: 'This is the whole shape. Five steps. You can do it in about a minute.' Under 1 minute.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Teacher think-aloud: model one full walk-through using this example. Mention honesty: 'If a visitor asks something you don't know, just say Good question -- I'm not sure, but here's my best guess.' 3-4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Build one shared example walk-through as a whole class, calling on volunteers for each step. Use the Socratic panel to prompt each of the five steps in order. This rehearses the shape before students attempt their own.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Students turn and practice their own walk-through out loud with a partner or quietly to themselves, using their own map/source/community/virtue choices from earlier lessons. Circulate and listen for honest, specific language rather than memorized-sounding speech.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this deliberately flawed walk-through -- all claims, no proof, no honesty about uncertainty, and it skips the source and community steps entirely. Students identify every problem using the Socratic panel. This is where deep understanding happens -- do not skip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genuinely debatable case: honesty when you don't know an answer. Let students argue it out before revealing the lesson's honest-answer model: 'Good question -- I'm not sure of the exact number, but I know it's one of the bigger communities in the region.'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Click to reveal each answer after students respond in chat or on whiteboards. Celebrate briefly: 'Three for three. You've got the shape of a walk-through and you understand honesty. Now go write your script.' Under 30 seconds if scores are strong; review answers together if not.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each evidence question and model honestly, e.g. Q1: 'What's one honest thing about your map -- including something you're still figuring out?' Then explain the Curator Task: write the full script, 5-7 sentences, all five steps in order. All three evidence questions and the task were rehearsed in Cycles 1-3 and Guided Practice. 2-3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the exact Chronicle sentence frame verbatim -- students fill in their own words. Then review the turn-in checklist so students know exactly what 'done' looks like before they submit.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IMAGE TO INSERT: Museum hallway at dusk seen from inside, doors about to open to a crowd of community visitors outside, warm light spilling in, a single Exhibit Designer badge glowing on a nearby panel.Speak warmly: 'You guided real visitors today. Some asked tough questions, and you answered honestly. That's what real curators do.' Then build toward the finale: tomorrow is the last lesson of the year, the museum opens to the whole community, and the director has something to tell every Exhibit Designer before the doors unlock. Under 1 minute.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B1835"/>
          </a:solidFill>
          <a:ln w="19050">
            <a:solidFill>
              <a:srgbClr val="3A5080"/>
            </a:solidFill>
            <a:prstDash val="dash"/>
          </a:ln>
        </p:spPr>
      </p:sp>
      <p:sp>
        <p:nvSpPr>
          <p:cNvPr id="3" name="Shape 1"/>
          <p:cNvSpPr/>
          <p:nvPr/>
        </p:nvSpPr>
        <p:spPr>
          <a:xfrm>
            <a:off x="0" y="0"/>
            <a:ext cx="12191695" cy="6858000"/>
          </a:xfrm>
          <a:prstGeom prst="rect">
            <a:avLst/>
          </a:prstGeom>
          <a:solidFill>
            <a:srgbClr val="0E1C42">
              <a:alpha val="62000"/>
            </a:srgbClr>
          </a:solidFill>
          <a:ln/>
        </p:spPr>
      </p:sp>
      <p:sp>
        <p:nvSpPr>
          <p:cNvPr id="5" name="Text 2"/>
          <p:cNvSpPr/>
          <p:nvPr/>
        </p:nvSpPr>
        <p:spPr>
          <a:xfrm>
            <a:off x="1097280" y="853440"/>
            <a:ext cx="9753600" cy="487680"/>
          </a:xfrm>
          <a:prstGeom prst="rect">
            <a:avLst/>
          </a:prstGeom>
          <a:noFill/>
          <a:ln/>
        </p:spPr>
        <p:txBody>
          <a:bodyPr wrap="square" rtlCol="0" anchor="ctr"/>
          <a:lstStyle/>
          <a:p>
            <a:pPr indent="0" marL="0">
              <a:buNone/>
            </a:pPr>
            <a:r>
              <a:rPr lang="en-US" sz="1400" b="1" spc="200" kern="0" dirty="0">
                <a:solidFill>
                  <a:srgbClr val="55C8E8"/>
                </a:solidFill>
                <a:latin typeface="Cambria" pitchFamily="34" charset="0"/>
                <a:ea typeface="Cambria" pitchFamily="34" charset="-122"/>
                <a:cs typeface="Cambria" pitchFamily="34" charset="-120"/>
              </a:rPr>
              <a:t>GRAND EXHIBITION HALL</a:t>
            </a:r>
            <a:endParaRPr lang="en-US" sz="1400" dirty="0"/>
          </a:p>
        </p:txBody>
      </p:sp>
      <p:sp>
        <p:nvSpPr>
          <p:cNvPr id="6" name="Text 3"/>
          <p:cNvSpPr/>
          <p:nvPr/>
        </p:nvSpPr>
        <p:spPr>
          <a:xfrm>
            <a:off x="1097280" y="1524000"/>
            <a:ext cx="10241280" cy="853440"/>
          </a:xfrm>
          <a:prstGeom prst="rect">
            <a:avLst/>
          </a:prstGeom>
          <a:noFill/>
          <a:ln/>
        </p:spPr>
        <p:txBody>
          <a:bodyPr wrap="square" rtlCol="0" anchor="ctr"/>
          <a:lstStyle/>
          <a:p>
            <a:pPr indent="0" marL="0">
              <a:buNone/>
            </a:pPr>
            <a:r>
              <a:rPr lang="en-US" sz="3400" b="1" dirty="0">
                <a:solidFill>
                  <a:srgbClr val="FFFFFF"/>
                </a:solidFill>
                <a:latin typeface="Cambria" pitchFamily="34" charset="0"/>
                <a:ea typeface="Cambria" pitchFamily="34" charset="-122"/>
                <a:cs typeface="Cambria" pitchFamily="34" charset="-120"/>
              </a:rPr>
              <a:t>Present the Evidence:</a:t>
            </a:r>
            <a:endParaRPr lang="en-US" sz="3400" dirty="0"/>
          </a:p>
        </p:txBody>
      </p:sp>
      <p:sp>
        <p:nvSpPr>
          <p:cNvPr id="7" name="Text 4"/>
          <p:cNvSpPr/>
          <p:nvPr/>
        </p:nvSpPr>
        <p:spPr>
          <a:xfrm>
            <a:off x="1097280" y="2377440"/>
            <a:ext cx="10241280" cy="853440"/>
          </a:xfrm>
          <a:prstGeom prst="rect">
            <a:avLst/>
          </a:prstGeom>
          <a:noFill/>
          <a:ln/>
        </p:spPr>
        <p:txBody>
          <a:bodyPr wrap="square" rtlCol="0" anchor="ctr"/>
          <a:lstStyle/>
          <a:p>
            <a:pPr indent="0" marL="0">
              <a:buNone/>
            </a:pPr>
            <a:r>
              <a:rPr lang="en-US" sz="3400" b="1" dirty="0">
                <a:solidFill>
                  <a:srgbClr val="D4943A"/>
                </a:solidFill>
                <a:latin typeface="Cambria" pitchFamily="34" charset="0"/>
                <a:ea typeface="Cambria" pitchFamily="34" charset="-122"/>
                <a:cs typeface="Cambria" pitchFamily="34" charset="-120"/>
              </a:rPr>
              <a:t>Map, Source, and Virtue</a:t>
            </a:r>
            <a:endParaRPr lang="en-US" sz="3400" dirty="0"/>
          </a:p>
        </p:txBody>
      </p:sp>
      <p:sp>
        <p:nvSpPr>
          <p:cNvPr id="8" name="Text 5"/>
          <p:cNvSpPr/>
          <p:nvPr/>
        </p:nvSpPr>
        <p:spPr>
          <a:xfrm>
            <a:off x="1097280" y="3474720"/>
            <a:ext cx="9753600" cy="487680"/>
          </a:xfrm>
          <a:prstGeom prst="rect">
            <a:avLst/>
          </a:prstGeom>
          <a:noFill/>
          <a:ln/>
        </p:spPr>
        <p:txBody>
          <a:bodyPr wrap="square" lIns="0" tIns="0" rIns="0" bIns="0" rtlCol="0" anchor="ctr"/>
          <a:lstStyle/>
          <a:p>
            <a:pPr indent="0" marL="0">
              <a:buNone/>
            </a:pPr>
            <a:r>
              <a:rPr lang="en-US" sz="1600" dirty="0">
                <a:solidFill>
                  <a:srgbClr val="FFFFFF"/>
                </a:solidFill>
                <a:latin typeface="Calibri" pitchFamily="34" charset="0"/>
                <a:ea typeface="Calibri" pitchFamily="34" charset="-122"/>
                <a:cs typeface="Calibri" pitchFamily="34" charset="-120"/>
              </a:rPr>
              <a:t>Lesson 3.11.03  ·  Historian-Citizen Exhibition</a:t>
            </a:r>
            <a:endParaRPr lang="en-US" sz="1600" dirty="0"/>
          </a:p>
        </p:txBody>
      </p:sp>
      <p:sp>
        <p:nvSpPr>
          <p:cNvPr id="9" name="Shape 6"/>
          <p:cNvSpPr/>
          <p:nvPr/>
        </p:nvSpPr>
        <p:spPr>
          <a:xfrm>
            <a:off x="1097280" y="4267200"/>
            <a:ext cx="9631680" cy="1645920"/>
          </a:xfrm>
          <a:prstGeom prst="roundRect">
            <a:avLst>
              <a:gd name="adj" fmla="val 8889"/>
            </a:avLst>
          </a:prstGeom>
          <a:solidFill>
            <a:srgbClr val="132759"/>
          </a:solidFill>
          <a:ln w="12700">
            <a:solidFill>
              <a:srgbClr val="D8DDEB"/>
            </a:solidFill>
            <a:prstDash val="solid"/>
          </a:ln>
        </p:spPr>
      </p:sp>
      <p:sp>
        <p:nvSpPr>
          <p:cNvPr id="10" name="Text 7"/>
          <p:cNvSpPr/>
          <p:nvPr/>
        </p:nvSpPr>
        <p:spPr>
          <a:xfrm>
            <a:off x="1402080" y="4450080"/>
            <a:ext cx="9022080" cy="1341120"/>
          </a:xfrm>
          <a:prstGeom prst="rect">
            <a:avLst/>
          </a:prstGeom>
          <a:noFill/>
          <a:ln/>
        </p:spPr>
        <p:txBody>
          <a:bodyPr wrap="square" lIns="0" tIns="0" rIns="0" bIns="0" rtlCol="0" anchor="t"/>
          <a:lstStyle/>
          <a:p>
            <a:pPr indent="0" marL="0">
              <a:buNone/>
            </a:pPr>
            <a:r>
              <a:rPr lang="en-US" sz="1200" b="1" dirty="0">
                <a:solidFill>
                  <a:srgbClr val="55C8E8"/>
                </a:solidFill>
                <a:latin typeface="Calibri" pitchFamily="34" charset="0"/>
                <a:ea typeface="Calibri" pitchFamily="34" charset="-122"/>
                <a:cs typeface="Calibri" pitchFamily="34" charset="-120"/>
              </a:rPr>
              <a:t>Today's Big Question
</a:t>
            </a:r>
            <a:endParaRPr lang="en-US" sz="1200" dirty="0"/>
          </a:p>
          <a:p>
            <a:pPr indent="0" marL="0">
              <a:buNone/>
            </a:pPr>
            <a:r>
              <a:rPr lang="en-US" sz="1600" i="1" dirty="0">
                <a:solidFill>
                  <a:srgbClr val="FFFFFF"/>
                </a:solidFill>
                <a:latin typeface="Cambria" pitchFamily="34" charset="0"/>
                <a:ea typeface="Cambria" pitchFamily="34" charset="-122"/>
                <a:cs typeface="Cambria" pitchFamily="34" charset="-120"/>
              </a:rPr>
              <a:t>How can you explain your exhibit so a real visitor truly understands what you chose and why?</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B1835"/>
          </a:solidFill>
          <a:ln w="19050">
            <a:solidFill>
              <a:srgbClr val="3A5080"/>
            </a:solidFill>
            <a:prstDash val="dash"/>
          </a:ln>
        </p:spPr>
      </p:sp>
      <p:sp>
        <p:nvSpPr>
          <p:cNvPr id="3" name="Shape 1"/>
          <p:cNvSpPr/>
          <p:nvPr/>
        </p:nvSpPr>
        <p:spPr>
          <a:xfrm>
            <a:off x="0" y="0"/>
            <a:ext cx="12191695" cy="6858000"/>
          </a:xfrm>
          <a:prstGeom prst="rect">
            <a:avLst/>
          </a:prstGeom>
          <a:solidFill>
            <a:srgbClr val="0E1C42">
              <a:alpha val="62000"/>
            </a:srgbClr>
          </a:solidFill>
          <a:ln/>
        </p:spPr>
      </p:sp>
      <p:sp>
        <p:nvSpPr>
          <p:cNvPr id="5" name="Text 2"/>
          <p:cNvSpPr/>
          <p:nvPr/>
        </p:nvSpPr>
        <p:spPr>
          <a:xfrm>
            <a:off x="853440" y="670560"/>
            <a:ext cx="10485120" cy="731520"/>
          </a:xfrm>
          <a:prstGeom prst="rect">
            <a:avLst/>
          </a:prstGeom>
          <a:noFill/>
          <a:ln/>
        </p:spPr>
        <p:txBody>
          <a:bodyPr wrap="square" rtlCol="0" anchor="ctr"/>
          <a:lstStyle/>
          <a:p>
            <a:pPr indent="0" marL="0">
              <a:buNone/>
            </a:pPr>
            <a:r>
              <a:rPr lang="en-US" sz="2800" b="1" dirty="0">
                <a:solidFill>
                  <a:srgbClr val="FFFFFF"/>
                </a:solidFill>
                <a:latin typeface="Cambria" pitchFamily="34" charset="0"/>
                <a:ea typeface="Cambria" pitchFamily="34" charset="-122"/>
                <a:cs typeface="Cambria" pitchFamily="34" charset="-120"/>
              </a:rPr>
              <a:t>Visitor Day Has Arrived</a:t>
            </a:r>
            <a:endParaRPr lang="en-US" sz="2800" dirty="0"/>
          </a:p>
        </p:txBody>
      </p:sp>
      <p:sp>
        <p:nvSpPr>
          <p:cNvPr id="6" name="Shape 3"/>
          <p:cNvSpPr/>
          <p:nvPr/>
        </p:nvSpPr>
        <p:spPr>
          <a:xfrm>
            <a:off x="853440" y="1645920"/>
            <a:ext cx="10119360" cy="3048000"/>
          </a:xfrm>
          <a:prstGeom prst="roundRect">
            <a:avLst>
              <a:gd name="adj" fmla="val 4800"/>
            </a:avLst>
          </a:prstGeom>
          <a:solidFill>
            <a:srgbClr val="132759"/>
          </a:solidFill>
          <a:ln w="12700">
            <a:solidFill>
              <a:srgbClr val="D8DDEB"/>
            </a:solidFill>
            <a:prstDash val="solid"/>
          </a:ln>
        </p:spPr>
      </p:sp>
      <p:sp>
        <p:nvSpPr>
          <p:cNvPr id="7" name="Text 4"/>
          <p:cNvSpPr/>
          <p:nvPr/>
        </p:nvSpPr>
        <p:spPr>
          <a:xfrm>
            <a:off x="1158240" y="1889760"/>
            <a:ext cx="9509760" cy="2560320"/>
          </a:xfrm>
          <a:prstGeom prst="rect">
            <a:avLst/>
          </a:prstGeom>
          <a:noFill/>
          <a:ln/>
        </p:spPr>
        <p:txBody>
          <a:bodyPr wrap="square" lIns="0" tIns="0" rIns="0" bIns="0" rtlCol="0" anchor="t"/>
          <a:lstStyle/>
          <a:p>
            <a:pPr indent="0" marL="0">
              <a:spcAft>
                <a:spcPts val="800"/>
              </a:spcAft>
              <a:buNone/>
            </a:pPr>
            <a:r>
              <a:rPr lang="en-US" sz="1500" i="1" dirty="0">
                <a:solidFill>
                  <a:srgbClr val="FFFFFF"/>
                </a:solidFill>
                <a:latin typeface="Cambria" pitchFamily="34" charset="0"/>
                <a:ea typeface="Cambria" pitchFamily="34" charset="-122"/>
                <a:cs typeface="Cambria" pitchFamily="34" charset="-120"/>
              </a:rPr>
              <a:t>“You're not just designing now,”</a:t>
            </a:r>
            <a:endParaRPr lang="en-US" sz="1500" dirty="0"/>
          </a:p>
          <a:p>
            <a:pPr indent="0" marL="0">
              <a:buNone/>
            </a:pPr>
            <a:r>
              <a:rPr lang="en-US" sz="1500" dirty="0">
                <a:solidFill>
                  <a:srgbClr val="FFFFFF"/>
                </a:solidFill>
                <a:latin typeface="Cambria" pitchFamily="34" charset="0"/>
                <a:ea typeface="Cambria" pitchFamily="34" charset="-122"/>
                <a:cs typeface="Cambria" pitchFamily="34" charset="-120"/>
              </a:rPr>
              <a:t>the director says. </a:t>
            </a:r>
            <a:pPr indent="0" marL="0">
              <a:spcAft>
                <a:spcPts val="800"/>
              </a:spcAft>
              <a:buNone/>
            </a:pPr>
            <a:r>
              <a:rPr lang="en-US" sz="1500" i="1" dirty="0">
                <a:solidFill>
                  <a:srgbClr val="FFFFFF"/>
                </a:solidFill>
                <a:latin typeface="Cambria" pitchFamily="34" charset="0"/>
                <a:ea typeface="Cambria" pitchFamily="34" charset="-122"/>
                <a:cs typeface="Cambria" pitchFamily="34" charset="-120"/>
              </a:rPr>
              <a:t>“Today you're a Museum Guide. When a visitor stops at your panel, they'll want to hear you explain why these four pieces are here.”</a:t>
            </a:r>
            <a:endParaRPr lang="en-US" sz="1500" dirty="0"/>
          </a:p>
          <a:p>
            <a:pPr indent="0" marL="0">
              <a:buNone/>
            </a:pPr>
            <a:r>
              <a:rPr lang="en-US" sz="1600" b="1" i="1" dirty="0">
                <a:solidFill>
                  <a:srgbClr val="D4943A"/>
                </a:solidFill>
                <a:latin typeface="Cambria" pitchFamily="34" charset="0"/>
                <a:ea typeface="Cambria" pitchFamily="34" charset="-122"/>
                <a:cs typeface="Cambria" pitchFamily="34" charset="-120"/>
              </a:rPr>
              <a:t>“Speak honestly — not perfectly. Visitors trust real curators, not polished ones.”</a:t>
            </a:r>
            <a:endParaRPr lang="en-US" sz="1500" dirty="0"/>
          </a:p>
        </p:txBody>
      </p:sp>
      <p:sp>
        <p:nvSpPr>
          <p:cNvPr id="8" name="Text 5"/>
          <p:cNvSpPr/>
          <p:nvPr/>
        </p:nvSpPr>
        <p:spPr>
          <a:xfrm>
            <a:off x="853440" y="4998720"/>
            <a:ext cx="10119360" cy="853440"/>
          </a:xfrm>
          <a:prstGeom prst="rect">
            <a:avLst/>
          </a:prstGeom>
          <a:noFill/>
          <a:ln/>
        </p:spPr>
        <p:txBody>
          <a:bodyPr wrap="square" lIns="0" tIns="0" rIns="0" bIns="0" rtlCol="0" anchor="ctr"/>
          <a:lstStyle/>
          <a:p>
            <a:pPr indent="0" marL="0">
              <a:buNone/>
            </a:pPr>
            <a:r>
              <a:rPr lang="en-US" sz="1400" i="1" dirty="0">
                <a:solidFill>
                  <a:srgbClr val="EAF8FD"/>
                </a:solidFill>
                <a:latin typeface="Calibri" pitchFamily="34" charset="0"/>
                <a:ea typeface="Calibri" pitchFamily="34" charset="-122"/>
                <a:cs typeface="Calibri" pitchFamily="34" charset="-120"/>
              </a:rPr>
              <a:t>Your job today: learn the five-step walk-through, then write the script you'll say out loud to a real visitor.</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B1835"/>
          </a:solidFill>
          <a:ln w="19050">
            <a:solidFill>
              <a:srgbClr val="3A5080"/>
            </a:solidFill>
            <a:prstDash val="dash"/>
          </a:ln>
        </p:spPr>
      </p:sp>
      <p:sp>
        <p:nvSpPr>
          <p:cNvPr id="3" name="Shape 1"/>
          <p:cNvSpPr/>
          <p:nvPr/>
        </p:nvSpPr>
        <p:spPr>
          <a:xfrm>
            <a:off x="0" y="0"/>
            <a:ext cx="12191695" cy="6858000"/>
          </a:xfrm>
          <a:prstGeom prst="rect">
            <a:avLst/>
          </a:prstGeom>
          <a:solidFill>
            <a:srgbClr val="0E1C42">
              <a:alpha val="62000"/>
            </a:srgbClr>
          </a:solidFill>
          <a:ln/>
        </p:spPr>
      </p:sp>
      <p:sp>
        <p:nvSpPr>
          <p:cNvPr id="5" name="Text 2"/>
          <p:cNvSpPr/>
          <p:nvPr/>
        </p:nvSpPr>
        <p:spPr>
          <a:xfrm>
            <a:off x="853440" y="670560"/>
            <a:ext cx="10485120" cy="731520"/>
          </a:xfrm>
          <a:prstGeom prst="rect">
            <a:avLst/>
          </a:prstGeom>
          <a:noFill/>
          <a:ln/>
        </p:spPr>
        <p:txBody>
          <a:bodyPr wrap="square" rtlCol="0" anchor="ctr"/>
          <a:lstStyle/>
          <a:p>
            <a:pPr indent="0" marL="0">
              <a:buNone/>
            </a:pPr>
            <a:r>
              <a:rPr lang="en-US" sz="2600" b="1" dirty="0">
                <a:solidFill>
                  <a:srgbClr val="D4943A"/>
                </a:solidFill>
                <a:latin typeface="Cambria" pitchFamily="34" charset="0"/>
                <a:ea typeface="Cambria" pitchFamily="34" charset="-122"/>
                <a:cs typeface="Cambria" pitchFamily="34" charset="-120"/>
              </a:rPr>
              <a:t>Virtue Spotlight: HONESTY</a:t>
            </a:r>
            <a:endParaRPr lang="en-US" sz="2600" dirty="0"/>
          </a:p>
        </p:txBody>
      </p:sp>
      <p:sp>
        <p:nvSpPr>
          <p:cNvPr id="6" name="Shape 3"/>
          <p:cNvSpPr/>
          <p:nvPr/>
        </p:nvSpPr>
        <p:spPr>
          <a:xfrm>
            <a:off x="853440" y="1584960"/>
            <a:ext cx="10119360" cy="1950720"/>
          </a:xfrm>
          <a:prstGeom prst="roundRect">
            <a:avLst>
              <a:gd name="adj" fmla="val 7500"/>
            </a:avLst>
          </a:prstGeom>
          <a:solidFill>
            <a:srgbClr val="132759"/>
          </a:solidFill>
          <a:ln w="12700">
            <a:solidFill>
              <a:srgbClr val="D8DDEB"/>
            </a:solidFill>
            <a:prstDash val="solid"/>
          </a:ln>
        </p:spPr>
      </p:sp>
      <p:sp>
        <p:nvSpPr>
          <p:cNvPr id="7" name="Text 4"/>
          <p:cNvSpPr/>
          <p:nvPr/>
        </p:nvSpPr>
        <p:spPr>
          <a:xfrm>
            <a:off x="1158240" y="1767840"/>
            <a:ext cx="9509760" cy="1584960"/>
          </a:xfrm>
          <a:prstGeom prst="rect">
            <a:avLst/>
          </a:prstGeom>
          <a:noFill/>
          <a:ln/>
        </p:spPr>
        <p:txBody>
          <a:bodyPr wrap="square" lIns="0" tIns="0" rIns="0" bIns="0" rtlCol="0" anchor="t"/>
          <a:lstStyle/>
          <a:p>
            <a:pPr indent="0" marL="0">
              <a:buNone/>
            </a:pPr>
            <a:r>
              <a:rPr lang="en-US" sz="1400" i="1" dirty="0">
                <a:solidFill>
                  <a:srgbClr val="FFFFFF"/>
                </a:solidFill>
                <a:latin typeface="Cambria" pitchFamily="34" charset="0"/>
                <a:ea typeface="Cambria" pitchFamily="34" charset="-122"/>
                <a:cs typeface="Cambria" pitchFamily="34" charset="-120"/>
              </a:rPr>
              <a:t>Honesty for a museum guide isn't just telling the truth. It's saying what you actually know AND what you're still figuring out. A real curator says “I'm not sure about this part, but here's my best thinking” just as often as “I know.”</a:t>
            </a:r>
            <a:endParaRPr lang="en-US" sz="1400" dirty="0"/>
          </a:p>
        </p:txBody>
      </p:sp>
      <p:sp>
        <p:nvSpPr>
          <p:cNvPr id="8" name="Text 5"/>
          <p:cNvSpPr/>
          <p:nvPr/>
        </p:nvSpPr>
        <p:spPr>
          <a:xfrm>
            <a:off x="853440" y="3840480"/>
            <a:ext cx="7315200" cy="670560"/>
          </a:xfrm>
          <a:prstGeom prst="rect">
            <a:avLst/>
          </a:prstGeom>
          <a:noFill/>
          <a:ln/>
        </p:spPr>
        <p:txBody>
          <a:bodyPr wrap="square" lIns="0" tIns="0" rIns="0" bIns="0" rtlCol="0" anchor="ctr"/>
          <a:lstStyle/>
          <a:p>
            <a:pPr indent="0" marL="0">
              <a:buNone/>
            </a:pPr>
            <a:r>
              <a:rPr lang="en-US" sz="1600" b="1" dirty="0">
                <a:solidFill>
                  <a:srgbClr val="D4943A"/>
                </a:solidFill>
                <a:latin typeface="Cambria" pitchFamily="34" charset="0"/>
                <a:ea typeface="Cambria" pitchFamily="34" charset="-122"/>
                <a:cs typeface="Cambria" pitchFamily="34" charset="-120"/>
              </a:rPr>
              <a:t>Your Two Roles Today</a:t>
            </a:r>
            <a:endParaRPr lang="en-US" sz="1600" dirty="0"/>
          </a:p>
        </p:txBody>
      </p:sp>
      <p:sp>
        <p:nvSpPr>
          <p:cNvPr id="9" name="Text 6"/>
          <p:cNvSpPr/>
          <p:nvPr/>
        </p:nvSpPr>
        <p:spPr>
          <a:xfrm>
            <a:off x="853440" y="4389120"/>
            <a:ext cx="10119360" cy="1706880"/>
          </a:xfrm>
          <a:prstGeom prst="rect">
            <a:avLst/>
          </a:prstGeom>
          <a:noFill/>
          <a:ln/>
        </p:spPr>
        <p:txBody>
          <a:bodyPr wrap="square" lIns="0" tIns="0" rIns="0" bIns="0" rtlCol="0" anchor="t"/>
          <a:lstStyle/>
          <a:p>
            <a:pPr indent="0" marL="0">
              <a:buNone/>
            </a:pPr>
            <a:r>
              <a:rPr lang="en-US" sz="1400" b="1" dirty="0">
                <a:solidFill>
                  <a:srgbClr val="55C8E8"/>
                </a:solidFill>
                <a:latin typeface="Calibri" pitchFamily="34" charset="0"/>
                <a:ea typeface="Calibri" pitchFamily="34" charset="-122"/>
                <a:cs typeface="Calibri" pitchFamily="34" charset="-120"/>
              </a:rPr>
              <a:t>Exhibit Designer — </a:t>
            </a:r>
            <a:pPr indent="0" marL="0">
              <a:spcAft>
                <a:spcPts val="600"/>
              </a:spcAft>
              <a:buNone/>
            </a:pPr>
            <a:r>
              <a:rPr lang="en-US" sz="1400" dirty="0">
                <a:solidFill>
                  <a:srgbClr val="FFFFFF"/>
                </a:solidFill>
                <a:latin typeface="Calibri" pitchFamily="34" charset="0"/>
                <a:ea typeface="Calibri" pitchFamily="34" charset="-122"/>
                <a:cs typeface="Calibri" pitchFamily="34" charset="-120"/>
              </a:rPr>
              <a:t>you already built the four pieces.
</a:t>
            </a:r>
            <a:endParaRPr lang="en-US" sz="1400" dirty="0"/>
          </a:p>
          <a:p>
            <a:pPr indent="0" marL="0">
              <a:buNone/>
            </a:pPr>
            <a:r>
              <a:rPr lang="en-US" sz="1400" b="1" dirty="0">
                <a:solidFill>
                  <a:srgbClr val="55C8E8"/>
                </a:solidFill>
                <a:latin typeface="Calibri" pitchFamily="34" charset="0"/>
                <a:ea typeface="Calibri" pitchFamily="34" charset="-122"/>
                <a:cs typeface="Calibri" pitchFamily="34" charset="-120"/>
              </a:rPr>
              <a:t>Museum Guide — </a:t>
            </a:r>
            <a:pPr indent="0" marL="0">
              <a:buNone/>
            </a:pPr>
            <a:r>
              <a:rPr lang="en-US" sz="1400" dirty="0">
                <a:solidFill>
                  <a:srgbClr val="FFFFFF"/>
                </a:solidFill>
                <a:latin typeface="Calibri" pitchFamily="34" charset="0"/>
                <a:ea typeface="Calibri" pitchFamily="34" charset="-122"/>
                <a:cs typeface="Calibri" pitchFamily="34" charset="-120"/>
              </a:rPr>
              <a:t>now you walk a visitor through them and tell the truth about why you chose each one.</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F0F2F8"/>
          </a:solidFill>
          <a:ln/>
        </p:spPr>
      </p:sp>
      <p:sp>
        <p:nvSpPr>
          <p:cNvPr id="3" name="Text 1"/>
          <p:cNvSpPr/>
          <p:nvPr/>
        </p:nvSpPr>
        <p:spPr>
          <a:xfrm>
            <a:off x="853440" y="426720"/>
            <a:ext cx="7315200" cy="365760"/>
          </a:xfrm>
          <a:prstGeom prst="rect">
            <a:avLst/>
          </a:prstGeom>
          <a:noFill/>
          <a:ln/>
        </p:spPr>
        <p:txBody>
          <a:bodyPr wrap="square" lIns="0" tIns="0" rIns="0" bIns="0" rtlCol="0" anchor="ctr"/>
          <a:lstStyle/>
          <a:p>
            <a:pPr indent="0" marL="0">
              <a:buNone/>
            </a:pPr>
            <a:r>
              <a:rPr lang="en-US" sz="1100" b="1" spc="150" kern="0" dirty="0">
                <a:solidFill>
                  <a:srgbClr val="1A8A7D"/>
                </a:solidFill>
                <a:latin typeface="Calibri" pitchFamily="34" charset="0"/>
                <a:ea typeface="Calibri" pitchFamily="34" charset="-122"/>
                <a:cs typeface="Calibri" pitchFamily="34" charset="-120"/>
              </a:rPr>
              <a:t>CYCLE 1 OF 3  ·  MAP EVIDENCE</a:t>
            </a:r>
            <a:endParaRPr lang="en-US" sz="1100" dirty="0"/>
          </a:p>
        </p:txBody>
      </p:sp>
      <p:sp>
        <p:nvSpPr>
          <p:cNvPr id="4" name="Text 2"/>
          <p:cNvSpPr/>
          <p:nvPr/>
        </p:nvSpPr>
        <p:spPr>
          <a:xfrm>
            <a:off x="853440" y="853440"/>
            <a:ext cx="9753600" cy="670560"/>
          </a:xfrm>
          <a:prstGeom prst="rect">
            <a:avLst/>
          </a:prstGeom>
          <a:noFill/>
          <a:ln/>
        </p:spPr>
        <p:txBody>
          <a:bodyPr wrap="square" lIns="0" tIns="0" rIns="0" bIns="0" rtlCol="0" anchor="ctr"/>
          <a:lstStyle/>
          <a:p>
            <a:pPr indent="0" marL="0">
              <a:buNone/>
            </a:pPr>
            <a:r>
              <a:rPr lang="en-US" sz="2400" b="1" dirty="0">
                <a:solidFill>
                  <a:srgbClr val="0E1C42"/>
                </a:solidFill>
                <a:latin typeface="Cambria" pitchFamily="34" charset="0"/>
                <a:ea typeface="Cambria" pitchFamily="34" charset="-122"/>
                <a:cs typeface="Cambria" pitchFamily="34" charset="-120"/>
              </a:rPr>
              <a:t>Two Guides, One Map</a:t>
            </a:r>
            <a:endParaRPr lang="en-US" sz="2400" dirty="0"/>
          </a:p>
        </p:txBody>
      </p:sp>
      <p:sp>
        <p:nvSpPr>
          <p:cNvPr id="5" name="Shape 3"/>
          <p:cNvSpPr/>
          <p:nvPr/>
        </p:nvSpPr>
        <p:spPr>
          <a:xfrm>
            <a:off x="853440" y="1706880"/>
            <a:ext cx="5242560" cy="4389120"/>
          </a:xfrm>
          <a:prstGeom prst="roundRect">
            <a:avLst>
              <a:gd name="adj" fmla="val 3333"/>
            </a:avLst>
          </a:prstGeom>
          <a:solidFill>
            <a:srgbClr val="E2E8F4"/>
          </a:solidFill>
          <a:ln w="19050">
            <a:solidFill>
              <a:srgbClr val="B0B8CC"/>
            </a:solidFill>
            <a:prstDash val="dash"/>
          </a:ln>
        </p:spPr>
      </p:sp>
      <p:sp>
        <p:nvSpPr>
          <p:cNvPr id="6" name="Text 4"/>
          <p:cNvSpPr/>
          <p:nvPr/>
        </p:nvSpPr>
        <p:spPr>
          <a:xfrm>
            <a:off x="853440" y="1706880"/>
            <a:ext cx="5242560" cy="365760"/>
          </a:xfrm>
          <a:prstGeom prst="rect">
            <a:avLst/>
          </a:prstGeom>
          <a:noFill/>
          <a:ln/>
        </p:spPr>
        <p:txBody>
          <a:bodyPr wrap="square" lIns="0" tIns="0" rIns="0" bIns="0" rtlCol="0" anchor="ctr"/>
          <a:lstStyle/>
          <a:p>
            <a:pPr algn="ctr" indent="0" marL="0">
              <a:buNone/>
            </a:pPr>
            <a:r>
              <a:rPr lang="en-US" sz="900" b="1" spc="150" kern="0" dirty="0">
                <a:solidFill>
                  <a:srgbClr val="7A88A8"/>
                </a:solidFill>
                <a:latin typeface="Calibri" pitchFamily="34" charset="0"/>
                <a:ea typeface="Calibri" pitchFamily="34" charset="-122"/>
                <a:cs typeface="Calibri" pitchFamily="34" charset="-120"/>
              </a:rPr>
              <a:t>INSERT IMAGE</a:t>
            </a:r>
            <a:endParaRPr lang="en-US" sz="900" dirty="0"/>
          </a:p>
        </p:txBody>
      </p:sp>
      <p:sp>
        <p:nvSpPr>
          <p:cNvPr id="7" name="Text 5"/>
          <p:cNvSpPr/>
          <p:nvPr/>
        </p:nvSpPr>
        <p:spPr>
          <a:xfrm>
            <a:off x="1036320" y="2072640"/>
            <a:ext cx="4876800" cy="3901440"/>
          </a:xfrm>
          <a:prstGeom prst="rect">
            <a:avLst/>
          </a:prstGeom>
          <a:noFill/>
          <a:ln/>
        </p:spPr>
        <p:txBody>
          <a:bodyPr wrap="square" rtlCol="0" anchor="ctr"/>
          <a:lstStyle/>
          <a:p>
            <a:pPr algn="ctr" indent="0" marL="0">
              <a:buNone/>
            </a:pPr>
            <a:r>
              <a:rPr lang="en-US" sz="1100" i="1" dirty="0">
                <a:solidFill>
                  <a:srgbClr val="7A88A8"/>
                </a:solidFill>
                <a:latin typeface="Calibri" pitchFamily="34" charset="0"/>
                <a:ea typeface="Calibri" pitchFamily="34" charset="-122"/>
                <a:cs typeface="Calibri" pitchFamily="34" charset="-120"/>
              </a:rPr>
              <a:t>Split image: a student pointing to a regional map with a confident smile on one side, a museum visitor listening on the other</a:t>
            </a:r>
            <a:endParaRPr lang="en-US" sz="1100" dirty="0"/>
          </a:p>
        </p:txBody>
      </p:sp>
      <p:sp>
        <p:nvSpPr>
          <p:cNvPr id="8" name="Shape 6"/>
          <p:cNvSpPr/>
          <p:nvPr/>
        </p:nvSpPr>
        <p:spPr>
          <a:xfrm>
            <a:off x="6400800" y="1706880"/>
            <a:ext cx="4572000" cy="1950720"/>
          </a:xfrm>
          <a:prstGeom prst="roundRect">
            <a:avLst>
              <a:gd name="adj" fmla="val 7500"/>
            </a:avLst>
          </a:prstGeom>
          <a:solidFill>
            <a:srgbClr val="F0E8FF"/>
          </a:solidFill>
          <a:ln w="12700">
            <a:solidFill>
              <a:srgbClr val="D8DDEB"/>
            </a:solidFill>
            <a:prstDash val="solid"/>
          </a:ln>
        </p:spPr>
      </p:sp>
      <p:sp>
        <p:nvSpPr>
          <p:cNvPr id="9" name="Text 7"/>
          <p:cNvSpPr/>
          <p:nvPr/>
        </p:nvSpPr>
        <p:spPr>
          <a:xfrm>
            <a:off x="6644640" y="1889760"/>
            <a:ext cx="4084320" cy="1645920"/>
          </a:xfrm>
          <a:prstGeom prst="rect">
            <a:avLst/>
          </a:prstGeom>
          <a:noFill/>
          <a:ln/>
        </p:spPr>
        <p:txBody>
          <a:bodyPr wrap="square" lIns="0" tIns="0" rIns="0" bIns="0" rtlCol="0" anchor="t"/>
          <a:lstStyle/>
          <a:p>
            <a:pPr indent="0" marL="0">
              <a:buNone/>
            </a:pPr>
            <a:r>
              <a:rPr lang="en-US" sz="1000" b="1" dirty="0">
                <a:solidFill>
                  <a:srgbClr val="8B6FC0"/>
                </a:solidFill>
                <a:latin typeface="Cambria" pitchFamily="34" charset="0"/>
                <a:ea typeface="Cambria" pitchFamily="34" charset="-122"/>
                <a:cs typeface="Cambria" pitchFamily="34" charset="-120"/>
              </a:rPr>
              <a:t>GUIDE A says:
</a:t>
            </a:r>
            <a:endParaRPr lang="en-US" sz="1000" dirty="0"/>
          </a:p>
          <a:p>
            <a:pPr indent="0" marL="0">
              <a:buNone/>
            </a:pPr>
            <a:r>
              <a:rPr lang="en-US" sz="1250" i="1" dirty="0">
                <a:solidFill>
                  <a:srgbClr val="0E1C42"/>
                </a:solidFill>
                <a:latin typeface="Cambria" pitchFamily="34" charset="0"/>
                <a:ea typeface="Cambria" pitchFamily="34" charset="-122"/>
                <a:cs typeface="Cambria" pitchFamily="34" charset="-120"/>
              </a:rPr>
              <a:t>“This is, without doubt, the most important map ever made.”</a:t>
            </a:r>
            <a:endParaRPr lang="en-US" sz="1000" dirty="0"/>
          </a:p>
        </p:txBody>
      </p:sp>
      <p:sp>
        <p:nvSpPr>
          <p:cNvPr id="10" name="Shape 8"/>
          <p:cNvSpPr/>
          <p:nvPr/>
        </p:nvSpPr>
        <p:spPr>
          <a:xfrm>
            <a:off x="6400800" y="3840480"/>
            <a:ext cx="4572000" cy="2255520"/>
          </a:xfrm>
          <a:prstGeom prst="roundRect">
            <a:avLst>
              <a:gd name="adj" fmla="val 6486"/>
            </a:avLst>
          </a:prstGeom>
          <a:solidFill>
            <a:srgbClr val="E3F8ED"/>
          </a:solidFill>
          <a:ln w="12700">
            <a:solidFill>
              <a:srgbClr val="D8DDEB"/>
            </a:solidFill>
            <a:prstDash val="solid"/>
          </a:ln>
        </p:spPr>
      </p:sp>
      <p:sp>
        <p:nvSpPr>
          <p:cNvPr id="11" name="Text 9"/>
          <p:cNvSpPr/>
          <p:nvPr/>
        </p:nvSpPr>
        <p:spPr>
          <a:xfrm>
            <a:off x="6644640" y="4023360"/>
            <a:ext cx="4084320" cy="1950720"/>
          </a:xfrm>
          <a:prstGeom prst="rect">
            <a:avLst/>
          </a:prstGeom>
          <a:noFill/>
          <a:ln/>
        </p:spPr>
        <p:txBody>
          <a:bodyPr wrap="square" lIns="0" tIns="0" rIns="0" bIns="0" rtlCol="0" anchor="t"/>
          <a:lstStyle/>
          <a:p>
            <a:pPr indent="0" marL="0">
              <a:buNone/>
            </a:pPr>
            <a:r>
              <a:rPr lang="en-US" sz="1000" b="1" dirty="0">
                <a:solidFill>
                  <a:srgbClr val="34B76F"/>
                </a:solidFill>
                <a:latin typeface="Cambria" pitchFamily="34" charset="0"/>
                <a:ea typeface="Cambria" pitchFamily="34" charset="-122"/>
                <a:cs typeface="Cambria" pitchFamily="34" charset="-120"/>
              </a:rPr>
              <a:t>GUIDE B says:
</a:t>
            </a:r>
            <a:endParaRPr lang="en-US" sz="1000" dirty="0"/>
          </a:p>
          <a:p>
            <a:pPr indent="0" marL="0">
              <a:buNone/>
            </a:pPr>
            <a:r>
              <a:rPr lang="en-US" sz="1250" i="1" dirty="0">
                <a:solidFill>
                  <a:srgbClr val="0E1C42"/>
                </a:solidFill>
                <a:latin typeface="Cambria" pitchFamily="34" charset="0"/>
                <a:ea typeface="Cambria" pitchFamily="34" charset="-122"/>
                <a:cs typeface="Cambria" pitchFamily="34" charset="-120"/>
              </a:rPr>
              <a:t>“This map shows the Southeast Region of the U.S. I picked it because that's where I live, and it's warmer than most other parts of the country.”</a:t>
            </a:r>
            <a:endParaRPr lang="en-US" sz="1000" dirty="0"/>
          </a:p>
        </p:txBody>
      </p:sp>
      <p:sp>
        <p:nvSpPr>
          <p:cNvPr id="12" name="Text 10"/>
          <p:cNvSpPr/>
          <p:nvPr/>
        </p:nvSpPr>
        <p:spPr>
          <a:xfrm>
            <a:off x="853440" y="6156960"/>
            <a:ext cx="10119360" cy="365760"/>
          </a:xfrm>
          <a:prstGeom prst="rect">
            <a:avLst/>
          </a:prstGeom>
          <a:noFill/>
          <a:ln/>
        </p:spPr>
        <p:txBody>
          <a:bodyPr wrap="square" lIns="0" tIns="0" rIns="0" bIns="0" rtlCol="0" anchor="ctr"/>
          <a:lstStyle/>
          <a:p>
            <a:pPr indent="0" marL="0">
              <a:buNone/>
            </a:pPr>
            <a:r>
              <a:rPr lang="en-US" sz="1100" i="1" dirty="0">
                <a:solidFill>
                  <a:srgbClr val="7A88A8"/>
                </a:solidFill>
                <a:latin typeface="Calibri" pitchFamily="34" charset="0"/>
                <a:ea typeface="Calibri" pitchFamily="34" charset="-122"/>
                <a:cs typeface="Calibri" pitchFamily="34" charset="-120"/>
              </a:rPr>
              <a:t>Watch. Listen. Don't decide yet which guide gives better map evidence -- just notice what's different.</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FFF8F0"/>
          </a:solidFill>
          <a:ln/>
        </p:spPr>
      </p:sp>
      <p:sp>
        <p:nvSpPr>
          <p:cNvPr id="3" name="Text 1"/>
          <p:cNvSpPr/>
          <p:nvPr/>
        </p:nvSpPr>
        <p:spPr>
          <a:xfrm>
            <a:off x="853440" y="426720"/>
            <a:ext cx="7315200" cy="365760"/>
          </a:xfrm>
          <a:prstGeom prst="rect">
            <a:avLst/>
          </a:prstGeom>
          <a:noFill/>
          <a:ln/>
        </p:spPr>
        <p:txBody>
          <a:bodyPr wrap="square" lIns="0" tIns="0" rIns="0" bIns="0" rtlCol="0" anchor="ctr"/>
          <a:lstStyle/>
          <a:p>
            <a:pPr indent="0" marL="0">
              <a:buNone/>
            </a:pPr>
            <a:r>
              <a:rPr lang="en-US" sz="1100" b="1" spc="150" kern="0" dirty="0">
                <a:solidFill>
                  <a:srgbClr val="1A8A7D"/>
                </a:solidFill>
                <a:latin typeface="Calibri" pitchFamily="34" charset="0"/>
                <a:ea typeface="Calibri" pitchFamily="34" charset="-122"/>
                <a:cs typeface="Calibri" pitchFamily="34" charset="-120"/>
              </a:rPr>
              <a:t>CYCLE 1  ·  DISCUSSION</a:t>
            </a:r>
            <a:endParaRPr lang="en-US" sz="1100" dirty="0"/>
          </a:p>
        </p:txBody>
      </p:sp>
      <p:sp>
        <p:nvSpPr>
          <p:cNvPr id="4" name="Text 2"/>
          <p:cNvSpPr/>
          <p:nvPr/>
        </p:nvSpPr>
        <p:spPr>
          <a:xfrm>
            <a:off x="853440" y="853440"/>
            <a:ext cx="10119360" cy="670560"/>
          </a:xfrm>
          <a:prstGeom prst="rect">
            <a:avLst/>
          </a:prstGeom>
          <a:noFill/>
          <a:ln/>
        </p:spPr>
        <p:txBody>
          <a:bodyPr wrap="square" lIns="0" tIns="0" rIns="0" bIns="0" rtlCol="0" anchor="ctr"/>
          <a:lstStyle/>
          <a:p>
            <a:pPr indent="0" marL="0">
              <a:buNone/>
            </a:pPr>
            <a:r>
              <a:rPr lang="en-US" sz="2200" b="1" dirty="0">
                <a:solidFill>
                  <a:srgbClr val="0E1C42"/>
                </a:solidFill>
                <a:latin typeface="Cambria" pitchFamily="34" charset="0"/>
                <a:ea typeface="Cambria" pitchFamily="34" charset="-122"/>
                <a:cs typeface="Cambria" pitchFamily="34" charset="-120"/>
              </a:rPr>
              <a:t>What Makes Map Evidence Good?</a:t>
            </a:r>
            <a:endParaRPr lang="en-US" sz="2200" dirty="0"/>
          </a:p>
        </p:txBody>
      </p:sp>
      <p:sp>
        <p:nvSpPr>
          <p:cNvPr id="5" name="Shape 3"/>
          <p:cNvSpPr/>
          <p:nvPr/>
        </p:nvSpPr>
        <p:spPr>
          <a:xfrm>
            <a:off x="853440" y="1706880"/>
            <a:ext cx="5364480" cy="4389120"/>
          </a:xfrm>
          <a:prstGeom prst="roundRect">
            <a:avLst>
              <a:gd name="adj" fmla="val 4167"/>
            </a:avLst>
          </a:prstGeom>
          <a:solidFill>
            <a:srgbClr val="1A2D5A"/>
          </a:solidFill>
          <a:ln/>
          <a:effectLst>
            <a:outerShdw sx="100000" sy="100000" kx="0" ky="0" algn="bl" rotWithShape="0" blurRad="101600" dist="38100" dir="8100000">
              <a:srgbClr val="000000">
                <a:alpha val="20000"/>
              </a:srgbClr>
            </a:outerShdw>
          </a:effectLst>
        </p:spPr>
      </p:sp>
      <p:sp>
        <p:nvSpPr>
          <p:cNvPr id="6" name="Text 4"/>
          <p:cNvSpPr/>
          <p:nvPr/>
        </p:nvSpPr>
        <p:spPr>
          <a:xfrm>
            <a:off x="1097280" y="1828800"/>
            <a:ext cx="4876800" cy="341376"/>
          </a:xfrm>
          <a:prstGeom prst="rect">
            <a:avLst/>
          </a:prstGeom>
          <a:noFill/>
          <a:ln/>
        </p:spPr>
        <p:txBody>
          <a:bodyPr wrap="square" lIns="0" tIns="0" rIns="0" bIns="0" rtlCol="0" anchor="ctr"/>
          <a:lstStyle/>
          <a:p>
            <a:pPr indent="0" marL="0">
              <a:buNone/>
            </a:pPr>
            <a:r>
              <a:rPr lang="en-US" sz="900" b="1" spc="150" kern="0" dirty="0">
                <a:solidFill>
                  <a:srgbClr val="55C8E8"/>
                </a:solidFill>
                <a:latin typeface="Calibri" pitchFamily="34" charset="0"/>
                <a:ea typeface="Calibri" pitchFamily="34" charset="-122"/>
                <a:cs typeface="Calibri" pitchFamily="34" charset="-120"/>
              </a:rPr>
              <a:t>SOCRATIC QUESTIONS</a:t>
            </a:r>
            <a:endParaRPr lang="en-US" sz="900" dirty="0"/>
          </a:p>
        </p:txBody>
      </p:sp>
      <p:sp>
        <p:nvSpPr>
          <p:cNvPr id="7" name="Text 5"/>
          <p:cNvSpPr/>
          <p:nvPr/>
        </p:nvSpPr>
        <p:spPr>
          <a:xfrm>
            <a:off x="1097280" y="2170176"/>
            <a:ext cx="4876800" cy="3803904"/>
          </a:xfrm>
          <a:prstGeom prst="rect">
            <a:avLst/>
          </a:prstGeom>
          <a:noFill/>
          <a:ln/>
        </p:spPr>
        <p:txBody>
          <a:bodyPr wrap="square" lIns="0" tIns="0" rIns="0" bIns="0" rtlCol="0" anchor="t"/>
          <a:lstStyle/>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What did Guide B tell the visitor that Guide A did not?</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Which guide named the actual place the map shows?</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Could a visitor check Guide A's claim, or just take his word for it?</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Why might 'I picked it because...' be stronger evidence than 'this is the best ever'?</a:t>
            </a:r>
            <a:endParaRPr lang="en-US" sz="1100" dirty="0"/>
          </a:p>
        </p:txBody>
      </p:sp>
      <p:sp>
        <p:nvSpPr>
          <p:cNvPr id="8" name="Shape 6"/>
          <p:cNvSpPr/>
          <p:nvPr/>
        </p:nvSpPr>
        <p:spPr>
          <a:xfrm>
            <a:off x="6522720" y="1706880"/>
            <a:ext cx="4450080" cy="4389120"/>
          </a:xfrm>
          <a:prstGeom prst="roundRect">
            <a:avLst>
              <a:gd name="adj" fmla="val 3333"/>
            </a:avLst>
          </a:prstGeom>
          <a:solidFill>
            <a:srgbClr val="FFF3DC"/>
          </a:solidFill>
          <a:ln w="19050">
            <a:solidFill>
              <a:srgbClr val="F5E6C8"/>
            </a:solidFill>
            <a:prstDash val="solid"/>
          </a:ln>
        </p:spPr>
      </p:sp>
      <p:sp>
        <p:nvSpPr>
          <p:cNvPr id="9" name="Text 7"/>
          <p:cNvSpPr/>
          <p:nvPr/>
        </p:nvSpPr>
        <p:spPr>
          <a:xfrm>
            <a:off x="6705600" y="1780032"/>
            <a:ext cx="4084320" cy="268224"/>
          </a:xfrm>
          <a:prstGeom prst="rect">
            <a:avLst/>
          </a:prstGeom>
          <a:noFill/>
          <a:ln/>
        </p:spPr>
        <p:txBody>
          <a:bodyPr wrap="square" lIns="0" tIns="0" rIns="0" bIns="0" rtlCol="0" anchor="ctr"/>
          <a:lstStyle/>
          <a:p>
            <a:pPr indent="0" marL="0">
              <a:buNone/>
            </a:pPr>
            <a:r>
              <a:rPr lang="en-US" sz="900" b="1" spc="150" kern="0" dirty="0">
                <a:solidFill>
                  <a:srgbClr val="D4943A"/>
                </a:solidFill>
                <a:latin typeface="Calibri" pitchFamily="34" charset="0"/>
                <a:ea typeface="Calibri" pitchFamily="34" charset="-122"/>
                <a:cs typeface="Calibri" pitchFamily="34" charset="-120"/>
              </a:rPr>
              <a:t>CHAT FRAME</a:t>
            </a:r>
            <a:endParaRPr lang="en-US" sz="900" dirty="0"/>
          </a:p>
        </p:txBody>
      </p:sp>
      <p:sp>
        <p:nvSpPr>
          <p:cNvPr id="10" name="Text 8"/>
          <p:cNvSpPr/>
          <p:nvPr/>
        </p:nvSpPr>
        <p:spPr>
          <a:xfrm>
            <a:off x="6705600" y="2048256"/>
            <a:ext cx="4084320" cy="3962400"/>
          </a:xfrm>
          <a:prstGeom prst="rect">
            <a:avLst/>
          </a:prstGeom>
          <a:noFill/>
          <a:ln/>
        </p:spPr>
        <p:txBody>
          <a:bodyPr wrap="square" lIns="0" tIns="0" rIns="0" bIns="0" rtlCol="0" anchor="t"/>
          <a:lstStyle/>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"I notice Guide B... because..."</a:t>
            </a:r>
            <a:endParaRPr lang="en-US" sz="1200" dirty="0"/>
          </a:p>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"Good map evidence names the place and..."</a:t>
            </a:r>
            <a:endParaRPr lang="en-US" sz="1200" dirty="0"/>
          </a:p>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"I think the honest guide is better because..."</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B1835"/>
          </a:solidFill>
          <a:ln w="19050">
            <a:solidFill>
              <a:srgbClr val="3A5080"/>
            </a:solidFill>
            <a:prstDash val="dash"/>
          </a:ln>
        </p:spPr>
      </p:sp>
      <p:sp>
        <p:nvSpPr>
          <p:cNvPr id="3" name="Shape 1"/>
          <p:cNvSpPr/>
          <p:nvPr/>
        </p:nvSpPr>
        <p:spPr>
          <a:xfrm>
            <a:off x="0" y="0"/>
            <a:ext cx="12191695" cy="6858000"/>
          </a:xfrm>
          <a:prstGeom prst="rect">
            <a:avLst/>
          </a:prstGeom>
          <a:solidFill>
            <a:srgbClr val="0E1C42">
              <a:alpha val="62000"/>
            </a:srgbClr>
          </a:solidFill>
          <a:ln/>
        </p:spPr>
      </p:sp>
      <p:sp>
        <p:nvSpPr>
          <p:cNvPr id="5" name="Text 2"/>
          <p:cNvSpPr/>
          <p:nvPr/>
        </p:nvSpPr>
        <p:spPr>
          <a:xfrm>
            <a:off x="731520" y="670560"/>
            <a:ext cx="10607040" cy="853440"/>
          </a:xfrm>
          <a:prstGeom prst="rect">
            <a:avLst/>
          </a:prstGeom>
          <a:noFill/>
          <a:ln/>
        </p:spPr>
        <p:txBody>
          <a:bodyPr wrap="square" rtlCol="0" anchor="ctr"/>
          <a:lstStyle/>
          <a:p>
            <a:pPr indent="0" marL="0">
              <a:buNone/>
            </a:pPr>
            <a:r>
              <a:rPr lang="en-US" sz="2200" b="1" dirty="0">
                <a:solidFill>
                  <a:srgbClr val="FFFFFF"/>
                </a:solidFill>
                <a:latin typeface="Cambria" pitchFamily="34" charset="0"/>
                <a:ea typeface="Cambria" pitchFamily="34" charset="-122"/>
                <a:cs typeface="Cambria" pitchFamily="34" charset="-120"/>
              </a:rPr>
              <a:t>You Discovered It: Map Evidence Standard</a:t>
            </a:r>
            <a:endParaRPr lang="en-US" sz="2200" dirty="0"/>
          </a:p>
        </p:txBody>
      </p:sp>
      <p:sp>
        <p:nvSpPr>
          <p:cNvPr id="6" name="Shape 3"/>
          <p:cNvSpPr/>
          <p:nvPr/>
        </p:nvSpPr>
        <p:spPr>
          <a:xfrm>
            <a:off x="853440" y="1828800"/>
            <a:ext cx="10119360" cy="2804160"/>
          </a:xfrm>
          <a:prstGeom prst="roundRect">
            <a:avLst>
              <a:gd name="adj" fmla="val 5217"/>
            </a:avLst>
          </a:prstGeom>
          <a:solidFill>
            <a:srgbClr val="132759"/>
          </a:solidFill>
          <a:ln w="12700">
            <a:solidFill>
              <a:srgbClr val="D8DDEB"/>
            </a:solidFill>
            <a:prstDash val="solid"/>
          </a:ln>
        </p:spPr>
      </p:sp>
      <p:sp>
        <p:nvSpPr>
          <p:cNvPr id="7" name="Text 4"/>
          <p:cNvSpPr/>
          <p:nvPr/>
        </p:nvSpPr>
        <p:spPr>
          <a:xfrm>
            <a:off x="1158240" y="2011680"/>
            <a:ext cx="9509760" cy="2438400"/>
          </a:xfrm>
          <a:prstGeom prst="rect">
            <a:avLst/>
          </a:prstGeom>
          <a:noFill/>
          <a:ln/>
        </p:spPr>
        <p:txBody>
          <a:bodyPr wrap="square" lIns="0" tIns="0" rIns="0" bIns="0" rtlCol="0" anchor="t"/>
          <a:lstStyle/>
          <a:p>
            <a:pPr indent="0" marL="0">
              <a:buNone/>
            </a:pPr>
            <a:r>
              <a:rPr lang="en-US" sz="1500" b="1" dirty="0">
                <a:solidFill>
                  <a:srgbClr val="D4943A"/>
                </a:solidFill>
                <a:latin typeface="Cambria" pitchFamily="34" charset="0"/>
                <a:ea typeface="Cambria" pitchFamily="34" charset="-122"/>
                <a:cs typeface="Cambria" pitchFamily="34" charset="-120"/>
              </a:rPr>
              <a:t>Good map evidence names the place, gives a real reason for choosing it, and is honest about what's still unclear.
</a:t>
            </a:r>
            <a:endParaRPr lang="en-US" sz="1500" dirty="0"/>
          </a:p>
          <a:p>
            <a:pPr indent="0" marL="0">
              <a:buNone/>
            </a:pPr>
            <a:r>
              <a:rPr lang="en-US" sz="1500" i="1" dirty="0">
                <a:solidFill>
                  <a:srgbClr val="FFFFFF"/>
                </a:solidFill>
                <a:latin typeface="Cambria" pitchFamily="34" charset="0"/>
                <a:ea typeface="Cambria" pitchFamily="34" charset="-122"/>
                <a:cs typeface="Cambria" pitchFamily="34" charset="-120"/>
              </a:rPr>
              <a:t>“This map shows ____. I picked it because ____.”</a:t>
            </a:r>
            <a:endParaRPr lang="en-US" sz="1500" dirty="0"/>
          </a:p>
        </p:txBody>
      </p:sp>
      <p:sp>
        <p:nvSpPr>
          <p:cNvPr id="8" name="Text 5"/>
          <p:cNvSpPr/>
          <p:nvPr/>
        </p:nvSpPr>
        <p:spPr>
          <a:xfrm>
            <a:off x="853440" y="4998720"/>
            <a:ext cx="10119360" cy="487680"/>
          </a:xfrm>
          <a:prstGeom prst="rect">
            <a:avLst/>
          </a:prstGeom>
          <a:noFill/>
          <a:ln/>
        </p:spPr>
        <p:txBody>
          <a:bodyPr wrap="square" lIns="0" tIns="0" rIns="0" bIns="0" rtlCol="0" anchor="ctr"/>
          <a:lstStyle/>
          <a:p>
            <a:pPr indent="0" marL="0">
              <a:buNone/>
            </a:pPr>
            <a:r>
              <a:rPr lang="en-US" sz="1300" i="1" dirty="0">
                <a:solidFill>
                  <a:srgbClr val="55C8E8"/>
                </a:solidFill>
                <a:latin typeface="Calibri" pitchFamily="34" charset="0"/>
                <a:ea typeface="Calibri" pitchFamily="34" charset="-122"/>
                <a:cs typeface="Calibri" pitchFamily="34" charset="-120"/>
              </a:rPr>
              <a:t>RETRIEVAL CHALLENGE  —  Cover your screen. Say the map sentence starter from memory.</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F0F2F8"/>
          </a:solidFill>
          <a:ln/>
        </p:spPr>
      </p:sp>
      <p:sp>
        <p:nvSpPr>
          <p:cNvPr id="3" name="Text 1"/>
          <p:cNvSpPr/>
          <p:nvPr/>
        </p:nvSpPr>
        <p:spPr>
          <a:xfrm>
            <a:off x="853440" y="426720"/>
            <a:ext cx="7315200" cy="365760"/>
          </a:xfrm>
          <a:prstGeom prst="rect">
            <a:avLst/>
          </a:prstGeom>
          <a:noFill/>
          <a:ln/>
        </p:spPr>
        <p:txBody>
          <a:bodyPr wrap="square" lIns="0" tIns="0" rIns="0" bIns="0" rtlCol="0" anchor="ctr"/>
          <a:lstStyle/>
          <a:p>
            <a:pPr indent="0" marL="0">
              <a:buNone/>
            </a:pPr>
            <a:r>
              <a:rPr lang="en-US" sz="1100" b="1" spc="150" kern="0" dirty="0">
                <a:solidFill>
                  <a:srgbClr val="E8636B"/>
                </a:solidFill>
                <a:latin typeface="Calibri" pitchFamily="34" charset="0"/>
                <a:ea typeface="Calibri" pitchFamily="34" charset="-122"/>
                <a:cs typeface="Calibri" pitchFamily="34" charset="-120"/>
              </a:rPr>
              <a:t>CYCLE 2 OF 3  ·  SOURCE EVIDENCE</a:t>
            </a:r>
            <a:endParaRPr lang="en-US" sz="1100" dirty="0"/>
          </a:p>
        </p:txBody>
      </p:sp>
      <p:sp>
        <p:nvSpPr>
          <p:cNvPr id="4" name="Text 2"/>
          <p:cNvSpPr/>
          <p:nvPr/>
        </p:nvSpPr>
        <p:spPr>
          <a:xfrm>
            <a:off x="853440" y="853440"/>
            <a:ext cx="9753600" cy="670560"/>
          </a:xfrm>
          <a:prstGeom prst="rect">
            <a:avLst/>
          </a:prstGeom>
          <a:noFill/>
          <a:ln/>
        </p:spPr>
        <p:txBody>
          <a:bodyPr wrap="square" lIns="0" tIns="0" rIns="0" bIns="0" rtlCol="0" anchor="ctr"/>
          <a:lstStyle/>
          <a:p>
            <a:pPr indent="0" marL="0">
              <a:buNone/>
            </a:pPr>
            <a:r>
              <a:rPr lang="en-US" sz="2400" b="1" dirty="0">
                <a:solidFill>
                  <a:srgbClr val="0E1C42"/>
                </a:solidFill>
                <a:latin typeface="Cambria" pitchFamily="34" charset="0"/>
                <a:ea typeface="Cambria" pitchFamily="34" charset="-122"/>
                <a:cs typeface="Cambria" pitchFamily="34" charset="-120"/>
              </a:rPr>
              <a:t>Two Guides, One Source</a:t>
            </a:r>
            <a:endParaRPr lang="en-US" sz="2400" dirty="0"/>
          </a:p>
        </p:txBody>
      </p:sp>
      <p:sp>
        <p:nvSpPr>
          <p:cNvPr id="5" name="Shape 3"/>
          <p:cNvSpPr/>
          <p:nvPr/>
        </p:nvSpPr>
        <p:spPr>
          <a:xfrm>
            <a:off x="853440" y="1706880"/>
            <a:ext cx="5242560" cy="4389120"/>
          </a:xfrm>
          <a:prstGeom prst="roundRect">
            <a:avLst>
              <a:gd name="adj" fmla="val 3333"/>
            </a:avLst>
          </a:prstGeom>
          <a:solidFill>
            <a:srgbClr val="E2E8F4"/>
          </a:solidFill>
          <a:ln w="19050">
            <a:solidFill>
              <a:srgbClr val="B0B8CC"/>
            </a:solidFill>
            <a:prstDash val="dash"/>
          </a:ln>
        </p:spPr>
      </p:sp>
      <p:sp>
        <p:nvSpPr>
          <p:cNvPr id="6" name="Text 4"/>
          <p:cNvSpPr/>
          <p:nvPr/>
        </p:nvSpPr>
        <p:spPr>
          <a:xfrm>
            <a:off x="853440" y="1706880"/>
            <a:ext cx="5242560" cy="365760"/>
          </a:xfrm>
          <a:prstGeom prst="rect">
            <a:avLst/>
          </a:prstGeom>
          <a:noFill/>
          <a:ln/>
        </p:spPr>
        <p:txBody>
          <a:bodyPr wrap="square" lIns="0" tIns="0" rIns="0" bIns="0" rtlCol="0" anchor="ctr"/>
          <a:lstStyle/>
          <a:p>
            <a:pPr algn="ctr" indent="0" marL="0">
              <a:buNone/>
            </a:pPr>
            <a:r>
              <a:rPr lang="en-US" sz="900" b="1" spc="150" kern="0" dirty="0">
                <a:solidFill>
                  <a:srgbClr val="7A88A8"/>
                </a:solidFill>
                <a:latin typeface="Calibri" pitchFamily="34" charset="0"/>
                <a:ea typeface="Calibri" pitchFamily="34" charset="-122"/>
                <a:cs typeface="Calibri" pitchFamily="34" charset="-120"/>
              </a:rPr>
              <a:t>INSERT IMAGE</a:t>
            </a:r>
            <a:endParaRPr lang="en-US" sz="900" dirty="0"/>
          </a:p>
        </p:txBody>
      </p:sp>
      <p:sp>
        <p:nvSpPr>
          <p:cNvPr id="7" name="Text 5"/>
          <p:cNvSpPr/>
          <p:nvPr/>
        </p:nvSpPr>
        <p:spPr>
          <a:xfrm>
            <a:off x="1036320" y="2072640"/>
            <a:ext cx="4876800" cy="3901440"/>
          </a:xfrm>
          <a:prstGeom prst="rect">
            <a:avLst/>
          </a:prstGeom>
          <a:noFill/>
          <a:ln/>
        </p:spPr>
        <p:txBody>
          <a:bodyPr wrap="square" rtlCol="0" anchor="ctr"/>
          <a:lstStyle/>
          <a:p>
            <a:pPr algn="ctr" indent="0" marL="0">
              <a:buNone/>
            </a:pPr>
            <a:r>
              <a:rPr lang="en-US" sz="1100" i="1" dirty="0">
                <a:solidFill>
                  <a:srgbClr val="7A88A8"/>
                </a:solidFill>
                <a:latin typeface="Calibri" pitchFamily="34" charset="0"/>
                <a:ea typeface="Calibri" pitchFamily="34" charset="-122"/>
                <a:cs typeface="Calibri" pitchFamily="34" charset="-120"/>
              </a:rPr>
              <a:t>A framed photograph of a real orange grove displayed on an exhibit panel, with two student silhouettes gesturing toward it in discussion</a:t>
            </a:r>
            <a:endParaRPr lang="en-US" sz="1100" dirty="0"/>
          </a:p>
        </p:txBody>
      </p:sp>
      <p:sp>
        <p:nvSpPr>
          <p:cNvPr id="8" name="Shape 6"/>
          <p:cNvSpPr/>
          <p:nvPr/>
        </p:nvSpPr>
        <p:spPr>
          <a:xfrm>
            <a:off x="6400800" y="1706880"/>
            <a:ext cx="4572000" cy="2316480"/>
          </a:xfrm>
          <a:prstGeom prst="roundRect">
            <a:avLst>
              <a:gd name="adj" fmla="val 6316"/>
            </a:avLst>
          </a:prstGeom>
          <a:solidFill>
            <a:srgbClr val="F0E8FF"/>
          </a:solidFill>
          <a:ln w="12700">
            <a:solidFill>
              <a:srgbClr val="D8DDEB"/>
            </a:solidFill>
            <a:prstDash val="solid"/>
          </a:ln>
        </p:spPr>
      </p:sp>
      <p:sp>
        <p:nvSpPr>
          <p:cNvPr id="9" name="Text 7"/>
          <p:cNvSpPr/>
          <p:nvPr/>
        </p:nvSpPr>
        <p:spPr>
          <a:xfrm>
            <a:off x="6644640" y="1889760"/>
            <a:ext cx="4084320" cy="2011680"/>
          </a:xfrm>
          <a:prstGeom prst="rect">
            <a:avLst/>
          </a:prstGeom>
          <a:noFill/>
          <a:ln/>
        </p:spPr>
        <p:txBody>
          <a:bodyPr wrap="square" lIns="0" tIns="0" rIns="0" bIns="0" rtlCol="0" anchor="t"/>
          <a:lstStyle/>
          <a:p>
            <a:pPr indent="0" marL="0">
              <a:buNone/>
            </a:pPr>
            <a:r>
              <a:rPr lang="en-US" sz="1000" b="1" dirty="0">
                <a:solidFill>
                  <a:srgbClr val="8B6FC0"/>
                </a:solidFill>
                <a:latin typeface="Cambria" pitchFamily="34" charset="0"/>
                <a:ea typeface="Cambria" pitchFamily="34" charset="-122"/>
                <a:cs typeface="Cambria" pitchFamily="34" charset="-120"/>
              </a:rPr>
              <a:t>GUIDE A says:
</a:t>
            </a:r>
            <a:endParaRPr lang="en-US" sz="1000" dirty="0"/>
          </a:p>
          <a:p>
            <a:pPr indent="0" marL="0">
              <a:buNone/>
            </a:pPr>
            <a:r>
              <a:rPr lang="en-US" sz="1250" i="1" dirty="0">
                <a:solidFill>
                  <a:srgbClr val="0E1C42"/>
                </a:solidFill>
                <a:latin typeface="Cambria" pitchFamily="34" charset="0"/>
                <a:ea typeface="Cambria" pitchFamily="34" charset="-122"/>
                <a:cs typeface="Cambria" pitchFamily="34" charset="-120"/>
              </a:rPr>
              <a:t>“Yes, I know everything about this region.”</a:t>
            </a:r>
            <a:endParaRPr lang="en-US" sz="1000" dirty="0"/>
          </a:p>
        </p:txBody>
      </p:sp>
      <p:sp>
        <p:nvSpPr>
          <p:cNvPr id="10" name="Shape 8"/>
          <p:cNvSpPr/>
          <p:nvPr/>
        </p:nvSpPr>
        <p:spPr>
          <a:xfrm>
            <a:off x="6400800" y="4206240"/>
            <a:ext cx="4572000" cy="1889760"/>
          </a:xfrm>
          <a:prstGeom prst="roundRect">
            <a:avLst>
              <a:gd name="adj" fmla="val 7742"/>
            </a:avLst>
          </a:prstGeom>
          <a:solidFill>
            <a:srgbClr val="E3F8ED"/>
          </a:solidFill>
          <a:ln w="12700">
            <a:solidFill>
              <a:srgbClr val="D8DDEB"/>
            </a:solidFill>
            <a:prstDash val="solid"/>
          </a:ln>
        </p:spPr>
      </p:sp>
      <p:sp>
        <p:nvSpPr>
          <p:cNvPr id="11" name="Text 9"/>
          <p:cNvSpPr/>
          <p:nvPr/>
        </p:nvSpPr>
        <p:spPr>
          <a:xfrm>
            <a:off x="6644640" y="4389120"/>
            <a:ext cx="4084320" cy="1584960"/>
          </a:xfrm>
          <a:prstGeom prst="rect">
            <a:avLst/>
          </a:prstGeom>
          <a:noFill/>
          <a:ln/>
        </p:spPr>
        <p:txBody>
          <a:bodyPr wrap="square" lIns="0" tIns="0" rIns="0" bIns="0" rtlCol="0" anchor="t"/>
          <a:lstStyle/>
          <a:p>
            <a:pPr indent="0" marL="0">
              <a:buNone/>
            </a:pPr>
            <a:r>
              <a:rPr lang="en-US" sz="1000" b="1" dirty="0">
                <a:solidFill>
                  <a:srgbClr val="34B76F"/>
                </a:solidFill>
                <a:latin typeface="Cambria" pitchFamily="34" charset="0"/>
                <a:ea typeface="Cambria" pitchFamily="34" charset="-122"/>
                <a:cs typeface="Cambria" pitchFamily="34" charset="-120"/>
              </a:rPr>
              <a:t>GUIDE B says:
</a:t>
            </a:r>
            <a:endParaRPr lang="en-US" sz="1000" dirty="0"/>
          </a:p>
          <a:p>
            <a:pPr indent="0" marL="0">
              <a:buNone/>
            </a:pPr>
            <a:r>
              <a:rPr lang="en-US" sz="1250" i="1" dirty="0">
                <a:solidFill>
                  <a:srgbClr val="0E1C42"/>
                </a:solidFill>
                <a:latin typeface="Cambria" pitchFamily="34" charset="0"/>
                <a:ea typeface="Cambria" pitchFamily="34" charset="-122"/>
                <a:cs typeface="Cambria" pitchFamily="34" charset="-120"/>
              </a:rPr>
              <a:t>“This is a photo of a real orange grove. It proves that warm weather in the Southeast really does help farmers grow citrus.”</a:t>
            </a:r>
            <a:endParaRPr lang="en-US" sz="1000" dirty="0"/>
          </a:p>
        </p:txBody>
      </p:sp>
      <p:sp>
        <p:nvSpPr>
          <p:cNvPr id="12" name="Text 10"/>
          <p:cNvSpPr/>
          <p:nvPr/>
        </p:nvSpPr>
        <p:spPr>
          <a:xfrm>
            <a:off x="853440" y="6156960"/>
            <a:ext cx="10119360" cy="365760"/>
          </a:xfrm>
          <a:prstGeom prst="rect">
            <a:avLst/>
          </a:prstGeom>
          <a:noFill/>
          <a:ln/>
        </p:spPr>
        <p:txBody>
          <a:bodyPr wrap="square" lIns="0" tIns="0" rIns="0" bIns="0" rtlCol="0" anchor="ctr"/>
          <a:lstStyle/>
          <a:p>
            <a:pPr indent="0" marL="0">
              <a:buNone/>
            </a:pPr>
            <a:r>
              <a:rPr lang="en-US" sz="1100" i="1" dirty="0">
                <a:solidFill>
                  <a:srgbClr val="7A88A8"/>
                </a:solidFill>
                <a:latin typeface="Calibri" pitchFamily="34" charset="0"/>
                <a:ea typeface="Calibri" pitchFamily="34" charset="-122"/>
                <a:cs typeface="Calibri" pitchFamily="34" charset="-120"/>
              </a:rPr>
              <a:t>Notice what each guide says the source actually proves.</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FFF8F0"/>
          </a:solidFill>
          <a:ln/>
        </p:spPr>
      </p:sp>
      <p:sp>
        <p:nvSpPr>
          <p:cNvPr id="3" name="Text 1"/>
          <p:cNvSpPr/>
          <p:nvPr/>
        </p:nvSpPr>
        <p:spPr>
          <a:xfrm>
            <a:off x="853440" y="426720"/>
            <a:ext cx="7315200" cy="365760"/>
          </a:xfrm>
          <a:prstGeom prst="rect">
            <a:avLst/>
          </a:prstGeom>
          <a:noFill/>
          <a:ln/>
        </p:spPr>
        <p:txBody>
          <a:bodyPr wrap="square" lIns="0" tIns="0" rIns="0" bIns="0" rtlCol="0" anchor="ctr"/>
          <a:lstStyle/>
          <a:p>
            <a:pPr indent="0" marL="0">
              <a:buNone/>
            </a:pPr>
            <a:r>
              <a:rPr lang="en-US" sz="1100" b="1" spc="150" kern="0" dirty="0">
                <a:solidFill>
                  <a:srgbClr val="E8636B"/>
                </a:solidFill>
                <a:latin typeface="Calibri" pitchFamily="34" charset="0"/>
                <a:ea typeface="Calibri" pitchFamily="34" charset="-122"/>
                <a:cs typeface="Calibri" pitchFamily="34" charset="-120"/>
              </a:rPr>
              <a:t>CYCLE 2  ·  DISCUSSION</a:t>
            </a:r>
            <a:endParaRPr lang="en-US" sz="1100" dirty="0"/>
          </a:p>
        </p:txBody>
      </p:sp>
      <p:sp>
        <p:nvSpPr>
          <p:cNvPr id="4" name="Text 2"/>
          <p:cNvSpPr/>
          <p:nvPr/>
        </p:nvSpPr>
        <p:spPr>
          <a:xfrm>
            <a:off x="853440" y="853440"/>
            <a:ext cx="10119360" cy="670560"/>
          </a:xfrm>
          <a:prstGeom prst="rect">
            <a:avLst/>
          </a:prstGeom>
          <a:noFill/>
          <a:ln/>
        </p:spPr>
        <p:txBody>
          <a:bodyPr wrap="square" lIns="0" tIns="0" rIns="0" bIns="0" rtlCol="0" anchor="ctr"/>
          <a:lstStyle/>
          <a:p>
            <a:pPr indent="0" marL="0">
              <a:buNone/>
            </a:pPr>
            <a:r>
              <a:rPr lang="en-US" sz="2200" b="1" dirty="0">
                <a:solidFill>
                  <a:srgbClr val="0E1C42"/>
                </a:solidFill>
                <a:latin typeface="Cambria" pitchFamily="34" charset="0"/>
                <a:ea typeface="Cambria" pitchFamily="34" charset="-122"/>
                <a:cs typeface="Cambria" pitchFamily="34" charset="-120"/>
              </a:rPr>
              <a:t>What Makes Source Evidence Good?</a:t>
            </a:r>
            <a:endParaRPr lang="en-US" sz="2200" dirty="0"/>
          </a:p>
        </p:txBody>
      </p:sp>
      <p:sp>
        <p:nvSpPr>
          <p:cNvPr id="5" name="Shape 3"/>
          <p:cNvSpPr/>
          <p:nvPr/>
        </p:nvSpPr>
        <p:spPr>
          <a:xfrm>
            <a:off x="853440" y="1706880"/>
            <a:ext cx="5364480" cy="4389120"/>
          </a:xfrm>
          <a:prstGeom prst="roundRect">
            <a:avLst>
              <a:gd name="adj" fmla="val 4167"/>
            </a:avLst>
          </a:prstGeom>
          <a:solidFill>
            <a:srgbClr val="1A2D5A"/>
          </a:solidFill>
          <a:ln/>
          <a:effectLst>
            <a:outerShdw sx="100000" sy="100000" kx="0" ky="0" algn="bl" rotWithShape="0" blurRad="101600" dist="38100" dir="8100000">
              <a:srgbClr val="000000">
                <a:alpha val="20000"/>
              </a:srgbClr>
            </a:outerShdw>
          </a:effectLst>
        </p:spPr>
      </p:sp>
      <p:sp>
        <p:nvSpPr>
          <p:cNvPr id="6" name="Text 4"/>
          <p:cNvSpPr/>
          <p:nvPr/>
        </p:nvSpPr>
        <p:spPr>
          <a:xfrm>
            <a:off x="1097280" y="1828800"/>
            <a:ext cx="4876800" cy="341376"/>
          </a:xfrm>
          <a:prstGeom prst="rect">
            <a:avLst/>
          </a:prstGeom>
          <a:noFill/>
          <a:ln/>
        </p:spPr>
        <p:txBody>
          <a:bodyPr wrap="square" lIns="0" tIns="0" rIns="0" bIns="0" rtlCol="0" anchor="ctr"/>
          <a:lstStyle/>
          <a:p>
            <a:pPr indent="0" marL="0">
              <a:buNone/>
            </a:pPr>
            <a:r>
              <a:rPr lang="en-US" sz="900" b="1" spc="150" kern="0" dirty="0">
                <a:solidFill>
                  <a:srgbClr val="55C8E8"/>
                </a:solidFill>
                <a:latin typeface="Calibri" pitchFamily="34" charset="0"/>
                <a:ea typeface="Calibri" pitchFamily="34" charset="-122"/>
                <a:cs typeface="Calibri" pitchFamily="34" charset="-120"/>
              </a:rPr>
              <a:t>SOCRATIC QUESTIONS</a:t>
            </a:r>
            <a:endParaRPr lang="en-US" sz="900" dirty="0"/>
          </a:p>
        </p:txBody>
      </p:sp>
      <p:sp>
        <p:nvSpPr>
          <p:cNvPr id="7" name="Text 5"/>
          <p:cNvSpPr/>
          <p:nvPr/>
        </p:nvSpPr>
        <p:spPr>
          <a:xfrm>
            <a:off x="1097280" y="2170176"/>
            <a:ext cx="4876800" cy="3803904"/>
          </a:xfrm>
          <a:prstGeom prst="rect">
            <a:avLst/>
          </a:prstGeom>
          <a:noFill/>
          <a:ln/>
        </p:spPr>
        <p:txBody>
          <a:bodyPr wrap="square" lIns="0" tIns="0" rIns="0" bIns="0" rtlCol="0" anchor="t"/>
          <a:lstStyle/>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What kind of source did Guide B name? Did Guide A name a source at all?</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What does the photo actually prove, according to Guide B?</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Could Guide A's claim be checked by a visitor? Why or why not?</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Why might admitting you're still learning something make a guide sound more honest, not less smart?</a:t>
            </a:r>
            <a:endParaRPr lang="en-US" sz="1100" dirty="0"/>
          </a:p>
        </p:txBody>
      </p:sp>
      <p:sp>
        <p:nvSpPr>
          <p:cNvPr id="8" name="Shape 6"/>
          <p:cNvSpPr/>
          <p:nvPr/>
        </p:nvSpPr>
        <p:spPr>
          <a:xfrm>
            <a:off x="6522720" y="1706880"/>
            <a:ext cx="4450080" cy="4389120"/>
          </a:xfrm>
          <a:prstGeom prst="roundRect">
            <a:avLst>
              <a:gd name="adj" fmla="val 3333"/>
            </a:avLst>
          </a:prstGeom>
          <a:solidFill>
            <a:srgbClr val="FFF3DC"/>
          </a:solidFill>
          <a:ln w="19050">
            <a:solidFill>
              <a:srgbClr val="F5E6C8"/>
            </a:solidFill>
            <a:prstDash val="solid"/>
          </a:ln>
        </p:spPr>
      </p:sp>
      <p:sp>
        <p:nvSpPr>
          <p:cNvPr id="9" name="Text 7"/>
          <p:cNvSpPr/>
          <p:nvPr/>
        </p:nvSpPr>
        <p:spPr>
          <a:xfrm>
            <a:off x="6705600" y="1780032"/>
            <a:ext cx="4084320" cy="268224"/>
          </a:xfrm>
          <a:prstGeom prst="rect">
            <a:avLst/>
          </a:prstGeom>
          <a:noFill/>
          <a:ln/>
        </p:spPr>
        <p:txBody>
          <a:bodyPr wrap="square" lIns="0" tIns="0" rIns="0" bIns="0" rtlCol="0" anchor="ctr"/>
          <a:lstStyle/>
          <a:p>
            <a:pPr indent="0" marL="0">
              <a:buNone/>
            </a:pPr>
            <a:r>
              <a:rPr lang="en-US" sz="900" b="1" spc="150" kern="0" dirty="0">
                <a:solidFill>
                  <a:srgbClr val="D4943A"/>
                </a:solidFill>
                <a:latin typeface="Calibri" pitchFamily="34" charset="0"/>
                <a:ea typeface="Calibri" pitchFamily="34" charset="-122"/>
                <a:cs typeface="Calibri" pitchFamily="34" charset="-120"/>
              </a:rPr>
              <a:t>CHAT FRAME</a:t>
            </a:r>
            <a:endParaRPr lang="en-US" sz="900" dirty="0"/>
          </a:p>
        </p:txBody>
      </p:sp>
      <p:sp>
        <p:nvSpPr>
          <p:cNvPr id="10" name="Text 8"/>
          <p:cNvSpPr/>
          <p:nvPr/>
        </p:nvSpPr>
        <p:spPr>
          <a:xfrm>
            <a:off x="6705600" y="2048256"/>
            <a:ext cx="4084320" cy="3962400"/>
          </a:xfrm>
          <a:prstGeom prst="rect">
            <a:avLst/>
          </a:prstGeom>
          <a:noFill/>
          <a:ln/>
        </p:spPr>
        <p:txBody>
          <a:bodyPr wrap="square" lIns="0" tIns="0" rIns="0" bIns="0" rtlCol="0" anchor="t"/>
          <a:lstStyle/>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"I picked my source because..."</a:t>
            </a:r>
            <a:endParaRPr lang="en-US" sz="1200" dirty="0"/>
          </a:p>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"My source proves that..."</a:t>
            </a:r>
            <a:endParaRPr lang="en-US" sz="1200" dirty="0"/>
          </a:p>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"One thing I'm still figuring out is..."</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B1835"/>
          </a:solidFill>
          <a:ln w="19050">
            <a:solidFill>
              <a:srgbClr val="3A5080"/>
            </a:solidFill>
            <a:prstDash val="dash"/>
          </a:ln>
        </p:spPr>
      </p:sp>
      <p:sp>
        <p:nvSpPr>
          <p:cNvPr id="3" name="Shape 1"/>
          <p:cNvSpPr/>
          <p:nvPr/>
        </p:nvSpPr>
        <p:spPr>
          <a:xfrm>
            <a:off x="0" y="0"/>
            <a:ext cx="12191695" cy="6858000"/>
          </a:xfrm>
          <a:prstGeom prst="rect">
            <a:avLst/>
          </a:prstGeom>
          <a:solidFill>
            <a:srgbClr val="0E1C42">
              <a:alpha val="62000"/>
            </a:srgbClr>
          </a:solidFill>
          <a:ln/>
        </p:spPr>
      </p:sp>
      <p:sp>
        <p:nvSpPr>
          <p:cNvPr id="5" name="Text 2"/>
          <p:cNvSpPr/>
          <p:nvPr/>
        </p:nvSpPr>
        <p:spPr>
          <a:xfrm>
            <a:off x="731520" y="670560"/>
            <a:ext cx="10607040" cy="853440"/>
          </a:xfrm>
          <a:prstGeom prst="rect">
            <a:avLst/>
          </a:prstGeom>
          <a:noFill/>
          <a:ln/>
        </p:spPr>
        <p:txBody>
          <a:bodyPr wrap="square" rtlCol="0" anchor="ctr"/>
          <a:lstStyle/>
          <a:p>
            <a:pPr indent="0" marL="0">
              <a:buNone/>
            </a:pPr>
            <a:r>
              <a:rPr lang="en-US" sz="2100" b="1" dirty="0">
                <a:solidFill>
                  <a:srgbClr val="FFFFFF"/>
                </a:solidFill>
                <a:latin typeface="Cambria" pitchFamily="34" charset="0"/>
                <a:ea typeface="Cambria" pitchFamily="34" charset="-122"/>
                <a:cs typeface="Cambria" pitchFamily="34" charset="-120"/>
              </a:rPr>
              <a:t>You Discovered It: Source Evidence Standard</a:t>
            </a:r>
            <a:endParaRPr lang="en-US" sz="2100" dirty="0"/>
          </a:p>
        </p:txBody>
      </p:sp>
      <p:sp>
        <p:nvSpPr>
          <p:cNvPr id="6" name="Shape 3"/>
          <p:cNvSpPr/>
          <p:nvPr/>
        </p:nvSpPr>
        <p:spPr>
          <a:xfrm>
            <a:off x="853440" y="1828800"/>
            <a:ext cx="10119360" cy="2804160"/>
          </a:xfrm>
          <a:prstGeom prst="roundRect">
            <a:avLst>
              <a:gd name="adj" fmla="val 5217"/>
            </a:avLst>
          </a:prstGeom>
          <a:solidFill>
            <a:srgbClr val="132759"/>
          </a:solidFill>
          <a:ln w="12700">
            <a:solidFill>
              <a:srgbClr val="D8DDEB"/>
            </a:solidFill>
            <a:prstDash val="solid"/>
          </a:ln>
        </p:spPr>
      </p:sp>
      <p:sp>
        <p:nvSpPr>
          <p:cNvPr id="7" name="Text 4"/>
          <p:cNvSpPr/>
          <p:nvPr/>
        </p:nvSpPr>
        <p:spPr>
          <a:xfrm>
            <a:off x="1158240" y="2011680"/>
            <a:ext cx="9509760" cy="2438400"/>
          </a:xfrm>
          <a:prstGeom prst="rect">
            <a:avLst/>
          </a:prstGeom>
          <a:noFill/>
          <a:ln/>
        </p:spPr>
        <p:txBody>
          <a:bodyPr wrap="square" lIns="0" tIns="0" rIns="0" bIns="0" rtlCol="0" anchor="t"/>
          <a:lstStyle/>
          <a:p>
            <a:pPr indent="0" marL="0">
              <a:buNone/>
            </a:pPr>
            <a:r>
              <a:rPr lang="en-US" sz="1500" b="1" dirty="0">
                <a:solidFill>
                  <a:srgbClr val="D4943A"/>
                </a:solidFill>
                <a:latin typeface="Cambria" pitchFamily="34" charset="0"/>
                <a:ea typeface="Cambria" pitchFamily="34" charset="-122"/>
                <a:cs typeface="Cambria" pitchFamily="34" charset="-120"/>
              </a:rPr>
              <a:t>Good source evidence names what kind of source it is and says exactly what it proves — in plain words, not fancy ones.
</a:t>
            </a:r>
            <a:endParaRPr lang="en-US" sz="1500" dirty="0"/>
          </a:p>
          <a:p>
            <a:pPr indent="0" marL="0">
              <a:buNone/>
            </a:pPr>
            <a:r>
              <a:rPr lang="en-US" sz="1500" i="1" dirty="0">
                <a:solidFill>
                  <a:srgbClr val="FFFFFF"/>
                </a:solidFill>
                <a:latin typeface="Cambria" pitchFamily="34" charset="0"/>
                <a:ea typeface="Cambria" pitchFamily="34" charset="-122"/>
                <a:cs typeface="Cambria" pitchFamily="34" charset="-120"/>
              </a:rPr>
              <a:t>“This source is ____. It shows that ____.”</a:t>
            </a:r>
            <a:endParaRPr lang="en-US" sz="1500" dirty="0"/>
          </a:p>
        </p:txBody>
      </p:sp>
      <p:sp>
        <p:nvSpPr>
          <p:cNvPr id="8" name="Text 5"/>
          <p:cNvSpPr/>
          <p:nvPr/>
        </p:nvSpPr>
        <p:spPr>
          <a:xfrm>
            <a:off x="853440" y="4998720"/>
            <a:ext cx="10119360" cy="487680"/>
          </a:xfrm>
          <a:prstGeom prst="rect">
            <a:avLst/>
          </a:prstGeom>
          <a:noFill/>
          <a:ln/>
        </p:spPr>
        <p:txBody>
          <a:bodyPr wrap="square" lIns="0" tIns="0" rIns="0" bIns="0" rtlCol="0" anchor="ctr"/>
          <a:lstStyle/>
          <a:p>
            <a:pPr indent="0" marL="0">
              <a:buNone/>
            </a:pPr>
            <a:r>
              <a:rPr lang="en-US" sz="1300" i="1" dirty="0">
                <a:solidFill>
                  <a:srgbClr val="55C8E8"/>
                </a:solidFill>
                <a:latin typeface="Calibri" pitchFamily="34" charset="0"/>
                <a:ea typeface="Calibri" pitchFamily="34" charset="-122"/>
                <a:cs typeface="Calibri" pitchFamily="34" charset="-120"/>
              </a:rPr>
              <a:t>RETRIEVAL CHALLENGE  —  Cover your screen. Say the source sentence starter from memory.</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F0F2F8"/>
          </a:solidFill>
          <a:ln/>
        </p:spPr>
      </p:sp>
      <p:sp>
        <p:nvSpPr>
          <p:cNvPr id="3" name="Text 1"/>
          <p:cNvSpPr/>
          <p:nvPr/>
        </p:nvSpPr>
        <p:spPr>
          <a:xfrm>
            <a:off x="853440" y="426720"/>
            <a:ext cx="7315200" cy="365760"/>
          </a:xfrm>
          <a:prstGeom prst="rect">
            <a:avLst/>
          </a:prstGeom>
          <a:noFill/>
          <a:ln/>
        </p:spPr>
        <p:txBody>
          <a:bodyPr wrap="square" lIns="0" tIns="0" rIns="0" bIns="0" rtlCol="0" anchor="ctr"/>
          <a:lstStyle/>
          <a:p>
            <a:pPr indent="0" marL="0">
              <a:buNone/>
            </a:pPr>
            <a:r>
              <a:rPr lang="en-US" sz="1100" b="1" spc="150" kern="0" dirty="0">
                <a:solidFill>
                  <a:srgbClr val="D4943A"/>
                </a:solidFill>
                <a:latin typeface="Calibri" pitchFamily="34" charset="0"/>
                <a:ea typeface="Calibri" pitchFamily="34" charset="-122"/>
                <a:cs typeface="Calibri" pitchFamily="34" charset="-120"/>
              </a:rPr>
              <a:t>CYCLE 3 OF 3  ·  VIRTUE EVIDENCE</a:t>
            </a:r>
            <a:endParaRPr lang="en-US" sz="1100" dirty="0"/>
          </a:p>
        </p:txBody>
      </p:sp>
      <p:sp>
        <p:nvSpPr>
          <p:cNvPr id="4" name="Text 2"/>
          <p:cNvSpPr/>
          <p:nvPr/>
        </p:nvSpPr>
        <p:spPr>
          <a:xfrm>
            <a:off x="853440" y="853440"/>
            <a:ext cx="9753600" cy="670560"/>
          </a:xfrm>
          <a:prstGeom prst="rect">
            <a:avLst/>
          </a:prstGeom>
          <a:noFill/>
          <a:ln/>
        </p:spPr>
        <p:txBody>
          <a:bodyPr wrap="square" lIns="0" tIns="0" rIns="0" bIns="0" rtlCol="0" anchor="ctr"/>
          <a:lstStyle/>
          <a:p>
            <a:pPr indent="0" marL="0">
              <a:buNone/>
            </a:pPr>
            <a:r>
              <a:rPr lang="en-US" sz="2400" b="1" dirty="0">
                <a:solidFill>
                  <a:srgbClr val="0E1C42"/>
                </a:solidFill>
                <a:latin typeface="Cambria" pitchFamily="34" charset="0"/>
                <a:ea typeface="Cambria" pitchFamily="34" charset="-122"/>
                <a:cs typeface="Cambria" pitchFamily="34" charset="-120"/>
              </a:rPr>
              <a:t>Two Guides, One Virtue</a:t>
            </a:r>
            <a:endParaRPr lang="en-US" sz="2400" dirty="0"/>
          </a:p>
        </p:txBody>
      </p:sp>
      <p:sp>
        <p:nvSpPr>
          <p:cNvPr id="5" name="Shape 3"/>
          <p:cNvSpPr/>
          <p:nvPr/>
        </p:nvSpPr>
        <p:spPr>
          <a:xfrm>
            <a:off x="853440" y="1706880"/>
            <a:ext cx="5242560" cy="4389120"/>
          </a:xfrm>
          <a:prstGeom prst="roundRect">
            <a:avLst>
              <a:gd name="adj" fmla="val 3333"/>
            </a:avLst>
          </a:prstGeom>
          <a:solidFill>
            <a:srgbClr val="E2E8F4"/>
          </a:solidFill>
          <a:ln w="19050">
            <a:solidFill>
              <a:srgbClr val="B0B8CC"/>
            </a:solidFill>
            <a:prstDash val="dash"/>
          </a:ln>
        </p:spPr>
      </p:sp>
      <p:sp>
        <p:nvSpPr>
          <p:cNvPr id="6" name="Text 4"/>
          <p:cNvSpPr/>
          <p:nvPr/>
        </p:nvSpPr>
        <p:spPr>
          <a:xfrm>
            <a:off x="853440" y="1706880"/>
            <a:ext cx="5242560" cy="365760"/>
          </a:xfrm>
          <a:prstGeom prst="rect">
            <a:avLst/>
          </a:prstGeom>
          <a:noFill/>
          <a:ln/>
        </p:spPr>
        <p:txBody>
          <a:bodyPr wrap="square" lIns="0" tIns="0" rIns="0" bIns="0" rtlCol="0" anchor="ctr"/>
          <a:lstStyle/>
          <a:p>
            <a:pPr algn="ctr" indent="0" marL="0">
              <a:buNone/>
            </a:pPr>
            <a:r>
              <a:rPr lang="en-US" sz="900" b="1" spc="150" kern="0" dirty="0">
                <a:solidFill>
                  <a:srgbClr val="7A88A8"/>
                </a:solidFill>
                <a:latin typeface="Calibri" pitchFamily="34" charset="0"/>
                <a:ea typeface="Calibri" pitchFamily="34" charset="-122"/>
                <a:cs typeface="Calibri" pitchFamily="34" charset="-120"/>
              </a:rPr>
              <a:t>INSERT IMAGE</a:t>
            </a:r>
            <a:endParaRPr lang="en-US" sz="900" dirty="0"/>
          </a:p>
        </p:txBody>
      </p:sp>
      <p:sp>
        <p:nvSpPr>
          <p:cNvPr id="7" name="Text 5"/>
          <p:cNvSpPr/>
          <p:nvPr/>
        </p:nvSpPr>
        <p:spPr>
          <a:xfrm>
            <a:off x="1036320" y="2072640"/>
            <a:ext cx="4876800" cy="3901440"/>
          </a:xfrm>
          <a:prstGeom prst="rect">
            <a:avLst/>
          </a:prstGeom>
          <a:noFill/>
          <a:ln/>
        </p:spPr>
        <p:txBody>
          <a:bodyPr wrap="square" rtlCol="0" anchor="ctr"/>
          <a:lstStyle/>
          <a:p>
            <a:pPr algn="ctr" indent="0" marL="0">
              <a:buNone/>
            </a:pPr>
            <a:r>
              <a:rPr lang="en-US" sz="1100" i="1" dirty="0">
                <a:solidFill>
                  <a:srgbClr val="7A88A8"/>
                </a:solidFill>
                <a:latin typeface="Calibri" pitchFamily="34" charset="0"/>
                <a:ea typeface="Calibri" pitchFamily="34" charset="-122"/>
                <a:cs typeface="Calibri" pitchFamily="34" charset="-120"/>
              </a:rPr>
              <a:t>A community scene of neighbors helping each other clear storm debris, displayed as a photo on an exhibit panel with a virtue placard beside it</a:t>
            </a:r>
            <a:endParaRPr lang="en-US" sz="1100" dirty="0"/>
          </a:p>
        </p:txBody>
      </p:sp>
      <p:sp>
        <p:nvSpPr>
          <p:cNvPr id="8" name="Shape 6"/>
          <p:cNvSpPr/>
          <p:nvPr/>
        </p:nvSpPr>
        <p:spPr>
          <a:xfrm>
            <a:off x="6400800" y="1706880"/>
            <a:ext cx="4572000" cy="2133600"/>
          </a:xfrm>
          <a:prstGeom prst="roundRect">
            <a:avLst>
              <a:gd name="adj" fmla="val 6857"/>
            </a:avLst>
          </a:prstGeom>
          <a:solidFill>
            <a:srgbClr val="F0E8FF"/>
          </a:solidFill>
          <a:ln w="12700">
            <a:solidFill>
              <a:srgbClr val="D8DDEB"/>
            </a:solidFill>
            <a:prstDash val="solid"/>
          </a:ln>
        </p:spPr>
      </p:sp>
      <p:sp>
        <p:nvSpPr>
          <p:cNvPr id="9" name="Text 7"/>
          <p:cNvSpPr/>
          <p:nvPr/>
        </p:nvSpPr>
        <p:spPr>
          <a:xfrm>
            <a:off x="6644640" y="1889760"/>
            <a:ext cx="4084320" cy="1828800"/>
          </a:xfrm>
          <a:prstGeom prst="rect">
            <a:avLst/>
          </a:prstGeom>
          <a:noFill/>
          <a:ln/>
        </p:spPr>
        <p:txBody>
          <a:bodyPr wrap="square" lIns="0" tIns="0" rIns="0" bIns="0" rtlCol="0" anchor="t"/>
          <a:lstStyle/>
          <a:p>
            <a:pPr indent="0" marL="0">
              <a:buNone/>
            </a:pPr>
            <a:r>
              <a:rPr lang="en-US" sz="1000" b="1" dirty="0">
                <a:solidFill>
                  <a:srgbClr val="8B6FC0"/>
                </a:solidFill>
                <a:latin typeface="Cambria" pitchFamily="34" charset="0"/>
                <a:ea typeface="Cambria" pitchFamily="34" charset="-122"/>
                <a:cs typeface="Cambria" pitchFamily="34" charset="-120"/>
              </a:rPr>
              <a:t>GUIDE A says:
</a:t>
            </a:r>
            <a:endParaRPr lang="en-US" sz="1000" dirty="0"/>
          </a:p>
          <a:p>
            <a:pPr indent="0" marL="0">
              <a:buNone/>
            </a:pPr>
            <a:r>
              <a:rPr lang="en-US" sz="1250" i="1" dirty="0">
                <a:solidFill>
                  <a:srgbClr val="0E1C42"/>
                </a:solidFill>
                <a:latin typeface="Cambria" pitchFamily="34" charset="0"/>
                <a:ea typeface="Cambria" pitchFamily="34" charset="-122"/>
                <a:cs typeface="Cambria" pitchFamily="34" charset="-120"/>
              </a:rPr>
              <a:t>“Every person in this community shows great courage.”</a:t>
            </a:r>
            <a:endParaRPr lang="en-US" sz="1000" dirty="0"/>
          </a:p>
        </p:txBody>
      </p:sp>
      <p:sp>
        <p:nvSpPr>
          <p:cNvPr id="10" name="Shape 8"/>
          <p:cNvSpPr/>
          <p:nvPr/>
        </p:nvSpPr>
        <p:spPr>
          <a:xfrm>
            <a:off x="6400800" y="4023360"/>
            <a:ext cx="4572000" cy="2072640"/>
          </a:xfrm>
          <a:prstGeom prst="roundRect">
            <a:avLst>
              <a:gd name="adj" fmla="val 7059"/>
            </a:avLst>
          </a:prstGeom>
          <a:solidFill>
            <a:srgbClr val="E3F8ED"/>
          </a:solidFill>
          <a:ln w="12700">
            <a:solidFill>
              <a:srgbClr val="D8DDEB"/>
            </a:solidFill>
            <a:prstDash val="solid"/>
          </a:ln>
        </p:spPr>
      </p:sp>
      <p:sp>
        <p:nvSpPr>
          <p:cNvPr id="11" name="Text 9"/>
          <p:cNvSpPr/>
          <p:nvPr/>
        </p:nvSpPr>
        <p:spPr>
          <a:xfrm>
            <a:off x="6644640" y="4206240"/>
            <a:ext cx="4084320" cy="1767840"/>
          </a:xfrm>
          <a:prstGeom prst="rect">
            <a:avLst/>
          </a:prstGeom>
          <a:noFill/>
          <a:ln/>
        </p:spPr>
        <p:txBody>
          <a:bodyPr wrap="square" lIns="0" tIns="0" rIns="0" bIns="0" rtlCol="0" anchor="t"/>
          <a:lstStyle/>
          <a:p>
            <a:pPr indent="0" marL="0">
              <a:buNone/>
            </a:pPr>
            <a:r>
              <a:rPr lang="en-US" sz="1000" b="1" dirty="0">
                <a:solidFill>
                  <a:srgbClr val="34B76F"/>
                </a:solidFill>
                <a:latin typeface="Cambria" pitchFamily="34" charset="0"/>
                <a:ea typeface="Cambria" pitchFamily="34" charset="-122"/>
                <a:cs typeface="Cambria" pitchFamily="34" charset="-120"/>
              </a:rPr>
              <a:t>GUIDE B says:
</a:t>
            </a:r>
            <a:endParaRPr lang="en-US" sz="1000" dirty="0"/>
          </a:p>
          <a:p>
            <a:pPr indent="0" marL="0">
              <a:buNone/>
            </a:pPr>
            <a:r>
              <a:rPr lang="en-US" sz="1200" i="1" dirty="0">
                <a:solidFill>
                  <a:srgbClr val="0E1C42"/>
                </a:solidFill>
                <a:latin typeface="Cambria" pitchFamily="34" charset="0"/>
                <a:ea typeface="Cambria" pitchFamily="34" charset="-122"/>
                <a:cs typeface="Cambria" pitchFamily="34" charset="-120"/>
              </a:rPr>
              <a:t>“Many people in this community show courage — like helping neighbors after storms. I'm sure not every single person does, but lots of them do.”</a:t>
            </a:r>
            <a:endParaRPr lang="en-US" sz="1000" dirty="0"/>
          </a:p>
        </p:txBody>
      </p:sp>
      <p:sp>
        <p:nvSpPr>
          <p:cNvPr id="12" name="Text 10"/>
          <p:cNvSpPr/>
          <p:nvPr/>
        </p:nvSpPr>
        <p:spPr>
          <a:xfrm>
            <a:off x="853440" y="6156960"/>
            <a:ext cx="10119360" cy="365760"/>
          </a:xfrm>
          <a:prstGeom prst="rect">
            <a:avLst/>
          </a:prstGeom>
          <a:noFill/>
          <a:ln/>
        </p:spPr>
        <p:txBody>
          <a:bodyPr wrap="square" lIns="0" tIns="0" rIns="0" bIns="0" rtlCol="0" anchor="ctr"/>
          <a:lstStyle/>
          <a:p>
            <a:pPr indent="0" marL="0">
              <a:buNone/>
            </a:pPr>
            <a:r>
              <a:rPr lang="en-US" sz="1100" i="1" dirty="0">
                <a:solidFill>
                  <a:srgbClr val="7A88A8"/>
                </a:solidFill>
                <a:latin typeface="Calibri" pitchFamily="34" charset="0"/>
                <a:ea typeface="Calibri" pitchFamily="34" charset="-122"/>
                <a:cs typeface="Calibri" pitchFamily="34" charset="-120"/>
              </a:rPr>
              <a:t>Notice which guide connects the virtue to real, specific actions -- not just an idea.</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FFF8F0"/>
          </a:solidFill>
          <a:ln/>
        </p:spPr>
      </p:sp>
      <p:sp>
        <p:nvSpPr>
          <p:cNvPr id="3" name="Text 1"/>
          <p:cNvSpPr/>
          <p:nvPr/>
        </p:nvSpPr>
        <p:spPr>
          <a:xfrm>
            <a:off x="853440" y="426720"/>
            <a:ext cx="7315200" cy="365760"/>
          </a:xfrm>
          <a:prstGeom prst="rect">
            <a:avLst/>
          </a:prstGeom>
          <a:noFill/>
          <a:ln/>
        </p:spPr>
        <p:txBody>
          <a:bodyPr wrap="square" lIns="0" tIns="0" rIns="0" bIns="0" rtlCol="0" anchor="ctr"/>
          <a:lstStyle/>
          <a:p>
            <a:pPr indent="0" marL="0">
              <a:buNone/>
            </a:pPr>
            <a:r>
              <a:rPr lang="en-US" sz="1100" b="1" spc="150" kern="0" dirty="0">
                <a:solidFill>
                  <a:srgbClr val="D4943A"/>
                </a:solidFill>
                <a:latin typeface="Calibri" pitchFamily="34" charset="0"/>
                <a:ea typeface="Calibri" pitchFamily="34" charset="-122"/>
                <a:cs typeface="Calibri" pitchFamily="34" charset="-120"/>
              </a:rPr>
              <a:t>CYCLE 3  ·  DISCUSSION</a:t>
            </a:r>
            <a:endParaRPr lang="en-US" sz="1100" dirty="0"/>
          </a:p>
        </p:txBody>
      </p:sp>
      <p:sp>
        <p:nvSpPr>
          <p:cNvPr id="4" name="Text 2"/>
          <p:cNvSpPr/>
          <p:nvPr/>
        </p:nvSpPr>
        <p:spPr>
          <a:xfrm>
            <a:off x="853440" y="853440"/>
            <a:ext cx="10119360" cy="670560"/>
          </a:xfrm>
          <a:prstGeom prst="rect">
            <a:avLst/>
          </a:prstGeom>
          <a:noFill/>
          <a:ln/>
        </p:spPr>
        <p:txBody>
          <a:bodyPr wrap="square" lIns="0" tIns="0" rIns="0" bIns="0" rtlCol="0" anchor="ctr"/>
          <a:lstStyle/>
          <a:p>
            <a:pPr indent="0" marL="0">
              <a:buNone/>
            </a:pPr>
            <a:r>
              <a:rPr lang="en-US" sz="2200" b="1" dirty="0">
                <a:solidFill>
                  <a:srgbClr val="0E1C42"/>
                </a:solidFill>
                <a:latin typeface="Cambria" pitchFamily="34" charset="0"/>
                <a:ea typeface="Cambria" pitchFamily="34" charset="-122"/>
                <a:cs typeface="Cambria" pitchFamily="34" charset="-120"/>
              </a:rPr>
              <a:t>What Makes Virtue Evidence Good?</a:t>
            </a:r>
            <a:endParaRPr lang="en-US" sz="2200" dirty="0"/>
          </a:p>
        </p:txBody>
      </p:sp>
      <p:sp>
        <p:nvSpPr>
          <p:cNvPr id="5" name="Shape 3"/>
          <p:cNvSpPr/>
          <p:nvPr/>
        </p:nvSpPr>
        <p:spPr>
          <a:xfrm>
            <a:off x="853440" y="1706880"/>
            <a:ext cx="5364480" cy="4389120"/>
          </a:xfrm>
          <a:prstGeom prst="roundRect">
            <a:avLst>
              <a:gd name="adj" fmla="val 4167"/>
            </a:avLst>
          </a:prstGeom>
          <a:solidFill>
            <a:srgbClr val="1A2D5A"/>
          </a:solidFill>
          <a:ln/>
          <a:effectLst>
            <a:outerShdw sx="100000" sy="100000" kx="0" ky="0" algn="bl" rotWithShape="0" blurRad="101600" dist="38100" dir="8100000">
              <a:srgbClr val="000000">
                <a:alpha val="20000"/>
              </a:srgbClr>
            </a:outerShdw>
          </a:effectLst>
        </p:spPr>
      </p:sp>
      <p:sp>
        <p:nvSpPr>
          <p:cNvPr id="6" name="Text 4"/>
          <p:cNvSpPr/>
          <p:nvPr/>
        </p:nvSpPr>
        <p:spPr>
          <a:xfrm>
            <a:off x="1097280" y="1828800"/>
            <a:ext cx="4876800" cy="341376"/>
          </a:xfrm>
          <a:prstGeom prst="rect">
            <a:avLst/>
          </a:prstGeom>
          <a:noFill/>
          <a:ln/>
        </p:spPr>
        <p:txBody>
          <a:bodyPr wrap="square" lIns="0" tIns="0" rIns="0" bIns="0" rtlCol="0" anchor="ctr"/>
          <a:lstStyle/>
          <a:p>
            <a:pPr indent="0" marL="0">
              <a:buNone/>
            </a:pPr>
            <a:r>
              <a:rPr lang="en-US" sz="900" b="1" spc="150" kern="0" dirty="0">
                <a:solidFill>
                  <a:srgbClr val="55C8E8"/>
                </a:solidFill>
                <a:latin typeface="Calibri" pitchFamily="34" charset="0"/>
                <a:ea typeface="Calibri" pitchFamily="34" charset="-122"/>
                <a:cs typeface="Calibri" pitchFamily="34" charset="-120"/>
              </a:rPr>
              <a:t>SOCRATIC QUESTIONS</a:t>
            </a:r>
            <a:endParaRPr lang="en-US" sz="900" dirty="0"/>
          </a:p>
        </p:txBody>
      </p:sp>
      <p:sp>
        <p:nvSpPr>
          <p:cNvPr id="7" name="Text 5"/>
          <p:cNvSpPr/>
          <p:nvPr/>
        </p:nvSpPr>
        <p:spPr>
          <a:xfrm>
            <a:off x="1097280" y="2170176"/>
            <a:ext cx="4876800" cy="3803904"/>
          </a:xfrm>
          <a:prstGeom prst="rect">
            <a:avLst/>
          </a:prstGeom>
          <a:noFill/>
          <a:ln/>
        </p:spPr>
        <p:txBody>
          <a:bodyPr wrap="square" lIns="0" tIns="0" rIns="0" bIns="0" rtlCol="0" anchor="t"/>
          <a:lstStyle/>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What specific real action does Guide B point to? Does Guide A point to anything specific?</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Why is 'every person' a riskier claim than 'many people'?</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How does connecting a virtue to real people's actions make it more convincing?</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Why does the virtue matter for your community or region -- not just as an idea, but in real life?</a:t>
            </a:r>
            <a:endParaRPr lang="en-US" sz="1100" dirty="0"/>
          </a:p>
        </p:txBody>
      </p:sp>
      <p:sp>
        <p:nvSpPr>
          <p:cNvPr id="8" name="Shape 6"/>
          <p:cNvSpPr/>
          <p:nvPr/>
        </p:nvSpPr>
        <p:spPr>
          <a:xfrm>
            <a:off x="6522720" y="1706880"/>
            <a:ext cx="4450080" cy="4389120"/>
          </a:xfrm>
          <a:prstGeom prst="roundRect">
            <a:avLst>
              <a:gd name="adj" fmla="val 3333"/>
            </a:avLst>
          </a:prstGeom>
          <a:solidFill>
            <a:srgbClr val="FFF3DC"/>
          </a:solidFill>
          <a:ln w="19050">
            <a:solidFill>
              <a:srgbClr val="F5E6C8"/>
            </a:solidFill>
            <a:prstDash val="solid"/>
          </a:ln>
        </p:spPr>
      </p:sp>
      <p:sp>
        <p:nvSpPr>
          <p:cNvPr id="9" name="Text 7"/>
          <p:cNvSpPr/>
          <p:nvPr/>
        </p:nvSpPr>
        <p:spPr>
          <a:xfrm>
            <a:off x="6705600" y="1780032"/>
            <a:ext cx="4084320" cy="268224"/>
          </a:xfrm>
          <a:prstGeom prst="rect">
            <a:avLst/>
          </a:prstGeom>
          <a:noFill/>
          <a:ln/>
        </p:spPr>
        <p:txBody>
          <a:bodyPr wrap="square" lIns="0" tIns="0" rIns="0" bIns="0" rtlCol="0" anchor="ctr"/>
          <a:lstStyle/>
          <a:p>
            <a:pPr indent="0" marL="0">
              <a:buNone/>
            </a:pPr>
            <a:r>
              <a:rPr lang="en-US" sz="900" b="1" spc="150" kern="0" dirty="0">
                <a:solidFill>
                  <a:srgbClr val="D4943A"/>
                </a:solidFill>
                <a:latin typeface="Calibri" pitchFamily="34" charset="0"/>
                <a:ea typeface="Calibri" pitchFamily="34" charset="-122"/>
                <a:cs typeface="Calibri" pitchFamily="34" charset="-120"/>
              </a:rPr>
              <a:t>CHAT FRAME</a:t>
            </a:r>
            <a:endParaRPr lang="en-US" sz="900" dirty="0"/>
          </a:p>
        </p:txBody>
      </p:sp>
      <p:sp>
        <p:nvSpPr>
          <p:cNvPr id="10" name="Text 8"/>
          <p:cNvSpPr/>
          <p:nvPr/>
        </p:nvSpPr>
        <p:spPr>
          <a:xfrm>
            <a:off x="6705600" y="2048256"/>
            <a:ext cx="4084320" cy="3962400"/>
          </a:xfrm>
          <a:prstGeom prst="rect">
            <a:avLst/>
          </a:prstGeom>
          <a:noFill/>
          <a:ln/>
        </p:spPr>
        <p:txBody>
          <a:bodyPr wrap="square" lIns="0" tIns="0" rIns="0" bIns="0" rtlCol="0" anchor="t"/>
          <a:lstStyle/>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"I picked the virtue of ____ because..."</a:t>
            </a:r>
            <a:endParaRPr lang="en-US" sz="1200" dirty="0"/>
          </a:p>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"In my community, people show this virtue by..."</a:t>
            </a:r>
            <a:endParaRPr lang="en-US" sz="1200" dirty="0"/>
          </a:p>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"This virtue matters because..."</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B1835"/>
          </a:solidFill>
          <a:ln w="19050">
            <a:solidFill>
              <a:srgbClr val="3A5080"/>
            </a:solidFill>
            <a:prstDash val="dash"/>
          </a:ln>
        </p:spPr>
      </p:sp>
      <p:sp>
        <p:nvSpPr>
          <p:cNvPr id="3" name="Shape 1"/>
          <p:cNvSpPr/>
          <p:nvPr/>
        </p:nvSpPr>
        <p:spPr>
          <a:xfrm>
            <a:off x="0" y="0"/>
            <a:ext cx="12191695" cy="6858000"/>
          </a:xfrm>
          <a:prstGeom prst="rect">
            <a:avLst/>
          </a:prstGeom>
          <a:solidFill>
            <a:srgbClr val="0E1C42">
              <a:alpha val="62000"/>
            </a:srgbClr>
          </a:solidFill>
          <a:ln/>
        </p:spPr>
      </p:sp>
      <p:sp>
        <p:nvSpPr>
          <p:cNvPr id="5" name="Text 2"/>
          <p:cNvSpPr/>
          <p:nvPr/>
        </p:nvSpPr>
        <p:spPr>
          <a:xfrm>
            <a:off x="731520" y="670560"/>
            <a:ext cx="10607040" cy="853440"/>
          </a:xfrm>
          <a:prstGeom prst="rect">
            <a:avLst/>
          </a:prstGeom>
          <a:noFill/>
          <a:ln/>
        </p:spPr>
        <p:txBody>
          <a:bodyPr wrap="square" rtlCol="0" anchor="ctr"/>
          <a:lstStyle/>
          <a:p>
            <a:pPr indent="0" marL="0">
              <a:buNone/>
            </a:pPr>
            <a:r>
              <a:rPr lang="en-US" sz="2100" b="1" dirty="0">
                <a:solidFill>
                  <a:srgbClr val="FFFFFF"/>
                </a:solidFill>
                <a:latin typeface="Cambria" pitchFamily="34" charset="0"/>
                <a:ea typeface="Cambria" pitchFamily="34" charset="-122"/>
                <a:cs typeface="Cambria" pitchFamily="34" charset="-120"/>
              </a:rPr>
              <a:t>You Discovered It: Virtue Evidence Standard</a:t>
            </a:r>
            <a:endParaRPr lang="en-US" sz="2100" dirty="0"/>
          </a:p>
        </p:txBody>
      </p:sp>
      <p:sp>
        <p:nvSpPr>
          <p:cNvPr id="6" name="Shape 3"/>
          <p:cNvSpPr/>
          <p:nvPr/>
        </p:nvSpPr>
        <p:spPr>
          <a:xfrm>
            <a:off x="853440" y="1828800"/>
            <a:ext cx="10119360" cy="2804160"/>
          </a:xfrm>
          <a:prstGeom prst="roundRect">
            <a:avLst>
              <a:gd name="adj" fmla="val 5217"/>
            </a:avLst>
          </a:prstGeom>
          <a:solidFill>
            <a:srgbClr val="132759"/>
          </a:solidFill>
          <a:ln w="12700">
            <a:solidFill>
              <a:srgbClr val="D8DDEB"/>
            </a:solidFill>
            <a:prstDash val="solid"/>
          </a:ln>
        </p:spPr>
      </p:sp>
      <p:sp>
        <p:nvSpPr>
          <p:cNvPr id="7" name="Text 4"/>
          <p:cNvSpPr/>
          <p:nvPr/>
        </p:nvSpPr>
        <p:spPr>
          <a:xfrm>
            <a:off x="1158240" y="2011680"/>
            <a:ext cx="9509760" cy="2438400"/>
          </a:xfrm>
          <a:prstGeom prst="rect">
            <a:avLst/>
          </a:prstGeom>
          <a:noFill/>
          <a:ln/>
        </p:spPr>
        <p:txBody>
          <a:bodyPr wrap="square" lIns="0" tIns="0" rIns="0" bIns="0" rtlCol="0" anchor="t"/>
          <a:lstStyle/>
          <a:p>
            <a:pPr indent="0" marL="0">
              <a:buNone/>
            </a:pPr>
            <a:r>
              <a:rPr lang="en-US" sz="1450" b="1" dirty="0">
                <a:solidFill>
                  <a:srgbClr val="D4943A"/>
                </a:solidFill>
                <a:latin typeface="Cambria" pitchFamily="34" charset="0"/>
                <a:ea typeface="Cambria" pitchFamily="34" charset="-122"/>
                <a:cs typeface="Cambria" pitchFamily="34" charset="-120"/>
              </a:rPr>
              <a:t>Good virtue evidence connects the virtue to real, specific people or actions — not just an idea — and invites the visitor to ask more.
</a:t>
            </a:r>
            <a:endParaRPr lang="en-US" sz="1450" dirty="0"/>
          </a:p>
          <a:p>
            <a:pPr indent="0" marL="0">
              <a:buNone/>
            </a:pPr>
            <a:r>
              <a:rPr lang="en-US" sz="1450" i="1" dirty="0">
                <a:solidFill>
                  <a:srgbClr val="FFFFFF"/>
                </a:solidFill>
                <a:latin typeface="Cambria" pitchFamily="34" charset="0"/>
                <a:ea typeface="Cambria" pitchFamily="34" charset="-122"/>
                <a:cs typeface="Cambria" pitchFamily="34" charset="-120"/>
              </a:rPr>
              <a:t>“I picked the virtue of ____ because ____. Do you have any questions?”</a:t>
            </a:r>
            <a:endParaRPr lang="en-US" sz="1450" dirty="0"/>
          </a:p>
        </p:txBody>
      </p:sp>
      <p:sp>
        <p:nvSpPr>
          <p:cNvPr id="8" name="Text 5"/>
          <p:cNvSpPr/>
          <p:nvPr/>
        </p:nvSpPr>
        <p:spPr>
          <a:xfrm>
            <a:off x="853440" y="4998720"/>
            <a:ext cx="10119360" cy="487680"/>
          </a:xfrm>
          <a:prstGeom prst="rect">
            <a:avLst/>
          </a:prstGeom>
          <a:noFill/>
          <a:ln/>
        </p:spPr>
        <p:txBody>
          <a:bodyPr wrap="square" lIns="0" tIns="0" rIns="0" bIns="0" rtlCol="0" anchor="ctr"/>
          <a:lstStyle/>
          <a:p>
            <a:pPr indent="0" marL="0">
              <a:buNone/>
            </a:pPr>
            <a:r>
              <a:rPr lang="en-US" sz="1300" i="1" dirty="0">
                <a:solidFill>
                  <a:srgbClr val="55C8E8"/>
                </a:solidFill>
                <a:latin typeface="Calibri" pitchFamily="34" charset="0"/>
                <a:ea typeface="Calibri" pitchFamily="34" charset="-122"/>
                <a:cs typeface="Calibri" pitchFamily="34" charset="-120"/>
              </a:rPr>
              <a:t>RETRIEVAL CHALLENGE  —  Cover your screen. Name all three evidence standards: map, source, virtue.</a:t>
            </a:r>
            <a:endParaRPr lang="en-US" sz="13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F0F2F8"/>
          </a:solidFill>
          <a:ln/>
        </p:spPr>
      </p:sp>
      <p:sp>
        <p:nvSpPr>
          <p:cNvPr id="3" name="Text 1"/>
          <p:cNvSpPr/>
          <p:nvPr/>
        </p:nvSpPr>
        <p:spPr>
          <a:xfrm>
            <a:off x="853440" y="487680"/>
            <a:ext cx="7315200" cy="365760"/>
          </a:xfrm>
          <a:prstGeom prst="rect">
            <a:avLst/>
          </a:prstGeom>
          <a:noFill/>
          <a:ln/>
        </p:spPr>
        <p:txBody>
          <a:bodyPr wrap="square" lIns="0" tIns="0" rIns="0" bIns="0" rtlCol="0" anchor="ctr"/>
          <a:lstStyle/>
          <a:p>
            <a:pPr indent="0" marL="0">
              <a:buNone/>
            </a:pPr>
            <a:r>
              <a:rPr lang="en-US" sz="1100" b="1" spc="150" kern="0" dirty="0">
                <a:solidFill>
                  <a:srgbClr val="1A8A7D"/>
                </a:solidFill>
                <a:latin typeface="Calibri" pitchFamily="34" charset="0"/>
                <a:ea typeface="Calibri" pitchFamily="34" charset="-122"/>
                <a:cs typeface="Calibri" pitchFamily="34" charset="-120"/>
              </a:rPr>
              <a:t>THE BIG PICTURE</a:t>
            </a:r>
            <a:endParaRPr lang="en-US" sz="1100" dirty="0"/>
          </a:p>
        </p:txBody>
      </p:sp>
      <p:sp>
        <p:nvSpPr>
          <p:cNvPr id="4" name="Text 2"/>
          <p:cNvSpPr/>
          <p:nvPr/>
        </p:nvSpPr>
        <p:spPr>
          <a:xfrm>
            <a:off x="853440" y="975360"/>
            <a:ext cx="10119360" cy="670560"/>
          </a:xfrm>
          <a:prstGeom prst="rect">
            <a:avLst/>
          </a:prstGeom>
          <a:noFill/>
          <a:ln/>
        </p:spPr>
        <p:txBody>
          <a:bodyPr wrap="square" lIns="0" tIns="0" rIns="0" bIns="0" rtlCol="0" anchor="ctr"/>
          <a:lstStyle/>
          <a:p>
            <a:pPr indent="0" marL="0">
              <a:buNone/>
            </a:pPr>
            <a:r>
              <a:rPr lang="en-US" sz="2100" b="1" dirty="0">
                <a:solidFill>
                  <a:srgbClr val="0E1C42"/>
                </a:solidFill>
                <a:latin typeface="Cambria" pitchFamily="34" charset="0"/>
                <a:ea typeface="Cambria" pitchFamily="34" charset="-122"/>
                <a:cs typeface="Cambria" pitchFamily="34" charset="-120"/>
              </a:rPr>
              <a:t>Exhibit Label: The Five-Step Walk-Through</a:t>
            </a:r>
            <a:endParaRPr lang="en-US" sz="2100" dirty="0"/>
          </a:p>
        </p:txBody>
      </p:sp>
      <p:sp>
        <p:nvSpPr>
          <p:cNvPr id="5" name="Shape 3"/>
          <p:cNvSpPr/>
          <p:nvPr/>
        </p:nvSpPr>
        <p:spPr>
          <a:xfrm>
            <a:off x="853440" y="2011680"/>
            <a:ext cx="1901952" cy="2926080"/>
          </a:xfrm>
          <a:prstGeom prst="roundRect">
            <a:avLst>
              <a:gd name="adj" fmla="val 7692"/>
            </a:avLst>
          </a:prstGeom>
          <a:solidFill>
            <a:srgbClr val="EAF8FD"/>
          </a:solidFill>
          <a:ln w="12700">
            <a:solidFill>
              <a:srgbClr val="D8DDEB"/>
            </a:solidFill>
            <a:prstDash val="solid"/>
          </a:ln>
        </p:spPr>
      </p:sp>
      <p:sp>
        <p:nvSpPr>
          <p:cNvPr id="6" name="Text 4"/>
          <p:cNvSpPr/>
          <p:nvPr/>
        </p:nvSpPr>
        <p:spPr>
          <a:xfrm>
            <a:off x="853440" y="2133600"/>
            <a:ext cx="1901952" cy="487680"/>
          </a:xfrm>
          <a:prstGeom prst="rect">
            <a:avLst/>
          </a:prstGeom>
          <a:noFill/>
          <a:ln/>
        </p:spPr>
        <p:txBody>
          <a:bodyPr wrap="square" lIns="0" tIns="0" rIns="0" bIns="0" rtlCol="0" anchor="ctr"/>
          <a:lstStyle/>
          <a:p>
            <a:pPr algn="ctr" indent="0" marL="0">
              <a:buNone/>
            </a:pPr>
            <a:r>
              <a:rPr lang="en-US" sz="2000" b="1" dirty="0">
                <a:solidFill>
                  <a:srgbClr val="0E1C42"/>
                </a:solidFill>
                <a:latin typeface="Cambria" pitchFamily="34" charset="0"/>
                <a:ea typeface="Cambria" pitchFamily="34" charset="-122"/>
                <a:cs typeface="Cambria" pitchFamily="34" charset="-120"/>
              </a:rPr>
              <a:t>1</a:t>
            </a:r>
            <a:endParaRPr lang="en-US" sz="2000" dirty="0"/>
          </a:p>
        </p:txBody>
      </p:sp>
      <p:sp>
        <p:nvSpPr>
          <p:cNvPr id="7" name="Text 5"/>
          <p:cNvSpPr/>
          <p:nvPr/>
        </p:nvSpPr>
        <p:spPr>
          <a:xfrm>
            <a:off x="914400" y="2682240"/>
            <a:ext cx="1780032" cy="731520"/>
          </a:xfrm>
          <a:prstGeom prst="rect">
            <a:avLst/>
          </a:prstGeom>
          <a:noFill/>
          <a:ln/>
        </p:spPr>
        <p:txBody>
          <a:bodyPr wrap="square" lIns="0" tIns="0" rIns="0" bIns="0" rtlCol="0" anchor="t"/>
          <a:lstStyle/>
          <a:p>
            <a:pPr algn="ctr" indent="0" marL="0">
              <a:buNone/>
            </a:pPr>
            <a:r>
              <a:rPr lang="en-US" sz="1200" b="1" dirty="0">
                <a:solidFill>
                  <a:srgbClr val="0E1C42"/>
                </a:solidFill>
                <a:latin typeface="Calibri" pitchFamily="34" charset="0"/>
                <a:ea typeface="Calibri" pitchFamily="34" charset="-122"/>
                <a:cs typeface="Calibri" pitchFamily="34" charset="-120"/>
              </a:rPr>
              <a:t>Greet</a:t>
            </a:r>
            <a:endParaRPr lang="en-US" sz="1200" dirty="0"/>
          </a:p>
        </p:txBody>
      </p:sp>
      <p:sp>
        <p:nvSpPr>
          <p:cNvPr id="8" name="Text 6"/>
          <p:cNvSpPr/>
          <p:nvPr/>
        </p:nvSpPr>
        <p:spPr>
          <a:xfrm>
            <a:off x="914400" y="3474720"/>
            <a:ext cx="1780032" cy="1341120"/>
          </a:xfrm>
          <a:prstGeom prst="rect">
            <a:avLst/>
          </a:prstGeom>
          <a:noFill/>
          <a:ln/>
        </p:spPr>
        <p:txBody>
          <a:bodyPr wrap="square" lIns="0" tIns="0" rIns="0" bIns="0" rtlCol="0" anchor="t"/>
          <a:lstStyle/>
          <a:p>
            <a:pPr algn="ctr" indent="0" marL="0">
              <a:buNone/>
            </a:pPr>
            <a:r>
              <a:rPr lang="en-US" sz="1000" i="1" dirty="0">
                <a:solidFill>
                  <a:srgbClr val="0E1C42"/>
                </a:solidFill>
                <a:latin typeface="Calibri" pitchFamily="34" charset="0"/>
                <a:ea typeface="Calibri" pitchFamily="34" charset="-122"/>
                <a:cs typeface="Calibri" pitchFamily="34" charset="-120"/>
              </a:rPr>
              <a:t>Hi -- welcome to my exhibit.</a:t>
            </a:r>
            <a:endParaRPr lang="en-US" sz="1000" dirty="0"/>
          </a:p>
        </p:txBody>
      </p:sp>
      <p:sp>
        <p:nvSpPr>
          <p:cNvPr id="9" name="Shape 7"/>
          <p:cNvSpPr/>
          <p:nvPr/>
        </p:nvSpPr>
        <p:spPr>
          <a:xfrm>
            <a:off x="2877312" y="2011680"/>
            <a:ext cx="1901952" cy="2926080"/>
          </a:xfrm>
          <a:prstGeom prst="roundRect">
            <a:avLst>
              <a:gd name="adj" fmla="val 7692"/>
            </a:avLst>
          </a:prstGeom>
          <a:solidFill>
            <a:srgbClr val="FFF3DC"/>
          </a:solidFill>
          <a:ln w="12700">
            <a:solidFill>
              <a:srgbClr val="D8DDEB"/>
            </a:solidFill>
            <a:prstDash val="solid"/>
          </a:ln>
        </p:spPr>
      </p:sp>
      <p:sp>
        <p:nvSpPr>
          <p:cNvPr id="10" name="Text 8"/>
          <p:cNvSpPr/>
          <p:nvPr/>
        </p:nvSpPr>
        <p:spPr>
          <a:xfrm>
            <a:off x="2877312" y="2133600"/>
            <a:ext cx="1901952" cy="487680"/>
          </a:xfrm>
          <a:prstGeom prst="rect">
            <a:avLst/>
          </a:prstGeom>
          <a:noFill/>
          <a:ln/>
        </p:spPr>
        <p:txBody>
          <a:bodyPr wrap="square" lIns="0" tIns="0" rIns="0" bIns="0" rtlCol="0" anchor="ctr"/>
          <a:lstStyle/>
          <a:p>
            <a:pPr algn="ctr" indent="0" marL="0">
              <a:buNone/>
            </a:pPr>
            <a:r>
              <a:rPr lang="en-US" sz="2000" b="1" dirty="0">
                <a:solidFill>
                  <a:srgbClr val="0E1C42"/>
                </a:solidFill>
                <a:latin typeface="Cambria" pitchFamily="34" charset="0"/>
                <a:ea typeface="Cambria" pitchFamily="34" charset="-122"/>
                <a:cs typeface="Cambria" pitchFamily="34" charset="-120"/>
              </a:rPr>
              <a:t>2</a:t>
            </a:r>
            <a:endParaRPr lang="en-US" sz="2000" dirty="0"/>
          </a:p>
        </p:txBody>
      </p:sp>
      <p:sp>
        <p:nvSpPr>
          <p:cNvPr id="11" name="Text 9"/>
          <p:cNvSpPr/>
          <p:nvPr/>
        </p:nvSpPr>
        <p:spPr>
          <a:xfrm>
            <a:off x="2938272" y="2682240"/>
            <a:ext cx="1780032" cy="731520"/>
          </a:xfrm>
          <a:prstGeom prst="rect">
            <a:avLst/>
          </a:prstGeom>
          <a:noFill/>
          <a:ln/>
        </p:spPr>
        <p:txBody>
          <a:bodyPr wrap="square" lIns="0" tIns="0" rIns="0" bIns="0" rtlCol="0" anchor="t"/>
          <a:lstStyle/>
          <a:p>
            <a:pPr algn="ctr" indent="0" marL="0">
              <a:buNone/>
            </a:pPr>
            <a:r>
              <a:rPr lang="en-US" sz="1200" b="1" dirty="0">
                <a:solidFill>
                  <a:srgbClr val="0E1C42"/>
                </a:solidFill>
                <a:latin typeface="Calibri" pitchFamily="34" charset="0"/>
                <a:ea typeface="Calibri" pitchFamily="34" charset="-122"/>
                <a:cs typeface="Calibri" pitchFamily="34" charset="-120"/>
              </a:rPr>
              <a:t>Show the map</a:t>
            </a:r>
            <a:endParaRPr lang="en-US" sz="1200" dirty="0"/>
          </a:p>
        </p:txBody>
      </p:sp>
      <p:sp>
        <p:nvSpPr>
          <p:cNvPr id="12" name="Text 10"/>
          <p:cNvSpPr/>
          <p:nvPr/>
        </p:nvSpPr>
        <p:spPr>
          <a:xfrm>
            <a:off x="2938272" y="3474720"/>
            <a:ext cx="1780032" cy="1341120"/>
          </a:xfrm>
          <a:prstGeom prst="rect">
            <a:avLst/>
          </a:prstGeom>
          <a:noFill/>
          <a:ln/>
        </p:spPr>
        <p:txBody>
          <a:bodyPr wrap="square" lIns="0" tIns="0" rIns="0" bIns="0" rtlCol="0" anchor="t"/>
          <a:lstStyle/>
          <a:p>
            <a:pPr algn="ctr" indent="0" marL="0">
              <a:buNone/>
            </a:pPr>
            <a:r>
              <a:rPr lang="en-US" sz="1000" i="1" dirty="0">
                <a:solidFill>
                  <a:srgbClr val="0E1C42"/>
                </a:solidFill>
                <a:latin typeface="Calibri" pitchFamily="34" charset="0"/>
                <a:ea typeface="Calibri" pitchFamily="34" charset="-122"/>
                <a:cs typeface="Calibri" pitchFamily="34" charset="-120"/>
              </a:rPr>
              <a:t>Name the place. Give a real reason.</a:t>
            </a:r>
            <a:endParaRPr lang="en-US" sz="1000" dirty="0"/>
          </a:p>
        </p:txBody>
      </p:sp>
      <p:sp>
        <p:nvSpPr>
          <p:cNvPr id="13" name="Shape 11"/>
          <p:cNvSpPr/>
          <p:nvPr/>
        </p:nvSpPr>
        <p:spPr>
          <a:xfrm>
            <a:off x="4901184" y="2011680"/>
            <a:ext cx="1901952" cy="2926080"/>
          </a:xfrm>
          <a:prstGeom prst="roundRect">
            <a:avLst>
              <a:gd name="adj" fmla="val 7692"/>
            </a:avLst>
          </a:prstGeom>
          <a:solidFill>
            <a:srgbClr val="EAF8FD"/>
          </a:solidFill>
          <a:ln w="12700">
            <a:solidFill>
              <a:srgbClr val="D8DDEB"/>
            </a:solidFill>
            <a:prstDash val="solid"/>
          </a:ln>
        </p:spPr>
      </p:sp>
      <p:sp>
        <p:nvSpPr>
          <p:cNvPr id="14" name="Text 12"/>
          <p:cNvSpPr/>
          <p:nvPr/>
        </p:nvSpPr>
        <p:spPr>
          <a:xfrm>
            <a:off x="4901184" y="2133600"/>
            <a:ext cx="1901952" cy="487680"/>
          </a:xfrm>
          <a:prstGeom prst="rect">
            <a:avLst/>
          </a:prstGeom>
          <a:noFill/>
          <a:ln/>
        </p:spPr>
        <p:txBody>
          <a:bodyPr wrap="square" lIns="0" tIns="0" rIns="0" bIns="0" rtlCol="0" anchor="ctr"/>
          <a:lstStyle/>
          <a:p>
            <a:pPr algn="ctr" indent="0" marL="0">
              <a:buNone/>
            </a:pPr>
            <a:r>
              <a:rPr lang="en-US" sz="2000" b="1" dirty="0">
                <a:solidFill>
                  <a:srgbClr val="0E1C42"/>
                </a:solidFill>
                <a:latin typeface="Cambria" pitchFamily="34" charset="0"/>
                <a:ea typeface="Cambria" pitchFamily="34" charset="-122"/>
                <a:cs typeface="Cambria" pitchFamily="34" charset="-120"/>
              </a:rPr>
              <a:t>3</a:t>
            </a:r>
            <a:endParaRPr lang="en-US" sz="2000" dirty="0"/>
          </a:p>
        </p:txBody>
      </p:sp>
      <p:sp>
        <p:nvSpPr>
          <p:cNvPr id="15" name="Text 13"/>
          <p:cNvSpPr/>
          <p:nvPr/>
        </p:nvSpPr>
        <p:spPr>
          <a:xfrm>
            <a:off x="4962144" y="2682240"/>
            <a:ext cx="1780032" cy="731520"/>
          </a:xfrm>
          <a:prstGeom prst="rect">
            <a:avLst/>
          </a:prstGeom>
          <a:noFill/>
          <a:ln/>
        </p:spPr>
        <p:txBody>
          <a:bodyPr wrap="square" lIns="0" tIns="0" rIns="0" bIns="0" rtlCol="0" anchor="t"/>
          <a:lstStyle/>
          <a:p>
            <a:pPr algn="ctr" indent="0" marL="0">
              <a:buNone/>
            </a:pPr>
            <a:r>
              <a:rPr lang="en-US" sz="1200" b="1" dirty="0">
                <a:solidFill>
                  <a:srgbClr val="0E1C42"/>
                </a:solidFill>
                <a:latin typeface="Calibri" pitchFamily="34" charset="0"/>
                <a:ea typeface="Calibri" pitchFamily="34" charset="-122"/>
                <a:cs typeface="Calibri" pitchFamily="34" charset="-120"/>
              </a:rPr>
              <a:t>Explain the source</a:t>
            </a:r>
            <a:endParaRPr lang="en-US" sz="1200" dirty="0"/>
          </a:p>
        </p:txBody>
      </p:sp>
      <p:sp>
        <p:nvSpPr>
          <p:cNvPr id="16" name="Text 14"/>
          <p:cNvSpPr/>
          <p:nvPr/>
        </p:nvSpPr>
        <p:spPr>
          <a:xfrm>
            <a:off x="4962144" y="3474720"/>
            <a:ext cx="1780032" cy="1341120"/>
          </a:xfrm>
          <a:prstGeom prst="rect">
            <a:avLst/>
          </a:prstGeom>
          <a:noFill/>
          <a:ln/>
        </p:spPr>
        <p:txBody>
          <a:bodyPr wrap="square" lIns="0" tIns="0" rIns="0" bIns="0" rtlCol="0" anchor="t"/>
          <a:lstStyle/>
          <a:p>
            <a:pPr algn="ctr" indent="0" marL="0">
              <a:buNone/>
            </a:pPr>
            <a:r>
              <a:rPr lang="en-US" sz="1000" i="1" dirty="0">
                <a:solidFill>
                  <a:srgbClr val="0E1C42"/>
                </a:solidFill>
                <a:latin typeface="Calibri" pitchFamily="34" charset="0"/>
                <a:ea typeface="Calibri" pitchFamily="34" charset="-122"/>
                <a:cs typeface="Calibri" pitchFamily="34" charset="-120"/>
              </a:rPr>
              <a:t>Name the type. Say what it proves.</a:t>
            </a:r>
            <a:endParaRPr lang="en-US" sz="1000" dirty="0"/>
          </a:p>
        </p:txBody>
      </p:sp>
      <p:sp>
        <p:nvSpPr>
          <p:cNvPr id="17" name="Shape 15"/>
          <p:cNvSpPr/>
          <p:nvPr/>
        </p:nvSpPr>
        <p:spPr>
          <a:xfrm>
            <a:off x="6925056" y="2011680"/>
            <a:ext cx="1901952" cy="2926080"/>
          </a:xfrm>
          <a:prstGeom prst="roundRect">
            <a:avLst>
              <a:gd name="adj" fmla="val 7692"/>
            </a:avLst>
          </a:prstGeom>
          <a:solidFill>
            <a:srgbClr val="FFF3DC"/>
          </a:solidFill>
          <a:ln w="12700">
            <a:solidFill>
              <a:srgbClr val="D8DDEB"/>
            </a:solidFill>
            <a:prstDash val="solid"/>
          </a:ln>
        </p:spPr>
      </p:sp>
      <p:sp>
        <p:nvSpPr>
          <p:cNvPr id="18" name="Text 16"/>
          <p:cNvSpPr/>
          <p:nvPr/>
        </p:nvSpPr>
        <p:spPr>
          <a:xfrm>
            <a:off x="6925056" y="2133600"/>
            <a:ext cx="1901952" cy="487680"/>
          </a:xfrm>
          <a:prstGeom prst="rect">
            <a:avLst/>
          </a:prstGeom>
          <a:noFill/>
          <a:ln/>
        </p:spPr>
        <p:txBody>
          <a:bodyPr wrap="square" lIns="0" tIns="0" rIns="0" bIns="0" rtlCol="0" anchor="ctr"/>
          <a:lstStyle/>
          <a:p>
            <a:pPr algn="ctr" indent="0" marL="0">
              <a:buNone/>
            </a:pPr>
            <a:r>
              <a:rPr lang="en-US" sz="2000" b="1" dirty="0">
                <a:solidFill>
                  <a:srgbClr val="0E1C42"/>
                </a:solidFill>
                <a:latin typeface="Cambria" pitchFamily="34" charset="0"/>
                <a:ea typeface="Cambria" pitchFamily="34" charset="-122"/>
                <a:cs typeface="Cambria" pitchFamily="34" charset="-120"/>
              </a:rPr>
              <a:t>4</a:t>
            </a:r>
            <a:endParaRPr lang="en-US" sz="2000" dirty="0"/>
          </a:p>
        </p:txBody>
      </p:sp>
      <p:sp>
        <p:nvSpPr>
          <p:cNvPr id="19" name="Text 17"/>
          <p:cNvSpPr/>
          <p:nvPr/>
        </p:nvSpPr>
        <p:spPr>
          <a:xfrm>
            <a:off x="6986016" y="2682240"/>
            <a:ext cx="1780032" cy="731520"/>
          </a:xfrm>
          <a:prstGeom prst="rect">
            <a:avLst/>
          </a:prstGeom>
          <a:noFill/>
          <a:ln/>
        </p:spPr>
        <p:txBody>
          <a:bodyPr wrap="square" lIns="0" tIns="0" rIns="0" bIns="0" rtlCol="0" anchor="t"/>
          <a:lstStyle/>
          <a:p>
            <a:pPr algn="ctr" indent="0" marL="0">
              <a:buNone/>
            </a:pPr>
            <a:r>
              <a:rPr lang="en-US" sz="1200" b="1" dirty="0">
                <a:solidFill>
                  <a:srgbClr val="0E1C42"/>
                </a:solidFill>
                <a:latin typeface="Calibri" pitchFamily="34" charset="0"/>
                <a:ea typeface="Calibri" pitchFamily="34" charset="-122"/>
                <a:cs typeface="Calibri" pitchFamily="34" charset="-120"/>
              </a:rPr>
              <a:t>Community connection</a:t>
            </a:r>
            <a:endParaRPr lang="en-US" sz="1200" dirty="0"/>
          </a:p>
        </p:txBody>
      </p:sp>
      <p:sp>
        <p:nvSpPr>
          <p:cNvPr id="20" name="Text 18"/>
          <p:cNvSpPr/>
          <p:nvPr/>
        </p:nvSpPr>
        <p:spPr>
          <a:xfrm>
            <a:off x="6986016" y="3474720"/>
            <a:ext cx="1780032" cy="1341120"/>
          </a:xfrm>
          <a:prstGeom prst="rect">
            <a:avLst/>
          </a:prstGeom>
          <a:noFill/>
          <a:ln/>
        </p:spPr>
        <p:txBody>
          <a:bodyPr wrap="square" lIns="0" tIns="0" rIns="0" bIns="0" rtlCol="0" anchor="t"/>
          <a:lstStyle/>
          <a:p>
            <a:pPr algn="ctr" indent="0" marL="0">
              <a:buNone/>
            </a:pPr>
            <a:r>
              <a:rPr lang="en-US" sz="1000" i="1" dirty="0">
                <a:solidFill>
                  <a:srgbClr val="0E1C42"/>
                </a:solidFill>
                <a:latin typeface="Calibri" pitchFamily="34" charset="0"/>
                <a:ea typeface="Calibri" pitchFamily="34" charset="-122"/>
                <a:cs typeface="Calibri" pitchFamily="34" charset="-120"/>
              </a:rPr>
              <a:t>Say why it matters to real people.</a:t>
            </a:r>
            <a:endParaRPr lang="en-US" sz="1000" dirty="0"/>
          </a:p>
        </p:txBody>
      </p:sp>
      <p:sp>
        <p:nvSpPr>
          <p:cNvPr id="21" name="Shape 19"/>
          <p:cNvSpPr/>
          <p:nvPr/>
        </p:nvSpPr>
        <p:spPr>
          <a:xfrm>
            <a:off x="8948928" y="2011680"/>
            <a:ext cx="1901952" cy="2926080"/>
          </a:xfrm>
          <a:prstGeom prst="roundRect">
            <a:avLst>
              <a:gd name="adj" fmla="val 7692"/>
            </a:avLst>
          </a:prstGeom>
          <a:solidFill>
            <a:srgbClr val="EAF8FD"/>
          </a:solidFill>
          <a:ln w="12700">
            <a:solidFill>
              <a:srgbClr val="D8DDEB"/>
            </a:solidFill>
            <a:prstDash val="solid"/>
          </a:ln>
        </p:spPr>
      </p:sp>
      <p:sp>
        <p:nvSpPr>
          <p:cNvPr id="22" name="Text 20"/>
          <p:cNvSpPr/>
          <p:nvPr/>
        </p:nvSpPr>
        <p:spPr>
          <a:xfrm>
            <a:off x="8948928" y="2133600"/>
            <a:ext cx="1901952" cy="487680"/>
          </a:xfrm>
          <a:prstGeom prst="rect">
            <a:avLst/>
          </a:prstGeom>
          <a:noFill/>
          <a:ln/>
        </p:spPr>
        <p:txBody>
          <a:bodyPr wrap="square" lIns="0" tIns="0" rIns="0" bIns="0" rtlCol="0" anchor="ctr"/>
          <a:lstStyle/>
          <a:p>
            <a:pPr algn="ctr" indent="0" marL="0">
              <a:buNone/>
            </a:pPr>
            <a:r>
              <a:rPr lang="en-US" sz="2000" b="1" dirty="0">
                <a:solidFill>
                  <a:srgbClr val="0E1C42"/>
                </a:solidFill>
                <a:latin typeface="Cambria" pitchFamily="34" charset="0"/>
                <a:ea typeface="Cambria" pitchFamily="34" charset="-122"/>
                <a:cs typeface="Cambria" pitchFamily="34" charset="-120"/>
              </a:rPr>
              <a:t>5</a:t>
            </a:r>
            <a:endParaRPr lang="en-US" sz="2000" dirty="0"/>
          </a:p>
        </p:txBody>
      </p:sp>
      <p:sp>
        <p:nvSpPr>
          <p:cNvPr id="23" name="Text 21"/>
          <p:cNvSpPr/>
          <p:nvPr/>
        </p:nvSpPr>
        <p:spPr>
          <a:xfrm>
            <a:off x="9009888" y="2682240"/>
            <a:ext cx="1780032" cy="731520"/>
          </a:xfrm>
          <a:prstGeom prst="rect">
            <a:avLst/>
          </a:prstGeom>
          <a:noFill/>
          <a:ln/>
        </p:spPr>
        <p:txBody>
          <a:bodyPr wrap="square" lIns="0" tIns="0" rIns="0" bIns="0" rtlCol="0" anchor="t"/>
          <a:lstStyle/>
          <a:p>
            <a:pPr algn="ctr" indent="0" marL="0">
              <a:buNone/>
            </a:pPr>
            <a:r>
              <a:rPr lang="en-US" sz="1200" b="1" dirty="0">
                <a:solidFill>
                  <a:srgbClr val="0E1C42"/>
                </a:solidFill>
                <a:latin typeface="Calibri" pitchFamily="34" charset="0"/>
                <a:ea typeface="Calibri" pitchFamily="34" charset="-122"/>
                <a:cs typeface="Calibri" pitchFamily="34" charset="-120"/>
              </a:rPr>
              <a:t>Virtue + question</a:t>
            </a:r>
            <a:endParaRPr lang="en-US" sz="1200" dirty="0"/>
          </a:p>
        </p:txBody>
      </p:sp>
      <p:sp>
        <p:nvSpPr>
          <p:cNvPr id="24" name="Text 22"/>
          <p:cNvSpPr/>
          <p:nvPr/>
        </p:nvSpPr>
        <p:spPr>
          <a:xfrm>
            <a:off x="9009888" y="3474720"/>
            <a:ext cx="1780032" cy="1341120"/>
          </a:xfrm>
          <a:prstGeom prst="rect">
            <a:avLst/>
          </a:prstGeom>
          <a:noFill/>
          <a:ln/>
        </p:spPr>
        <p:txBody>
          <a:bodyPr wrap="square" lIns="0" tIns="0" rIns="0" bIns="0" rtlCol="0" anchor="t"/>
          <a:lstStyle/>
          <a:p>
            <a:pPr algn="ctr" indent="0" marL="0">
              <a:buNone/>
            </a:pPr>
            <a:r>
              <a:rPr lang="en-US" sz="1000" i="1" dirty="0">
                <a:solidFill>
                  <a:srgbClr val="0E1C42"/>
                </a:solidFill>
                <a:latin typeface="Calibri" pitchFamily="34" charset="0"/>
                <a:ea typeface="Calibri" pitchFamily="34" charset="-122"/>
                <a:cs typeface="Calibri" pitchFamily="34" charset="-120"/>
              </a:rPr>
              <a:t>Name the virtue. Invite a question.</a:t>
            </a:r>
            <a:endParaRPr lang="en-US" sz="1000" dirty="0"/>
          </a:p>
        </p:txBody>
      </p:sp>
      <p:sp>
        <p:nvSpPr>
          <p:cNvPr id="25" name="Shape 23"/>
          <p:cNvSpPr/>
          <p:nvPr/>
        </p:nvSpPr>
        <p:spPr>
          <a:xfrm>
            <a:off x="853440" y="5242560"/>
            <a:ext cx="10119360" cy="1097280"/>
          </a:xfrm>
          <a:prstGeom prst="roundRect">
            <a:avLst>
              <a:gd name="adj" fmla="val 13333"/>
            </a:avLst>
          </a:prstGeom>
          <a:solidFill>
            <a:srgbClr val="E3F8ED"/>
          </a:solidFill>
          <a:ln w="12700">
            <a:solidFill>
              <a:srgbClr val="D8DDEB"/>
            </a:solidFill>
            <a:prstDash val="solid"/>
          </a:ln>
        </p:spPr>
      </p:sp>
      <p:sp>
        <p:nvSpPr>
          <p:cNvPr id="26" name="Text 24"/>
          <p:cNvSpPr/>
          <p:nvPr/>
        </p:nvSpPr>
        <p:spPr>
          <a:xfrm>
            <a:off x="1097280" y="5425440"/>
            <a:ext cx="9631680" cy="731520"/>
          </a:xfrm>
          <a:prstGeom prst="rect">
            <a:avLst/>
          </a:prstGeom>
          <a:noFill/>
          <a:ln/>
        </p:spPr>
        <p:txBody>
          <a:bodyPr wrap="square" lIns="0" tIns="0" rIns="0" bIns="0" rtlCol="0" anchor="ctr"/>
          <a:lstStyle/>
          <a:p>
            <a:pPr indent="0" marL="0">
              <a:buNone/>
            </a:pPr>
            <a:r>
              <a:rPr lang="en-US" sz="1400" b="1" i="1" dirty="0">
                <a:solidFill>
                  <a:srgbClr val="34B76F"/>
                </a:solidFill>
                <a:latin typeface="Cambria" pitchFamily="34" charset="0"/>
                <a:ea typeface="Cambria" pitchFamily="34" charset="-122"/>
                <a:cs typeface="Cambria" pitchFamily="34" charset="-120"/>
              </a:rPr>
              <a:t>Honesty makes every step stronger — say what you know AND what you're still figuring out.</a:t>
            </a:r>
            <a:endParaRPr lang="en-US" sz="14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FFF8F0"/>
          </a:solidFill>
          <a:ln/>
        </p:spPr>
      </p:sp>
      <p:sp>
        <p:nvSpPr>
          <p:cNvPr id="3" name="Text 1"/>
          <p:cNvSpPr/>
          <p:nvPr/>
        </p:nvSpPr>
        <p:spPr>
          <a:xfrm>
            <a:off x="853440" y="426720"/>
            <a:ext cx="8534400" cy="365760"/>
          </a:xfrm>
          <a:prstGeom prst="rect">
            <a:avLst/>
          </a:prstGeom>
          <a:noFill/>
          <a:ln/>
        </p:spPr>
        <p:txBody>
          <a:bodyPr wrap="square" lIns="0" tIns="0" rIns="0" bIns="0" rtlCol="0" anchor="ctr"/>
          <a:lstStyle/>
          <a:p>
            <a:pPr indent="0" marL="0">
              <a:buNone/>
            </a:pPr>
            <a:r>
              <a:rPr lang="en-US" sz="1100" b="1" spc="150" kern="0" dirty="0">
                <a:solidFill>
                  <a:srgbClr val="1A8A7D"/>
                </a:solidFill>
                <a:latin typeface="Calibri" pitchFamily="34" charset="0"/>
                <a:ea typeface="Calibri" pitchFamily="34" charset="-122"/>
                <a:cs typeface="Calibri" pitchFamily="34" charset="-120"/>
              </a:rPr>
              <a:t>GUIDED PRACTICE 1 OF 5  ·  TEACHER MODELS</a:t>
            </a:r>
            <a:endParaRPr lang="en-US" sz="1100" dirty="0"/>
          </a:p>
        </p:txBody>
      </p:sp>
      <p:sp>
        <p:nvSpPr>
          <p:cNvPr id="4" name="Text 2"/>
          <p:cNvSpPr/>
          <p:nvPr/>
        </p:nvSpPr>
        <p:spPr>
          <a:xfrm>
            <a:off x="853440" y="853440"/>
            <a:ext cx="10119360" cy="670560"/>
          </a:xfrm>
          <a:prstGeom prst="rect">
            <a:avLst/>
          </a:prstGeom>
          <a:noFill/>
          <a:ln/>
        </p:spPr>
        <p:txBody>
          <a:bodyPr wrap="square" lIns="0" tIns="0" rIns="0" bIns="0" rtlCol="0" anchor="ctr"/>
          <a:lstStyle/>
          <a:p>
            <a:pPr indent="0" marL="0">
              <a:buNone/>
            </a:pPr>
            <a:r>
              <a:rPr lang="en-US" sz="2200" b="1" dirty="0">
                <a:solidFill>
                  <a:srgbClr val="0E1C42"/>
                </a:solidFill>
                <a:latin typeface="Cambria" pitchFamily="34" charset="0"/>
                <a:ea typeface="Cambria" pitchFamily="34" charset="-122"/>
                <a:cs typeface="Cambria" pitchFamily="34" charset="-120"/>
              </a:rPr>
              <a:t>Watch Me Walk Through an Exhibit</a:t>
            </a:r>
            <a:endParaRPr lang="en-US" sz="2200" dirty="0"/>
          </a:p>
        </p:txBody>
      </p:sp>
      <p:sp>
        <p:nvSpPr>
          <p:cNvPr id="5" name="Shape 3"/>
          <p:cNvSpPr/>
          <p:nvPr/>
        </p:nvSpPr>
        <p:spPr>
          <a:xfrm>
            <a:off x="853440" y="1706880"/>
            <a:ext cx="10119360" cy="4267200"/>
          </a:xfrm>
          <a:prstGeom prst="roundRect">
            <a:avLst>
              <a:gd name="adj" fmla="val 3429"/>
            </a:avLst>
          </a:prstGeom>
          <a:solidFill>
            <a:srgbClr val="FFFFFF"/>
          </a:solidFill>
          <a:ln w="12700">
            <a:solidFill>
              <a:srgbClr val="D8DDEB"/>
            </a:solidFill>
            <a:prstDash val="solid"/>
          </a:ln>
        </p:spPr>
      </p:sp>
      <p:sp>
        <p:nvSpPr>
          <p:cNvPr id="6" name="Text 4"/>
          <p:cNvSpPr/>
          <p:nvPr/>
        </p:nvSpPr>
        <p:spPr>
          <a:xfrm>
            <a:off x="1158240" y="1889760"/>
            <a:ext cx="9509760" cy="3901440"/>
          </a:xfrm>
          <a:prstGeom prst="rect">
            <a:avLst/>
          </a:prstGeom>
          <a:noFill/>
          <a:ln/>
        </p:spPr>
        <p:txBody>
          <a:bodyPr wrap="square" lIns="0" tIns="0" rIns="0" bIns="0" rtlCol="0" anchor="t"/>
          <a:lstStyle/>
          <a:p>
            <a:pPr indent="0" marL="0">
              <a:buNone/>
            </a:pPr>
            <a:r>
              <a:rPr lang="en-US" sz="1200" b="1" dirty="0">
                <a:solidFill>
                  <a:srgbClr val="1A8A7D"/>
                </a:solidFill>
                <a:latin typeface="Cambria" pitchFamily="34" charset="0"/>
                <a:ea typeface="Cambria" pitchFamily="34" charset="-122"/>
                <a:cs typeface="Cambria" pitchFamily="34" charset="-120"/>
              </a:rPr>
              <a:t>1. Greet: </a:t>
            </a:r>
            <a:pPr indent="0" marL="0">
              <a:spcAft>
                <a:spcPts val="500"/>
              </a:spcAft>
              <a:buNone/>
            </a:pPr>
            <a:r>
              <a:rPr lang="en-US" sz="1200" i="1" dirty="0">
                <a:solidFill>
                  <a:srgbClr val="0E1C42"/>
                </a:solidFill>
                <a:latin typeface="Cambria" pitchFamily="34" charset="0"/>
                <a:ea typeface="Cambria" pitchFamily="34" charset="-122"/>
                <a:cs typeface="Cambria" pitchFamily="34" charset="-120"/>
              </a:rPr>
              <a:t>“Hi -- welcome to my exhibit.”
</a:t>
            </a:r>
            <a:endParaRPr lang="en-US" sz="1200" dirty="0"/>
          </a:p>
          <a:p>
            <a:pPr indent="0" marL="0">
              <a:buNone/>
            </a:pPr>
            <a:r>
              <a:rPr lang="en-US" sz="1200" b="1" dirty="0">
                <a:solidFill>
                  <a:srgbClr val="1A8A7D"/>
                </a:solidFill>
                <a:latin typeface="Cambria" pitchFamily="34" charset="0"/>
                <a:ea typeface="Cambria" pitchFamily="34" charset="-122"/>
                <a:cs typeface="Cambria" pitchFamily="34" charset="-120"/>
              </a:rPr>
              <a:t>2. Map: </a:t>
            </a:r>
            <a:pPr indent="0" marL="0">
              <a:spcAft>
                <a:spcPts val="500"/>
              </a:spcAft>
              <a:buNone/>
            </a:pPr>
            <a:r>
              <a:rPr lang="en-US" sz="1200" i="1" dirty="0">
                <a:solidFill>
                  <a:srgbClr val="0E1C42"/>
                </a:solidFill>
                <a:latin typeface="Cambria" pitchFamily="34" charset="0"/>
                <a:ea typeface="Cambria" pitchFamily="34" charset="-122"/>
                <a:cs typeface="Cambria" pitchFamily="34" charset="-120"/>
              </a:rPr>
              <a:t>“This map shows the Southeast Region of the U.S. I picked it because that's where I live, and it's warmer than most other parts of the country.”
</a:t>
            </a:r>
            <a:endParaRPr lang="en-US" sz="1200" dirty="0"/>
          </a:p>
          <a:p>
            <a:pPr indent="0" marL="0">
              <a:buNone/>
            </a:pPr>
            <a:r>
              <a:rPr lang="en-US" sz="1200" b="1" dirty="0">
                <a:solidFill>
                  <a:srgbClr val="1A8A7D"/>
                </a:solidFill>
                <a:latin typeface="Cambria" pitchFamily="34" charset="0"/>
                <a:ea typeface="Cambria" pitchFamily="34" charset="-122"/>
                <a:cs typeface="Cambria" pitchFamily="34" charset="-120"/>
              </a:rPr>
              <a:t>3. Source: </a:t>
            </a:r>
            <a:pPr indent="0" marL="0">
              <a:spcAft>
                <a:spcPts val="500"/>
              </a:spcAft>
              <a:buNone/>
            </a:pPr>
            <a:r>
              <a:rPr lang="en-US" sz="1200" i="1" dirty="0">
                <a:solidFill>
                  <a:srgbClr val="0E1C42"/>
                </a:solidFill>
                <a:latin typeface="Cambria" pitchFamily="34" charset="0"/>
                <a:ea typeface="Cambria" pitchFamily="34" charset="-122"/>
                <a:cs typeface="Cambria" pitchFamily="34" charset="-120"/>
              </a:rPr>
              <a:t>“This is a photo of a real orange grove. It proves that warm weather in the Southeast really does help farmers grow citrus.”
</a:t>
            </a:r>
            <a:endParaRPr lang="en-US" sz="1200" dirty="0"/>
          </a:p>
          <a:p>
            <a:pPr indent="0" marL="0">
              <a:buNone/>
            </a:pPr>
            <a:r>
              <a:rPr lang="en-US" sz="1200" b="1" dirty="0">
                <a:solidFill>
                  <a:srgbClr val="1A8A7D"/>
                </a:solidFill>
                <a:latin typeface="Cambria" pitchFamily="34" charset="0"/>
                <a:ea typeface="Cambria" pitchFamily="34" charset="-122"/>
                <a:cs typeface="Cambria" pitchFamily="34" charset="-120"/>
              </a:rPr>
              <a:t>4. Community: </a:t>
            </a:r>
            <a:pPr indent="0" marL="0">
              <a:spcAft>
                <a:spcPts val="500"/>
              </a:spcAft>
              <a:buNone/>
            </a:pPr>
            <a:r>
              <a:rPr lang="en-US" sz="1200" i="1" dirty="0">
                <a:solidFill>
                  <a:srgbClr val="0E1C42"/>
                </a:solidFill>
                <a:latin typeface="Cambria" pitchFamily="34" charset="0"/>
                <a:ea typeface="Cambria" pitchFamily="34" charset="-122"/>
                <a:cs typeface="Cambria" pitchFamily="34" charset="-120"/>
              </a:rPr>
              <a:t>“In this community, farmers grow oranges that get shipped to the rest of the country, so people far away can eat fruit from our region.”
</a:t>
            </a:r>
            <a:endParaRPr lang="en-US" sz="1200" dirty="0"/>
          </a:p>
          <a:p>
            <a:pPr indent="0" marL="0">
              <a:buNone/>
            </a:pPr>
            <a:r>
              <a:rPr lang="en-US" sz="1200" b="1" dirty="0">
                <a:solidFill>
                  <a:srgbClr val="1A8A7D"/>
                </a:solidFill>
                <a:latin typeface="Cambria" pitchFamily="34" charset="0"/>
                <a:ea typeface="Cambria" pitchFamily="34" charset="-122"/>
                <a:cs typeface="Cambria" pitchFamily="34" charset="-120"/>
              </a:rPr>
              <a:t>5. Virtue: </a:t>
            </a:r>
            <a:pPr indent="0" marL="0">
              <a:buNone/>
            </a:pPr>
            <a:r>
              <a:rPr lang="en-US" sz="1200" i="1" dirty="0">
                <a:solidFill>
                  <a:srgbClr val="0E1C42"/>
                </a:solidFill>
                <a:latin typeface="Cambria" pitchFamily="34" charset="0"/>
                <a:ea typeface="Cambria" pitchFamily="34" charset="-122"/>
                <a:cs typeface="Cambria" pitchFamily="34" charset="-120"/>
              </a:rPr>
              <a:t>“I picked the virtue of service because farmers feed people they may never meet. Do you have any questions?”</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F0F2F8"/>
          </a:solidFill>
          <a:ln/>
        </p:spPr>
      </p:sp>
      <p:sp>
        <p:nvSpPr>
          <p:cNvPr id="3" name="Text 1"/>
          <p:cNvSpPr/>
          <p:nvPr/>
        </p:nvSpPr>
        <p:spPr>
          <a:xfrm>
            <a:off x="853440" y="426720"/>
            <a:ext cx="8534400" cy="365760"/>
          </a:xfrm>
          <a:prstGeom prst="rect">
            <a:avLst/>
          </a:prstGeom>
          <a:noFill/>
          <a:ln/>
        </p:spPr>
        <p:txBody>
          <a:bodyPr wrap="square" lIns="0" tIns="0" rIns="0" bIns="0" rtlCol="0" anchor="ctr"/>
          <a:lstStyle/>
          <a:p>
            <a:pPr indent="0" marL="0">
              <a:buNone/>
            </a:pPr>
            <a:r>
              <a:rPr lang="en-US" sz="1100" b="1" spc="150" kern="0" dirty="0">
                <a:solidFill>
                  <a:srgbClr val="8B6FC0"/>
                </a:solidFill>
                <a:latin typeface="Calibri" pitchFamily="34" charset="0"/>
                <a:ea typeface="Calibri" pitchFamily="34" charset="-122"/>
                <a:cs typeface="Calibri" pitchFamily="34" charset="-120"/>
              </a:rPr>
              <a:t>GUIDED PRACTICE 2 OF 5  ·  WE TRY TOGETHER</a:t>
            </a:r>
            <a:endParaRPr lang="en-US" sz="1100" dirty="0"/>
          </a:p>
        </p:txBody>
      </p:sp>
      <p:sp>
        <p:nvSpPr>
          <p:cNvPr id="4" name="Text 2"/>
          <p:cNvSpPr/>
          <p:nvPr/>
        </p:nvSpPr>
        <p:spPr>
          <a:xfrm>
            <a:off x="853440" y="853440"/>
            <a:ext cx="10119360" cy="670560"/>
          </a:xfrm>
          <a:prstGeom prst="rect">
            <a:avLst/>
          </a:prstGeom>
          <a:noFill/>
          <a:ln/>
        </p:spPr>
        <p:txBody>
          <a:bodyPr wrap="square" lIns="0" tIns="0" rIns="0" bIns="0" rtlCol="0" anchor="ctr"/>
          <a:lstStyle/>
          <a:p>
            <a:pPr indent="0" marL="0">
              <a:buNone/>
            </a:pPr>
            <a:r>
              <a:rPr lang="en-US" sz="2200" b="1" dirty="0">
                <a:solidFill>
                  <a:srgbClr val="0E1C42"/>
                </a:solidFill>
                <a:latin typeface="Cambria" pitchFamily="34" charset="0"/>
                <a:ea typeface="Cambria" pitchFamily="34" charset="-122"/>
                <a:cs typeface="Cambria" pitchFamily="34" charset="-120"/>
              </a:rPr>
              <a:t>Build a Walk-Through Together</a:t>
            </a:r>
            <a:endParaRPr lang="en-US" sz="2200" dirty="0"/>
          </a:p>
        </p:txBody>
      </p:sp>
      <p:sp>
        <p:nvSpPr>
          <p:cNvPr id="5" name="Shape 3"/>
          <p:cNvSpPr/>
          <p:nvPr/>
        </p:nvSpPr>
        <p:spPr>
          <a:xfrm>
            <a:off x="853440" y="1706880"/>
            <a:ext cx="5364480" cy="4389120"/>
          </a:xfrm>
          <a:prstGeom prst="roundRect">
            <a:avLst>
              <a:gd name="adj" fmla="val 4167"/>
            </a:avLst>
          </a:prstGeom>
          <a:solidFill>
            <a:srgbClr val="1A2D5A"/>
          </a:solidFill>
          <a:ln/>
          <a:effectLst>
            <a:outerShdw sx="100000" sy="100000" kx="0" ky="0" algn="bl" rotWithShape="0" blurRad="101600" dist="38100" dir="8100000">
              <a:srgbClr val="000000">
                <a:alpha val="20000"/>
              </a:srgbClr>
            </a:outerShdw>
          </a:effectLst>
        </p:spPr>
      </p:sp>
      <p:sp>
        <p:nvSpPr>
          <p:cNvPr id="6" name="Text 4"/>
          <p:cNvSpPr/>
          <p:nvPr/>
        </p:nvSpPr>
        <p:spPr>
          <a:xfrm>
            <a:off x="1097280" y="1828800"/>
            <a:ext cx="4876800" cy="341376"/>
          </a:xfrm>
          <a:prstGeom prst="rect">
            <a:avLst/>
          </a:prstGeom>
          <a:noFill/>
          <a:ln/>
        </p:spPr>
        <p:txBody>
          <a:bodyPr wrap="square" lIns="0" tIns="0" rIns="0" bIns="0" rtlCol="0" anchor="ctr"/>
          <a:lstStyle/>
          <a:p>
            <a:pPr indent="0" marL="0">
              <a:buNone/>
            </a:pPr>
            <a:r>
              <a:rPr lang="en-US" sz="900" b="1" spc="150" kern="0" dirty="0">
                <a:solidFill>
                  <a:srgbClr val="55C8E8"/>
                </a:solidFill>
                <a:latin typeface="Calibri" pitchFamily="34" charset="0"/>
                <a:ea typeface="Calibri" pitchFamily="34" charset="-122"/>
                <a:cs typeface="Calibri" pitchFamily="34" charset="-120"/>
              </a:rPr>
              <a:t>SOCRATIC QUESTIONS</a:t>
            </a:r>
            <a:endParaRPr lang="en-US" sz="900" dirty="0"/>
          </a:p>
        </p:txBody>
      </p:sp>
      <p:sp>
        <p:nvSpPr>
          <p:cNvPr id="7" name="Text 5"/>
          <p:cNvSpPr/>
          <p:nvPr/>
        </p:nvSpPr>
        <p:spPr>
          <a:xfrm>
            <a:off x="1097280" y="2170176"/>
            <a:ext cx="4876800" cy="3803904"/>
          </a:xfrm>
          <a:prstGeom prst="rect">
            <a:avLst/>
          </a:prstGeom>
          <a:noFill/>
          <a:ln/>
        </p:spPr>
        <p:txBody>
          <a:bodyPr wrap="square" lIns="0" tIns="0" rIns="0" bIns="0" rtlCol="0" anchor="t"/>
          <a:lstStyle/>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Whole class: what should our example guide say for Step 1, the greeting?</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What place could our example map show, and why pick it?</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What would our example source prove?</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What virtue could we choose, and what question would invite a visitor in?</a:t>
            </a:r>
            <a:endParaRPr lang="en-US" sz="1100" dirty="0"/>
          </a:p>
        </p:txBody>
      </p:sp>
      <p:sp>
        <p:nvSpPr>
          <p:cNvPr id="8" name="Shape 6"/>
          <p:cNvSpPr/>
          <p:nvPr/>
        </p:nvSpPr>
        <p:spPr>
          <a:xfrm>
            <a:off x="6522720" y="1706880"/>
            <a:ext cx="4450080" cy="4389120"/>
          </a:xfrm>
          <a:prstGeom prst="roundRect">
            <a:avLst>
              <a:gd name="adj" fmla="val 3333"/>
            </a:avLst>
          </a:prstGeom>
          <a:solidFill>
            <a:srgbClr val="FFF3DC"/>
          </a:solidFill>
          <a:ln w="19050">
            <a:solidFill>
              <a:srgbClr val="F5E6C8"/>
            </a:solidFill>
            <a:prstDash val="solid"/>
          </a:ln>
        </p:spPr>
      </p:sp>
      <p:sp>
        <p:nvSpPr>
          <p:cNvPr id="9" name="Text 7"/>
          <p:cNvSpPr/>
          <p:nvPr/>
        </p:nvSpPr>
        <p:spPr>
          <a:xfrm>
            <a:off x="6705600" y="1780032"/>
            <a:ext cx="4084320" cy="268224"/>
          </a:xfrm>
          <a:prstGeom prst="rect">
            <a:avLst/>
          </a:prstGeom>
          <a:noFill/>
          <a:ln/>
        </p:spPr>
        <p:txBody>
          <a:bodyPr wrap="square" lIns="0" tIns="0" rIns="0" bIns="0" rtlCol="0" anchor="ctr"/>
          <a:lstStyle/>
          <a:p>
            <a:pPr indent="0" marL="0">
              <a:buNone/>
            </a:pPr>
            <a:r>
              <a:rPr lang="en-US" sz="900" b="1" spc="150" kern="0" dirty="0">
                <a:solidFill>
                  <a:srgbClr val="D4943A"/>
                </a:solidFill>
                <a:latin typeface="Calibri" pitchFamily="34" charset="0"/>
                <a:ea typeface="Calibri" pitchFamily="34" charset="-122"/>
                <a:cs typeface="Calibri" pitchFamily="34" charset="-120"/>
              </a:rPr>
              <a:t>CHAT FRAME</a:t>
            </a:r>
            <a:endParaRPr lang="en-US" sz="900" dirty="0"/>
          </a:p>
        </p:txBody>
      </p:sp>
      <p:sp>
        <p:nvSpPr>
          <p:cNvPr id="10" name="Text 8"/>
          <p:cNvSpPr/>
          <p:nvPr/>
        </p:nvSpPr>
        <p:spPr>
          <a:xfrm>
            <a:off x="6705600" y="2048256"/>
            <a:ext cx="4084320" cy="3962400"/>
          </a:xfrm>
          <a:prstGeom prst="rect">
            <a:avLst/>
          </a:prstGeom>
          <a:noFill/>
          <a:ln/>
        </p:spPr>
        <p:txBody>
          <a:bodyPr wrap="square" lIns="0" tIns="0" rIns="0" bIns="0" rtlCol="0" anchor="t"/>
          <a:lstStyle/>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"For step 2, I'd say..."</a:t>
            </a:r>
            <a:endParaRPr lang="en-US" sz="1200" dirty="0"/>
          </a:p>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"For step 3, our source proves..."</a:t>
            </a:r>
            <a:endParaRPr lang="en-US" sz="1200" dirty="0"/>
          </a:p>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"I'd end with the virtue of... because..."</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EAF8FD"/>
          </a:solidFill>
          <a:ln/>
        </p:spPr>
      </p:sp>
      <p:sp>
        <p:nvSpPr>
          <p:cNvPr id="3" name="Text 1"/>
          <p:cNvSpPr/>
          <p:nvPr/>
        </p:nvSpPr>
        <p:spPr>
          <a:xfrm>
            <a:off x="853440" y="426720"/>
            <a:ext cx="8534400" cy="365760"/>
          </a:xfrm>
          <a:prstGeom prst="rect">
            <a:avLst/>
          </a:prstGeom>
          <a:noFill/>
          <a:ln/>
        </p:spPr>
        <p:txBody>
          <a:bodyPr wrap="square" lIns="0" tIns="0" rIns="0" bIns="0" rtlCol="0" anchor="ctr"/>
          <a:lstStyle/>
          <a:p>
            <a:pPr indent="0" marL="0">
              <a:buNone/>
            </a:pPr>
            <a:r>
              <a:rPr lang="en-US" sz="1100" b="1" spc="150" kern="0" dirty="0">
                <a:solidFill>
                  <a:srgbClr val="55C8E8"/>
                </a:solidFill>
                <a:latin typeface="Calibri" pitchFamily="34" charset="0"/>
                <a:ea typeface="Calibri" pitchFamily="34" charset="-122"/>
                <a:cs typeface="Calibri" pitchFamily="34" charset="-120"/>
              </a:rPr>
              <a:t>GUIDED PRACTICE 3 OF 5  ·  YOUR TURN</a:t>
            </a:r>
            <a:endParaRPr lang="en-US" sz="1100" dirty="0"/>
          </a:p>
        </p:txBody>
      </p:sp>
      <p:sp>
        <p:nvSpPr>
          <p:cNvPr id="4" name="Text 2"/>
          <p:cNvSpPr/>
          <p:nvPr/>
        </p:nvSpPr>
        <p:spPr>
          <a:xfrm>
            <a:off x="853440" y="853440"/>
            <a:ext cx="10119360" cy="670560"/>
          </a:xfrm>
          <a:prstGeom prst="rect">
            <a:avLst/>
          </a:prstGeom>
          <a:noFill/>
          <a:ln/>
        </p:spPr>
        <p:txBody>
          <a:bodyPr wrap="square" lIns="0" tIns="0" rIns="0" bIns="0" rtlCol="0" anchor="ctr"/>
          <a:lstStyle/>
          <a:p>
            <a:pPr indent="0" marL="0">
              <a:buNone/>
            </a:pPr>
            <a:r>
              <a:rPr lang="en-US" sz="2100" b="1" dirty="0">
                <a:solidFill>
                  <a:srgbClr val="0E1C42"/>
                </a:solidFill>
                <a:latin typeface="Cambria" pitchFamily="34" charset="0"/>
                <a:ea typeface="Cambria" pitchFamily="34" charset="-122"/>
                <a:cs typeface="Cambria" pitchFamily="34" charset="-120"/>
              </a:rPr>
              <a:t>Practice Your Own Walk-Through Out Loud</a:t>
            </a:r>
            <a:endParaRPr lang="en-US" sz="2100" dirty="0"/>
          </a:p>
        </p:txBody>
      </p:sp>
      <p:sp>
        <p:nvSpPr>
          <p:cNvPr id="5" name="Shape 3"/>
          <p:cNvSpPr/>
          <p:nvPr/>
        </p:nvSpPr>
        <p:spPr>
          <a:xfrm>
            <a:off x="853440" y="1706880"/>
            <a:ext cx="10119360" cy="4267200"/>
          </a:xfrm>
          <a:prstGeom prst="roundRect">
            <a:avLst>
              <a:gd name="adj" fmla="val 3429"/>
            </a:avLst>
          </a:prstGeom>
          <a:solidFill>
            <a:srgbClr val="FFFFFF"/>
          </a:solidFill>
          <a:ln w="12700">
            <a:solidFill>
              <a:srgbClr val="D8DDEB"/>
            </a:solidFill>
            <a:prstDash val="solid"/>
          </a:ln>
        </p:spPr>
      </p:sp>
      <p:sp>
        <p:nvSpPr>
          <p:cNvPr id="6" name="Text 4"/>
          <p:cNvSpPr/>
          <p:nvPr/>
        </p:nvSpPr>
        <p:spPr>
          <a:xfrm>
            <a:off x="1158240" y="1950720"/>
            <a:ext cx="9509760" cy="3901440"/>
          </a:xfrm>
          <a:prstGeom prst="rect">
            <a:avLst/>
          </a:prstGeom>
          <a:noFill/>
          <a:ln/>
        </p:spPr>
        <p:txBody>
          <a:bodyPr wrap="square" lIns="0" tIns="0" rIns="0" bIns="0" rtlCol="0" anchor="t"/>
          <a:lstStyle/>
          <a:p>
            <a:pPr marL="342900" indent="-342900">
              <a:spcAft>
                <a:spcPts val="1000"/>
              </a:spcAft>
              <a:buSzPct val="100000"/>
              <a:buChar char="☐"/>
            </a:pPr>
            <a:r>
              <a:rPr lang="en-US" sz="1400" dirty="0">
                <a:solidFill>
                  <a:srgbClr val="0E1C42"/>
                </a:solidFill>
                <a:latin typeface="Calibri" pitchFamily="34" charset="0"/>
                <a:ea typeface="Calibri" pitchFamily="34" charset="-122"/>
                <a:cs typeface="Calibri" pitchFamily="34" charset="-120"/>
              </a:rPr>
              <a:t>Greet the visitor in one simple sentence.</a:t>
            </a:r>
            <a:endParaRPr lang="en-US" sz="1400" dirty="0"/>
          </a:p>
          <a:p>
            <a:pPr marL="342900" indent="-342900">
              <a:spcAft>
                <a:spcPts val="1000"/>
              </a:spcAft>
              <a:buSzPct val="100000"/>
              <a:buChar char="☐"/>
            </a:pPr>
            <a:r>
              <a:rPr lang="en-US" sz="1400" dirty="0">
                <a:solidFill>
                  <a:srgbClr val="0E1C42"/>
                </a:solidFill>
                <a:latin typeface="Calibri" pitchFamily="34" charset="0"/>
                <a:ea typeface="Calibri" pitchFamily="34" charset="-122"/>
                <a:cs typeface="Calibri" pitchFamily="34" charset="-120"/>
              </a:rPr>
              <a:t>Show your map: name the place and your real reason for picking it.</a:t>
            </a:r>
            <a:endParaRPr lang="en-US" sz="1400" dirty="0"/>
          </a:p>
          <a:p>
            <a:pPr marL="342900" indent="-342900">
              <a:spcAft>
                <a:spcPts val="1000"/>
              </a:spcAft>
              <a:buSzPct val="100000"/>
              <a:buChar char="☐"/>
            </a:pPr>
            <a:r>
              <a:rPr lang="en-US" sz="1400" dirty="0">
                <a:solidFill>
                  <a:srgbClr val="0E1C42"/>
                </a:solidFill>
                <a:latin typeface="Calibri" pitchFamily="34" charset="0"/>
                <a:ea typeface="Calibri" pitchFamily="34" charset="-122"/>
                <a:cs typeface="Calibri" pitchFamily="34" charset="-120"/>
              </a:rPr>
              <a:t>Explain your source: name the type and what it proves.</a:t>
            </a:r>
            <a:endParaRPr lang="en-US" sz="1400" dirty="0"/>
          </a:p>
          <a:p>
            <a:pPr marL="342900" indent="-342900">
              <a:spcAft>
                <a:spcPts val="1000"/>
              </a:spcAft>
              <a:buSzPct val="100000"/>
              <a:buChar char="☐"/>
            </a:pPr>
            <a:r>
              <a:rPr lang="en-US" sz="1400" dirty="0">
                <a:solidFill>
                  <a:srgbClr val="0E1C42"/>
                </a:solidFill>
                <a:latin typeface="Calibri" pitchFamily="34" charset="0"/>
                <a:ea typeface="Calibri" pitchFamily="34" charset="-122"/>
                <a:cs typeface="Calibri" pitchFamily="34" charset="-120"/>
              </a:rPr>
              <a:t>Point to your community connection: say why it matters to real people.</a:t>
            </a:r>
            <a:endParaRPr lang="en-US" sz="1400" dirty="0"/>
          </a:p>
          <a:p>
            <a:pPr marL="342900" indent="-342900">
              <a:spcAft>
                <a:spcPts val="1000"/>
              </a:spcAft>
              <a:buSzPct val="100000"/>
              <a:buChar char="☐"/>
            </a:pPr>
            <a:r>
              <a:rPr lang="en-US" sz="1400" dirty="0">
                <a:solidFill>
                  <a:srgbClr val="0E1C42"/>
                </a:solidFill>
                <a:latin typeface="Calibri" pitchFamily="34" charset="0"/>
                <a:ea typeface="Calibri" pitchFamily="34" charset="-122"/>
                <a:cs typeface="Calibri" pitchFamily="34" charset="-120"/>
              </a:rPr>
              <a:t>End with your virtue and invite a question -- say what you know AND what you're still figuring out.</a:t>
            </a:r>
            <a:endParaRPr lang="en-US" sz="14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FFF8F0"/>
          </a:solidFill>
          <a:ln/>
        </p:spPr>
      </p:sp>
      <p:sp>
        <p:nvSpPr>
          <p:cNvPr id="3" name="Text 1"/>
          <p:cNvSpPr/>
          <p:nvPr/>
        </p:nvSpPr>
        <p:spPr>
          <a:xfrm>
            <a:off x="853440" y="426720"/>
            <a:ext cx="8534400" cy="365760"/>
          </a:xfrm>
          <a:prstGeom prst="rect">
            <a:avLst/>
          </a:prstGeom>
          <a:noFill/>
          <a:ln/>
        </p:spPr>
        <p:txBody>
          <a:bodyPr wrap="square" lIns="0" tIns="0" rIns="0" bIns="0" rtlCol="0" anchor="ctr"/>
          <a:lstStyle/>
          <a:p>
            <a:pPr indent="0" marL="0">
              <a:buNone/>
            </a:pPr>
            <a:r>
              <a:rPr lang="en-US" sz="1100" b="1" spc="150" kern="0" dirty="0">
                <a:solidFill>
                  <a:srgbClr val="E8636B"/>
                </a:solidFill>
                <a:latin typeface="Calibri" pitchFamily="34" charset="0"/>
                <a:ea typeface="Calibri" pitchFamily="34" charset="-122"/>
                <a:cs typeface="Calibri" pitchFamily="34" charset="-120"/>
              </a:rPr>
              <a:t>GUIDED PRACTICE 4 OF 5  ·  ERROR ANALYSIS</a:t>
            </a:r>
            <a:endParaRPr lang="en-US" sz="1100" dirty="0"/>
          </a:p>
        </p:txBody>
      </p:sp>
      <p:sp>
        <p:nvSpPr>
          <p:cNvPr id="4" name="Text 2"/>
          <p:cNvSpPr/>
          <p:nvPr/>
        </p:nvSpPr>
        <p:spPr>
          <a:xfrm>
            <a:off x="853440" y="853440"/>
            <a:ext cx="10119360" cy="670560"/>
          </a:xfrm>
          <a:prstGeom prst="rect">
            <a:avLst/>
          </a:prstGeom>
          <a:noFill/>
          <a:ln/>
        </p:spPr>
        <p:txBody>
          <a:bodyPr wrap="square" lIns="0" tIns="0" rIns="0" bIns="0" rtlCol="0" anchor="ctr"/>
          <a:lstStyle/>
          <a:p>
            <a:pPr indent="0" marL="0">
              <a:buNone/>
            </a:pPr>
            <a:r>
              <a:rPr lang="en-US" sz="2100" b="1" dirty="0">
                <a:solidFill>
                  <a:srgbClr val="0E1C42"/>
                </a:solidFill>
                <a:latin typeface="Cambria" pitchFamily="34" charset="0"/>
                <a:ea typeface="Cambria" pitchFamily="34" charset="-122"/>
                <a:cs typeface="Cambria" pitchFamily="34" charset="-120"/>
              </a:rPr>
              <a:t>Find the Problem With This Walk-Through</a:t>
            </a:r>
            <a:endParaRPr lang="en-US" sz="2100" dirty="0"/>
          </a:p>
        </p:txBody>
      </p:sp>
      <p:sp>
        <p:nvSpPr>
          <p:cNvPr id="5" name="Shape 3"/>
          <p:cNvSpPr/>
          <p:nvPr/>
        </p:nvSpPr>
        <p:spPr>
          <a:xfrm>
            <a:off x="853440" y="1706880"/>
            <a:ext cx="10119360" cy="2072640"/>
          </a:xfrm>
          <a:prstGeom prst="roundRect">
            <a:avLst>
              <a:gd name="adj" fmla="val 7059"/>
            </a:avLst>
          </a:prstGeom>
          <a:solidFill>
            <a:srgbClr val="F0E8FF"/>
          </a:solidFill>
          <a:ln w="12700">
            <a:solidFill>
              <a:srgbClr val="D8DDEB"/>
            </a:solidFill>
            <a:prstDash val="solid"/>
          </a:ln>
        </p:spPr>
      </p:sp>
      <p:sp>
        <p:nvSpPr>
          <p:cNvPr id="6" name="Text 4"/>
          <p:cNvSpPr/>
          <p:nvPr/>
        </p:nvSpPr>
        <p:spPr>
          <a:xfrm>
            <a:off x="1158240" y="1889760"/>
            <a:ext cx="9509760" cy="1706880"/>
          </a:xfrm>
          <a:prstGeom prst="rect">
            <a:avLst/>
          </a:prstGeom>
          <a:noFill/>
          <a:ln/>
        </p:spPr>
        <p:txBody>
          <a:bodyPr wrap="square" lIns="0" tIns="0" rIns="0" bIns="0" rtlCol="0" anchor="t"/>
          <a:lstStyle/>
          <a:p>
            <a:pPr indent="0" marL="0">
              <a:buNone/>
            </a:pPr>
            <a:r>
              <a:rPr lang="en-US" sz="1400" i="1" dirty="0">
                <a:solidFill>
                  <a:srgbClr val="0E1C42"/>
                </a:solidFill>
                <a:latin typeface="Cambria" pitchFamily="34" charset="0"/>
                <a:ea typeface="Cambria" pitchFamily="34" charset="-122"/>
                <a:cs typeface="Cambria" pitchFamily="34" charset="-120"/>
              </a:rPr>
              <a:t>“Hi. This is, without doubt, the most important map ever made, and I know everything about this region. Every person here shows great courage. I have no questions left. The end.”</a:t>
            </a:r>
            <a:endParaRPr lang="en-US" sz="1400" dirty="0"/>
          </a:p>
        </p:txBody>
      </p:sp>
      <p:sp>
        <p:nvSpPr>
          <p:cNvPr id="7" name="Shape 5"/>
          <p:cNvSpPr/>
          <p:nvPr/>
        </p:nvSpPr>
        <p:spPr>
          <a:xfrm>
            <a:off x="853440" y="4023360"/>
            <a:ext cx="10119360" cy="2316480"/>
          </a:xfrm>
          <a:prstGeom prst="roundRect">
            <a:avLst>
              <a:gd name="adj" fmla="val 7895"/>
            </a:avLst>
          </a:prstGeom>
          <a:solidFill>
            <a:srgbClr val="1A2D5A"/>
          </a:solidFill>
          <a:ln/>
          <a:effectLst>
            <a:outerShdw sx="100000" sy="100000" kx="0" ky="0" algn="bl" rotWithShape="0" blurRad="101600" dist="38100" dir="8100000">
              <a:srgbClr val="000000">
                <a:alpha val="20000"/>
              </a:srgbClr>
            </a:outerShdw>
          </a:effectLst>
        </p:spPr>
      </p:sp>
      <p:sp>
        <p:nvSpPr>
          <p:cNvPr id="8" name="Text 6"/>
          <p:cNvSpPr/>
          <p:nvPr/>
        </p:nvSpPr>
        <p:spPr>
          <a:xfrm>
            <a:off x="1097280" y="4145280"/>
            <a:ext cx="9631680" cy="341376"/>
          </a:xfrm>
          <a:prstGeom prst="rect">
            <a:avLst/>
          </a:prstGeom>
          <a:noFill/>
          <a:ln/>
        </p:spPr>
        <p:txBody>
          <a:bodyPr wrap="square" lIns="0" tIns="0" rIns="0" bIns="0" rtlCol="0" anchor="ctr"/>
          <a:lstStyle/>
          <a:p>
            <a:pPr indent="0" marL="0">
              <a:buNone/>
            </a:pPr>
            <a:r>
              <a:rPr lang="en-US" sz="900" b="1" spc="150" kern="0" dirty="0">
                <a:solidFill>
                  <a:srgbClr val="55C8E8"/>
                </a:solidFill>
                <a:latin typeface="Calibri" pitchFamily="34" charset="0"/>
                <a:ea typeface="Calibri" pitchFamily="34" charset="-122"/>
                <a:cs typeface="Calibri" pitchFamily="34" charset="-120"/>
              </a:rPr>
              <a:t>SOCRATIC QUESTIONS</a:t>
            </a:r>
            <a:endParaRPr lang="en-US" sz="900" dirty="0"/>
          </a:p>
        </p:txBody>
      </p:sp>
      <p:sp>
        <p:nvSpPr>
          <p:cNvPr id="9" name="Text 7"/>
          <p:cNvSpPr/>
          <p:nvPr/>
        </p:nvSpPr>
        <p:spPr>
          <a:xfrm>
            <a:off x="1097280" y="4486656"/>
            <a:ext cx="9631680" cy="1731264"/>
          </a:xfrm>
          <a:prstGeom prst="rect">
            <a:avLst/>
          </a:prstGeom>
          <a:noFill/>
          <a:ln/>
        </p:spPr>
        <p:txBody>
          <a:bodyPr wrap="square" lIns="0" tIns="0" rIns="0" bIns="0" rtlCol="0" anchor="t"/>
          <a:lstStyle/>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Which sentence makes a claim no visitor could check?</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Where does this guide skip explaining what the source actually proves?</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Where does this guide over-generalize about 'every person'?</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How would an honest guide fix the ending?</a:t>
            </a:r>
            <a:endParaRPr lang="en-US" sz="11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F0F2F8"/>
          </a:solidFill>
          <a:ln/>
        </p:spPr>
      </p:sp>
      <p:sp>
        <p:nvSpPr>
          <p:cNvPr id="3" name="Text 1"/>
          <p:cNvSpPr/>
          <p:nvPr/>
        </p:nvSpPr>
        <p:spPr>
          <a:xfrm>
            <a:off x="853440" y="426720"/>
            <a:ext cx="8534400" cy="365760"/>
          </a:xfrm>
          <a:prstGeom prst="rect">
            <a:avLst/>
          </a:prstGeom>
          <a:noFill/>
          <a:ln/>
        </p:spPr>
        <p:txBody>
          <a:bodyPr wrap="square" lIns="0" tIns="0" rIns="0" bIns="0" rtlCol="0" anchor="ctr"/>
          <a:lstStyle/>
          <a:p>
            <a:pPr indent="0" marL="0">
              <a:buNone/>
            </a:pPr>
            <a:r>
              <a:rPr lang="en-US" sz="1100" b="1" spc="150" kern="0" dirty="0">
                <a:solidFill>
                  <a:srgbClr val="D4943A"/>
                </a:solidFill>
                <a:latin typeface="Calibri" pitchFamily="34" charset="0"/>
                <a:ea typeface="Calibri" pitchFamily="34" charset="-122"/>
                <a:cs typeface="Calibri" pitchFamily="34" charset="-120"/>
              </a:rPr>
              <a:t>GUIDED PRACTICE 5 OF 5  ·  THE TRICKY ONE</a:t>
            </a:r>
            <a:endParaRPr lang="en-US" sz="1100" dirty="0"/>
          </a:p>
        </p:txBody>
      </p:sp>
      <p:sp>
        <p:nvSpPr>
          <p:cNvPr id="4" name="Text 2"/>
          <p:cNvSpPr/>
          <p:nvPr/>
        </p:nvSpPr>
        <p:spPr>
          <a:xfrm>
            <a:off x="853440" y="853440"/>
            <a:ext cx="10119360" cy="670560"/>
          </a:xfrm>
          <a:prstGeom prst="rect">
            <a:avLst/>
          </a:prstGeom>
          <a:noFill/>
          <a:ln/>
        </p:spPr>
        <p:txBody>
          <a:bodyPr wrap="square" lIns="0" tIns="0" rIns="0" bIns="0" rtlCol="0" anchor="ctr"/>
          <a:lstStyle/>
          <a:p>
            <a:pPr indent="0" marL="0">
              <a:buNone/>
            </a:pPr>
            <a:r>
              <a:rPr lang="en-US" sz="2200" b="1" dirty="0">
                <a:solidFill>
                  <a:srgbClr val="0E1C42"/>
                </a:solidFill>
                <a:latin typeface="Cambria" pitchFamily="34" charset="0"/>
                <a:ea typeface="Cambria" pitchFamily="34" charset="-122"/>
                <a:cs typeface="Cambria" pitchFamily="34" charset="-120"/>
              </a:rPr>
              <a:t>A Visitor Asks a Hard Question</a:t>
            </a:r>
            <a:endParaRPr lang="en-US" sz="2200" dirty="0"/>
          </a:p>
        </p:txBody>
      </p:sp>
      <p:sp>
        <p:nvSpPr>
          <p:cNvPr id="5" name="Shape 3"/>
          <p:cNvSpPr/>
          <p:nvPr/>
        </p:nvSpPr>
        <p:spPr>
          <a:xfrm>
            <a:off x="853440" y="1706880"/>
            <a:ext cx="10119360" cy="1645920"/>
          </a:xfrm>
          <a:prstGeom prst="roundRect">
            <a:avLst>
              <a:gd name="adj" fmla="val 8889"/>
            </a:avLst>
          </a:prstGeom>
          <a:solidFill>
            <a:srgbClr val="FFF3DC"/>
          </a:solidFill>
          <a:ln w="12700">
            <a:solidFill>
              <a:srgbClr val="D8DDEB"/>
            </a:solidFill>
            <a:prstDash val="solid"/>
          </a:ln>
        </p:spPr>
      </p:sp>
      <p:sp>
        <p:nvSpPr>
          <p:cNvPr id="6" name="Text 4"/>
          <p:cNvSpPr/>
          <p:nvPr/>
        </p:nvSpPr>
        <p:spPr>
          <a:xfrm>
            <a:off x="1158240" y="1889760"/>
            <a:ext cx="9509760" cy="1280160"/>
          </a:xfrm>
          <a:prstGeom prst="rect">
            <a:avLst/>
          </a:prstGeom>
          <a:noFill/>
          <a:ln/>
        </p:spPr>
        <p:txBody>
          <a:bodyPr wrap="square" lIns="0" tIns="0" rIns="0" bIns="0" rtlCol="0" anchor="t"/>
          <a:lstStyle/>
          <a:p>
            <a:pPr indent="0" marL="0">
              <a:buNone/>
            </a:pPr>
            <a:r>
              <a:rPr lang="en-US" sz="1500" b="1" i="1" dirty="0">
                <a:solidFill>
                  <a:srgbClr val="0E1C42"/>
                </a:solidFill>
                <a:latin typeface="Cambria" pitchFamily="34" charset="0"/>
                <a:ea typeface="Cambria" pitchFamily="34" charset="-122"/>
                <a:cs typeface="Cambria" pitchFamily="34" charset="-120"/>
              </a:rPr>
              <a:t>Visitor asks: “What's the population here?”  ...You don't actually know the exact number.</a:t>
            </a:r>
            <a:endParaRPr lang="en-US" sz="1500" dirty="0"/>
          </a:p>
        </p:txBody>
      </p:sp>
      <p:sp>
        <p:nvSpPr>
          <p:cNvPr id="7" name="Shape 5"/>
          <p:cNvSpPr/>
          <p:nvPr/>
        </p:nvSpPr>
        <p:spPr>
          <a:xfrm>
            <a:off x="853440" y="3535680"/>
            <a:ext cx="5364480" cy="2682240"/>
          </a:xfrm>
          <a:prstGeom prst="roundRect">
            <a:avLst>
              <a:gd name="adj" fmla="val 6818"/>
            </a:avLst>
          </a:prstGeom>
          <a:solidFill>
            <a:srgbClr val="1A2D5A"/>
          </a:solidFill>
          <a:ln/>
          <a:effectLst>
            <a:outerShdw sx="100000" sy="100000" kx="0" ky="0" algn="bl" rotWithShape="0" blurRad="101600" dist="38100" dir="8100000">
              <a:srgbClr val="000000">
                <a:alpha val="20000"/>
              </a:srgbClr>
            </a:outerShdw>
          </a:effectLst>
        </p:spPr>
      </p:sp>
      <p:sp>
        <p:nvSpPr>
          <p:cNvPr id="8" name="Text 6"/>
          <p:cNvSpPr/>
          <p:nvPr/>
        </p:nvSpPr>
        <p:spPr>
          <a:xfrm>
            <a:off x="1097280" y="3657600"/>
            <a:ext cx="4876800" cy="341376"/>
          </a:xfrm>
          <a:prstGeom prst="rect">
            <a:avLst/>
          </a:prstGeom>
          <a:noFill/>
          <a:ln/>
        </p:spPr>
        <p:txBody>
          <a:bodyPr wrap="square" lIns="0" tIns="0" rIns="0" bIns="0" rtlCol="0" anchor="ctr"/>
          <a:lstStyle/>
          <a:p>
            <a:pPr indent="0" marL="0">
              <a:buNone/>
            </a:pPr>
            <a:r>
              <a:rPr lang="en-US" sz="900" b="1" spc="150" kern="0" dirty="0">
                <a:solidFill>
                  <a:srgbClr val="55C8E8"/>
                </a:solidFill>
                <a:latin typeface="Calibri" pitchFamily="34" charset="0"/>
                <a:ea typeface="Calibri" pitchFamily="34" charset="-122"/>
                <a:cs typeface="Calibri" pitchFamily="34" charset="-120"/>
              </a:rPr>
              <a:t>SOCRATIC QUESTIONS</a:t>
            </a:r>
            <a:endParaRPr lang="en-US" sz="900" dirty="0"/>
          </a:p>
        </p:txBody>
      </p:sp>
      <p:sp>
        <p:nvSpPr>
          <p:cNvPr id="9" name="Text 7"/>
          <p:cNvSpPr/>
          <p:nvPr/>
        </p:nvSpPr>
        <p:spPr>
          <a:xfrm>
            <a:off x="1097280" y="3998976"/>
            <a:ext cx="4876800" cy="2097024"/>
          </a:xfrm>
          <a:prstGeom prst="rect">
            <a:avLst/>
          </a:prstGeom>
          <a:noFill/>
          <a:ln/>
        </p:spPr>
        <p:txBody>
          <a:bodyPr wrap="square" lIns="0" tIns="0" rIns="0" bIns="0" rtlCol="0" anchor="t"/>
          <a:lstStyle/>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Is it honest to guess a made-up exact number so you sound smart?</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Is it honest to ignore the question and move on?</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What could you say that is both honest AND still helpful to the visitor?</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Why might 'I'm not sure, but here's my best guess' actually build more trust than a fake fact?</a:t>
            </a:r>
            <a:endParaRPr lang="en-US" sz="1100" dirty="0"/>
          </a:p>
        </p:txBody>
      </p:sp>
      <p:sp>
        <p:nvSpPr>
          <p:cNvPr id="10" name="Shape 8"/>
          <p:cNvSpPr/>
          <p:nvPr/>
        </p:nvSpPr>
        <p:spPr>
          <a:xfrm>
            <a:off x="6522720" y="3535680"/>
            <a:ext cx="4450080" cy="2682240"/>
          </a:xfrm>
          <a:prstGeom prst="roundRect">
            <a:avLst>
              <a:gd name="adj" fmla="val 5455"/>
            </a:avLst>
          </a:prstGeom>
          <a:solidFill>
            <a:srgbClr val="FFF3DC"/>
          </a:solidFill>
          <a:ln w="19050">
            <a:solidFill>
              <a:srgbClr val="F5E6C8"/>
            </a:solidFill>
            <a:prstDash val="solid"/>
          </a:ln>
        </p:spPr>
      </p:sp>
      <p:sp>
        <p:nvSpPr>
          <p:cNvPr id="11" name="Text 9"/>
          <p:cNvSpPr/>
          <p:nvPr/>
        </p:nvSpPr>
        <p:spPr>
          <a:xfrm>
            <a:off x="6705600" y="3608832"/>
            <a:ext cx="4084320" cy="268224"/>
          </a:xfrm>
          <a:prstGeom prst="rect">
            <a:avLst/>
          </a:prstGeom>
          <a:noFill/>
          <a:ln/>
        </p:spPr>
        <p:txBody>
          <a:bodyPr wrap="square" lIns="0" tIns="0" rIns="0" bIns="0" rtlCol="0" anchor="ctr"/>
          <a:lstStyle/>
          <a:p>
            <a:pPr indent="0" marL="0">
              <a:buNone/>
            </a:pPr>
            <a:r>
              <a:rPr lang="en-US" sz="900" b="1" spc="150" kern="0" dirty="0">
                <a:solidFill>
                  <a:srgbClr val="D4943A"/>
                </a:solidFill>
                <a:latin typeface="Calibri" pitchFamily="34" charset="0"/>
                <a:ea typeface="Calibri" pitchFamily="34" charset="-122"/>
                <a:cs typeface="Calibri" pitchFamily="34" charset="-120"/>
              </a:rPr>
              <a:t>CHAT FRAME</a:t>
            </a:r>
            <a:endParaRPr lang="en-US" sz="900" dirty="0"/>
          </a:p>
        </p:txBody>
      </p:sp>
      <p:sp>
        <p:nvSpPr>
          <p:cNvPr id="12" name="Text 10"/>
          <p:cNvSpPr/>
          <p:nvPr/>
        </p:nvSpPr>
        <p:spPr>
          <a:xfrm>
            <a:off x="6705600" y="3877056"/>
            <a:ext cx="4084320" cy="2255520"/>
          </a:xfrm>
          <a:prstGeom prst="rect">
            <a:avLst/>
          </a:prstGeom>
          <a:noFill/>
          <a:ln/>
        </p:spPr>
        <p:txBody>
          <a:bodyPr wrap="square" lIns="0" tIns="0" rIns="0" bIns="0" rtlCol="0" anchor="t"/>
          <a:lstStyle/>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"Good question -- I'm not sure of the exact number, but..."</a:t>
            </a:r>
            <a:endParaRPr lang="en-US" sz="1200" dirty="0"/>
          </a:p>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"I could say I know it's one of the..."</a:t>
            </a:r>
            <a:endParaRPr lang="en-US" sz="1200" dirty="0"/>
          </a:p>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"Honesty here means..."</a:t>
            </a:r>
            <a:endParaRPr lang="en-US" sz="1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EAF8FD"/>
          </a:solidFill>
          <a:ln/>
        </p:spPr>
      </p:sp>
      <p:sp>
        <p:nvSpPr>
          <p:cNvPr id="3" name="Text 1"/>
          <p:cNvSpPr/>
          <p:nvPr/>
        </p:nvSpPr>
        <p:spPr>
          <a:xfrm>
            <a:off x="853440" y="426720"/>
            <a:ext cx="8534400" cy="365760"/>
          </a:xfrm>
          <a:prstGeom prst="rect">
            <a:avLst/>
          </a:prstGeom>
          <a:noFill/>
          <a:ln/>
        </p:spPr>
        <p:txBody>
          <a:bodyPr wrap="square" lIns="0" tIns="0" rIns="0" bIns="0" rtlCol="0" anchor="ctr"/>
          <a:lstStyle/>
          <a:p>
            <a:pPr indent="0" marL="0">
              <a:buNone/>
            </a:pPr>
            <a:r>
              <a:rPr lang="en-US" sz="1100" b="1" spc="150" kern="0" dirty="0">
                <a:solidFill>
                  <a:srgbClr val="55C8E8"/>
                </a:solidFill>
                <a:latin typeface="Calibri" pitchFamily="34" charset="0"/>
                <a:ea typeface="Calibri" pitchFamily="34" charset="-122"/>
                <a:cs typeface="Calibri" pitchFamily="34" charset="-120"/>
              </a:rPr>
              <a:t>QUICK SELF-CHECK  ·  NOT GRADED</a:t>
            </a:r>
            <a:endParaRPr lang="en-US" sz="1100" dirty="0"/>
          </a:p>
        </p:txBody>
      </p:sp>
      <p:sp>
        <p:nvSpPr>
          <p:cNvPr id="4" name="Text 2"/>
          <p:cNvSpPr/>
          <p:nvPr/>
        </p:nvSpPr>
        <p:spPr>
          <a:xfrm>
            <a:off x="853440" y="853440"/>
            <a:ext cx="10119360" cy="670560"/>
          </a:xfrm>
          <a:prstGeom prst="rect">
            <a:avLst/>
          </a:prstGeom>
          <a:noFill/>
          <a:ln/>
        </p:spPr>
        <p:txBody>
          <a:bodyPr wrap="square" lIns="0" tIns="0" rIns="0" bIns="0" rtlCol="0" anchor="ctr"/>
          <a:lstStyle/>
          <a:p>
            <a:pPr indent="0" marL="0">
              <a:buNone/>
            </a:pPr>
            <a:r>
              <a:rPr lang="en-US" sz="2400" b="1" dirty="0">
                <a:solidFill>
                  <a:srgbClr val="0E1C42"/>
                </a:solidFill>
                <a:latin typeface="Cambria" pitchFamily="34" charset="0"/>
                <a:ea typeface="Cambria" pitchFamily="34" charset="-122"/>
                <a:cs typeface="Cambria" pitchFamily="34" charset="-120"/>
              </a:rPr>
              <a:t>Three Quick Questions</a:t>
            </a:r>
            <a:endParaRPr lang="en-US" sz="2400" dirty="0"/>
          </a:p>
        </p:txBody>
      </p:sp>
      <p:sp>
        <p:nvSpPr>
          <p:cNvPr id="5" name="Shape 3"/>
          <p:cNvSpPr/>
          <p:nvPr/>
        </p:nvSpPr>
        <p:spPr>
          <a:xfrm>
            <a:off x="853440" y="1828800"/>
            <a:ext cx="10119360" cy="1341120"/>
          </a:xfrm>
          <a:prstGeom prst="roundRect">
            <a:avLst>
              <a:gd name="adj" fmla="val 10909"/>
            </a:avLst>
          </a:prstGeom>
          <a:solidFill>
            <a:srgbClr val="FFFFFF"/>
          </a:solidFill>
          <a:ln w="12700">
            <a:solidFill>
              <a:srgbClr val="D8DDEB"/>
            </a:solidFill>
            <a:prstDash val="solid"/>
          </a:ln>
        </p:spPr>
      </p:sp>
      <p:sp>
        <p:nvSpPr>
          <p:cNvPr id="6" name="Text 4"/>
          <p:cNvSpPr/>
          <p:nvPr/>
        </p:nvSpPr>
        <p:spPr>
          <a:xfrm>
            <a:off x="1097280" y="1950720"/>
            <a:ext cx="9631680" cy="487680"/>
          </a:xfrm>
          <a:prstGeom prst="rect">
            <a:avLst/>
          </a:prstGeom>
          <a:noFill/>
          <a:ln/>
        </p:spPr>
        <p:txBody>
          <a:bodyPr wrap="square" lIns="0" tIns="0" rIns="0" bIns="0" rtlCol="0" anchor="ctr"/>
          <a:lstStyle/>
          <a:p>
            <a:pPr indent="0" marL="0">
              <a:buNone/>
            </a:pPr>
            <a:r>
              <a:rPr lang="en-US" sz="1300" b="1" dirty="0">
                <a:solidFill>
                  <a:srgbClr val="0E1C42"/>
                </a:solidFill>
                <a:latin typeface="Calibri" pitchFamily="34" charset="0"/>
                <a:ea typeface="Calibri" pitchFamily="34" charset="-122"/>
                <a:cs typeface="Calibri" pitchFamily="34" charset="-120"/>
              </a:rPr>
              <a:t>1. What's the first step of a great walk-through?</a:t>
            </a:r>
            <a:endParaRPr lang="en-US" sz="1300" dirty="0"/>
          </a:p>
        </p:txBody>
      </p:sp>
      <p:sp>
        <p:nvSpPr>
          <p:cNvPr id="7" name="Text 5"/>
          <p:cNvSpPr/>
          <p:nvPr/>
        </p:nvSpPr>
        <p:spPr>
          <a:xfrm>
            <a:off x="1097280" y="2499360"/>
            <a:ext cx="9631680" cy="548640"/>
          </a:xfrm>
          <a:prstGeom prst="rect">
            <a:avLst/>
          </a:prstGeom>
          <a:noFill/>
          <a:ln/>
        </p:spPr>
        <p:txBody>
          <a:bodyPr wrap="square" lIns="0" tIns="0" rIns="0" bIns="0" rtlCol="0" anchor="ctr"/>
          <a:lstStyle/>
          <a:p>
            <a:pPr indent="0" marL="0">
              <a:buNone/>
            </a:pPr>
            <a:r>
              <a:rPr lang="en-US" sz="1200" i="1" dirty="0">
                <a:solidFill>
                  <a:srgbClr val="34B76F"/>
                </a:solidFill>
                <a:latin typeface="Calibri" pitchFamily="34" charset="0"/>
                <a:ea typeface="Calibri" pitchFamily="34" charset="-122"/>
                <a:cs typeface="Calibri" pitchFamily="34" charset="-120"/>
              </a:rPr>
              <a:t>Correct: Greet the visitor and welcome them to your exhibit.</a:t>
            </a:r>
            <a:endParaRPr lang="en-US" sz="1200" dirty="0"/>
          </a:p>
        </p:txBody>
      </p:sp>
      <p:sp>
        <p:nvSpPr>
          <p:cNvPr id="8" name="Shape 6"/>
          <p:cNvSpPr/>
          <p:nvPr/>
        </p:nvSpPr>
        <p:spPr>
          <a:xfrm>
            <a:off x="853440" y="3352800"/>
            <a:ext cx="10119360" cy="1341120"/>
          </a:xfrm>
          <a:prstGeom prst="roundRect">
            <a:avLst>
              <a:gd name="adj" fmla="val 10909"/>
            </a:avLst>
          </a:prstGeom>
          <a:solidFill>
            <a:srgbClr val="FFFFFF"/>
          </a:solidFill>
          <a:ln w="12700">
            <a:solidFill>
              <a:srgbClr val="D8DDEB"/>
            </a:solidFill>
            <a:prstDash val="solid"/>
          </a:ln>
        </p:spPr>
      </p:sp>
      <p:sp>
        <p:nvSpPr>
          <p:cNvPr id="9" name="Text 7"/>
          <p:cNvSpPr/>
          <p:nvPr/>
        </p:nvSpPr>
        <p:spPr>
          <a:xfrm>
            <a:off x="1097280" y="3474720"/>
            <a:ext cx="9631680" cy="487680"/>
          </a:xfrm>
          <a:prstGeom prst="rect">
            <a:avLst/>
          </a:prstGeom>
          <a:noFill/>
          <a:ln/>
        </p:spPr>
        <p:txBody>
          <a:bodyPr wrap="square" lIns="0" tIns="0" rIns="0" bIns="0" rtlCol="0" anchor="ctr"/>
          <a:lstStyle/>
          <a:p>
            <a:pPr indent="0" marL="0">
              <a:buNone/>
            </a:pPr>
            <a:r>
              <a:rPr lang="en-US" sz="1300" b="1" dirty="0">
                <a:solidFill>
                  <a:srgbClr val="0E1C42"/>
                </a:solidFill>
                <a:latin typeface="Calibri" pitchFamily="34" charset="0"/>
                <a:ea typeface="Calibri" pitchFamily="34" charset="-122"/>
                <a:cs typeface="Calibri" pitchFamily="34" charset="-120"/>
              </a:rPr>
              <a:t>2. A visitor asks a question you can't answer perfectly. What does an honest curator do?</a:t>
            </a:r>
            <a:endParaRPr lang="en-US" sz="1300" dirty="0"/>
          </a:p>
        </p:txBody>
      </p:sp>
      <p:sp>
        <p:nvSpPr>
          <p:cNvPr id="10" name="Text 8"/>
          <p:cNvSpPr/>
          <p:nvPr/>
        </p:nvSpPr>
        <p:spPr>
          <a:xfrm>
            <a:off x="1097280" y="4023360"/>
            <a:ext cx="9631680" cy="548640"/>
          </a:xfrm>
          <a:prstGeom prst="rect">
            <a:avLst/>
          </a:prstGeom>
          <a:noFill/>
          <a:ln/>
        </p:spPr>
        <p:txBody>
          <a:bodyPr wrap="square" lIns="0" tIns="0" rIns="0" bIns="0" rtlCol="0" anchor="ctr"/>
          <a:lstStyle/>
          <a:p>
            <a:pPr indent="0" marL="0">
              <a:buNone/>
            </a:pPr>
            <a:r>
              <a:rPr lang="en-US" sz="1200" i="1" dirty="0">
                <a:solidFill>
                  <a:srgbClr val="34B76F"/>
                </a:solidFill>
                <a:latin typeface="Calibri" pitchFamily="34" charset="0"/>
                <a:ea typeface="Calibri" pitchFamily="34" charset="-122"/>
                <a:cs typeface="Calibri" pitchFamily="34" charset="-120"/>
              </a:rPr>
              <a:t>Correct: Say “Good question — I'm not sure, but here's my best guess.”</a:t>
            </a:r>
            <a:endParaRPr lang="en-US" sz="1200" dirty="0"/>
          </a:p>
        </p:txBody>
      </p:sp>
      <p:sp>
        <p:nvSpPr>
          <p:cNvPr id="11" name="Shape 9"/>
          <p:cNvSpPr/>
          <p:nvPr/>
        </p:nvSpPr>
        <p:spPr>
          <a:xfrm>
            <a:off x="853440" y="4876800"/>
            <a:ext cx="10119360" cy="1341120"/>
          </a:xfrm>
          <a:prstGeom prst="roundRect">
            <a:avLst>
              <a:gd name="adj" fmla="val 10909"/>
            </a:avLst>
          </a:prstGeom>
          <a:solidFill>
            <a:srgbClr val="FFFFFF"/>
          </a:solidFill>
          <a:ln w="12700">
            <a:solidFill>
              <a:srgbClr val="D8DDEB"/>
            </a:solidFill>
            <a:prstDash val="solid"/>
          </a:ln>
        </p:spPr>
      </p:sp>
      <p:sp>
        <p:nvSpPr>
          <p:cNvPr id="12" name="Text 10"/>
          <p:cNvSpPr/>
          <p:nvPr/>
        </p:nvSpPr>
        <p:spPr>
          <a:xfrm>
            <a:off x="1097280" y="4998720"/>
            <a:ext cx="9631680" cy="487680"/>
          </a:xfrm>
          <a:prstGeom prst="rect">
            <a:avLst/>
          </a:prstGeom>
          <a:noFill/>
          <a:ln/>
        </p:spPr>
        <p:txBody>
          <a:bodyPr wrap="square" lIns="0" tIns="0" rIns="0" bIns="0" rtlCol="0" anchor="ctr"/>
          <a:lstStyle/>
          <a:p>
            <a:pPr indent="0" marL="0">
              <a:buNone/>
            </a:pPr>
            <a:r>
              <a:rPr lang="en-US" sz="1300" b="1" dirty="0">
                <a:solidFill>
                  <a:srgbClr val="0E1C42"/>
                </a:solidFill>
                <a:latin typeface="Calibri" pitchFamily="34" charset="0"/>
                <a:ea typeface="Calibri" pitchFamily="34" charset="-122"/>
                <a:cs typeface="Calibri" pitchFamily="34" charset="-120"/>
              </a:rPr>
              <a:t>3. How should a walk-through end?</a:t>
            </a:r>
            <a:endParaRPr lang="en-US" sz="1300" dirty="0"/>
          </a:p>
        </p:txBody>
      </p:sp>
      <p:sp>
        <p:nvSpPr>
          <p:cNvPr id="13" name="Text 11"/>
          <p:cNvSpPr/>
          <p:nvPr/>
        </p:nvSpPr>
        <p:spPr>
          <a:xfrm>
            <a:off x="1097280" y="5547360"/>
            <a:ext cx="9631680" cy="548640"/>
          </a:xfrm>
          <a:prstGeom prst="rect">
            <a:avLst/>
          </a:prstGeom>
          <a:noFill/>
          <a:ln/>
        </p:spPr>
        <p:txBody>
          <a:bodyPr wrap="square" lIns="0" tIns="0" rIns="0" bIns="0" rtlCol="0" anchor="ctr"/>
          <a:lstStyle/>
          <a:p>
            <a:pPr indent="0" marL="0">
              <a:buNone/>
            </a:pPr>
            <a:r>
              <a:rPr lang="en-US" sz="1200" i="1" dirty="0">
                <a:solidFill>
                  <a:srgbClr val="34B76F"/>
                </a:solidFill>
                <a:latin typeface="Calibri" pitchFamily="34" charset="0"/>
                <a:ea typeface="Calibri" pitchFamily="34" charset="-122"/>
                <a:cs typeface="Calibri" pitchFamily="34" charset="-120"/>
              </a:rPr>
              <a:t>Correct: With the virtue and an invitation — “Do you have any questions?”</a:t>
            </a:r>
            <a:endParaRPr lang="en-US" sz="12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F0F2F8"/>
          </a:solidFill>
          <a:ln/>
        </p:spPr>
      </p:sp>
      <p:sp>
        <p:nvSpPr>
          <p:cNvPr id="3" name="Text 1"/>
          <p:cNvSpPr/>
          <p:nvPr/>
        </p:nvSpPr>
        <p:spPr>
          <a:xfrm>
            <a:off x="853440" y="365760"/>
            <a:ext cx="8534400" cy="365760"/>
          </a:xfrm>
          <a:prstGeom prst="rect">
            <a:avLst/>
          </a:prstGeom>
          <a:noFill/>
          <a:ln/>
        </p:spPr>
        <p:txBody>
          <a:bodyPr wrap="square" lIns="0" tIns="0" rIns="0" bIns="0" rtlCol="0" anchor="ctr"/>
          <a:lstStyle/>
          <a:p>
            <a:pPr indent="0" marL="0">
              <a:buNone/>
            </a:pPr>
            <a:r>
              <a:rPr lang="en-US" sz="1100" b="1" spc="150" kern="0" dirty="0">
                <a:solidFill>
                  <a:srgbClr val="1A8A7D"/>
                </a:solidFill>
                <a:latin typeface="Calibri" pitchFamily="34" charset="0"/>
                <a:ea typeface="Calibri" pitchFamily="34" charset="-122"/>
                <a:cs typeface="Calibri" pitchFamily="34" charset="-120"/>
              </a:rPr>
              <a:t>EVIDENCE &amp; ASSIGNMENT</a:t>
            </a:r>
            <a:endParaRPr lang="en-US" sz="1100" dirty="0"/>
          </a:p>
        </p:txBody>
      </p:sp>
      <p:sp>
        <p:nvSpPr>
          <p:cNvPr id="4" name="Text 2"/>
          <p:cNvSpPr/>
          <p:nvPr/>
        </p:nvSpPr>
        <p:spPr>
          <a:xfrm>
            <a:off x="853440" y="755904"/>
            <a:ext cx="10119360" cy="670560"/>
          </a:xfrm>
          <a:prstGeom prst="rect">
            <a:avLst/>
          </a:prstGeom>
          <a:noFill/>
          <a:ln/>
        </p:spPr>
        <p:txBody>
          <a:bodyPr wrap="square" lIns="0" tIns="0" rIns="0" bIns="0" rtlCol="0" anchor="ctr"/>
          <a:lstStyle/>
          <a:p>
            <a:pPr indent="0" marL="0">
              <a:buNone/>
            </a:pPr>
            <a:r>
              <a:rPr lang="en-US" sz="2100" b="1" dirty="0">
                <a:solidFill>
                  <a:srgbClr val="0E1C42"/>
                </a:solidFill>
                <a:latin typeface="Cambria" pitchFamily="34" charset="0"/>
                <a:ea typeface="Cambria" pitchFamily="34" charset="-122"/>
                <a:cs typeface="Cambria" pitchFamily="34" charset="-120"/>
              </a:rPr>
              <a:t>Write Your Walk-Through Script</a:t>
            </a:r>
            <a:endParaRPr lang="en-US" sz="2100" dirty="0"/>
          </a:p>
        </p:txBody>
      </p:sp>
      <p:sp>
        <p:nvSpPr>
          <p:cNvPr id="5" name="Shape 3"/>
          <p:cNvSpPr/>
          <p:nvPr/>
        </p:nvSpPr>
        <p:spPr>
          <a:xfrm>
            <a:off x="853440" y="1524000"/>
            <a:ext cx="10119360" cy="2133600"/>
          </a:xfrm>
          <a:prstGeom prst="roundRect">
            <a:avLst>
              <a:gd name="adj" fmla="val 6857"/>
            </a:avLst>
          </a:prstGeom>
          <a:solidFill>
            <a:srgbClr val="EAF8FD"/>
          </a:solidFill>
          <a:ln w="12700">
            <a:solidFill>
              <a:srgbClr val="D8DDEB"/>
            </a:solidFill>
            <a:prstDash val="solid"/>
          </a:ln>
        </p:spPr>
      </p:sp>
      <p:sp>
        <p:nvSpPr>
          <p:cNvPr id="6" name="Text 4"/>
          <p:cNvSpPr/>
          <p:nvPr/>
        </p:nvSpPr>
        <p:spPr>
          <a:xfrm>
            <a:off x="1097280" y="1645920"/>
            <a:ext cx="9631680" cy="365760"/>
          </a:xfrm>
          <a:prstGeom prst="rect">
            <a:avLst/>
          </a:prstGeom>
          <a:noFill/>
          <a:ln/>
        </p:spPr>
        <p:txBody>
          <a:bodyPr wrap="square" lIns="0" tIns="0" rIns="0" bIns="0" rtlCol="0" anchor="ctr"/>
          <a:lstStyle/>
          <a:p>
            <a:pPr indent="0" marL="0">
              <a:buNone/>
            </a:pPr>
            <a:r>
              <a:rPr lang="en-US" sz="1200" b="1" dirty="0">
                <a:solidFill>
                  <a:srgbClr val="0E1C42"/>
                </a:solidFill>
                <a:latin typeface="Calibri" pitchFamily="34" charset="0"/>
                <a:ea typeface="Calibri" pitchFamily="34" charset="-122"/>
                <a:cs typeface="Calibri" pitchFamily="34" charset="-120"/>
              </a:rPr>
              <a:t>Evidence Questions — answer honestly:</a:t>
            </a:r>
            <a:endParaRPr lang="en-US" sz="1200" dirty="0"/>
          </a:p>
        </p:txBody>
      </p:sp>
      <p:sp>
        <p:nvSpPr>
          <p:cNvPr id="7" name="Text 5"/>
          <p:cNvSpPr/>
          <p:nvPr/>
        </p:nvSpPr>
        <p:spPr>
          <a:xfrm>
            <a:off x="1097280" y="2011680"/>
            <a:ext cx="9631680" cy="1584960"/>
          </a:xfrm>
          <a:prstGeom prst="rect">
            <a:avLst/>
          </a:prstGeom>
          <a:noFill/>
          <a:ln/>
        </p:spPr>
        <p:txBody>
          <a:bodyPr wrap="square" lIns="0" tIns="0" rIns="0" bIns="0" rtlCol="0" anchor="t"/>
          <a:lstStyle/>
          <a:p>
            <a:pPr indent="0" marL="0">
              <a:spcAft>
                <a:spcPts val="400"/>
              </a:spcAft>
              <a:buNone/>
            </a:pPr>
            <a:r>
              <a:rPr lang="en-US" sz="1150" dirty="0">
                <a:solidFill>
                  <a:srgbClr val="0E1C42"/>
                </a:solidFill>
                <a:latin typeface="Calibri" pitchFamily="34" charset="0"/>
                <a:ea typeface="Calibri" pitchFamily="34" charset="-122"/>
                <a:cs typeface="Calibri" pitchFamily="34" charset="-120"/>
              </a:rPr>
              <a:t>1. What's one honest thing you'd say about your map to a visitor, including a part you're still figuring out?
</a:t>
            </a:r>
            <a:endParaRPr lang="en-US" sz="1150" dirty="0"/>
          </a:p>
          <a:p>
            <a:pPr indent="0" marL="0">
              <a:spcAft>
                <a:spcPts val="400"/>
              </a:spcAft>
              <a:buNone/>
            </a:pPr>
            <a:r>
              <a:rPr lang="en-US" sz="1150" dirty="0">
                <a:solidFill>
                  <a:srgbClr val="0E1C42"/>
                </a:solidFill>
                <a:latin typeface="Calibri" pitchFamily="34" charset="0"/>
                <a:ea typeface="Calibri" pitchFamily="34" charset="-122"/>
                <a:cs typeface="Calibri" pitchFamily="34" charset="-120"/>
              </a:rPr>
              <a:t>2. Why did you really pick this source? Tell it the way you'd tell a visitor — in your own words.
</a:t>
            </a:r>
            <a:endParaRPr lang="en-US" sz="1150" dirty="0"/>
          </a:p>
          <a:p>
            <a:pPr indent="0" marL="0">
              <a:buNone/>
            </a:pPr>
            <a:r>
              <a:rPr lang="en-US" sz="1150" dirty="0">
                <a:solidFill>
                  <a:srgbClr val="0E1C42"/>
                </a:solidFill>
                <a:latin typeface="Calibri" pitchFamily="34" charset="0"/>
                <a:ea typeface="Calibri" pitchFamily="34" charset="-122"/>
                <a:cs typeface="Calibri" pitchFamily="34" charset="-120"/>
              </a:rPr>
              <a:t>3. Why does the virtue you chose matter for your community or region?</a:t>
            </a:r>
            <a:endParaRPr lang="en-US" sz="1150" dirty="0"/>
          </a:p>
        </p:txBody>
      </p:sp>
      <p:sp>
        <p:nvSpPr>
          <p:cNvPr id="8" name="Shape 6"/>
          <p:cNvSpPr/>
          <p:nvPr/>
        </p:nvSpPr>
        <p:spPr>
          <a:xfrm>
            <a:off x="853440" y="3840480"/>
            <a:ext cx="10119360" cy="2560320"/>
          </a:xfrm>
          <a:prstGeom prst="roundRect">
            <a:avLst>
              <a:gd name="adj" fmla="val 5714"/>
            </a:avLst>
          </a:prstGeom>
          <a:solidFill>
            <a:srgbClr val="FFF3DC"/>
          </a:solidFill>
          <a:ln w="12700">
            <a:solidFill>
              <a:srgbClr val="D8DDEB"/>
            </a:solidFill>
            <a:prstDash val="solid"/>
          </a:ln>
        </p:spPr>
      </p:sp>
      <p:sp>
        <p:nvSpPr>
          <p:cNvPr id="9" name="Text 7"/>
          <p:cNvSpPr/>
          <p:nvPr/>
        </p:nvSpPr>
        <p:spPr>
          <a:xfrm>
            <a:off x="1097280" y="3962400"/>
            <a:ext cx="9631680" cy="365760"/>
          </a:xfrm>
          <a:prstGeom prst="rect">
            <a:avLst/>
          </a:prstGeom>
          <a:noFill/>
          <a:ln/>
        </p:spPr>
        <p:txBody>
          <a:bodyPr wrap="square" lIns="0" tIns="0" rIns="0" bIns="0" rtlCol="0" anchor="ctr"/>
          <a:lstStyle/>
          <a:p>
            <a:pPr indent="0" marL="0">
              <a:buNone/>
            </a:pPr>
            <a:r>
              <a:rPr lang="en-US" sz="1200" b="1" dirty="0">
                <a:solidFill>
                  <a:srgbClr val="D4943A"/>
                </a:solidFill>
                <a:latin typeface="Calibri" pitchFamily="34" charset="0"/>
                <a:ea typeface="Calibri" pitchFamily="34" charset="-122"/>
                <a:cs typeface="Calibri" pitchFamily="34" charset="-120"/>
              </a:rPr>
              <a:t>Curator Task: Walk-Through Script</a:t>
            </a:r>
            <a:endParaRPr lang="en-US" sz="1200" dirty="0"/>
          </a:p>
        </p:txBody>
      </p:sp>
      <p:sp>
        <p:nvSpPr>
          <p:cNvPr id="10" name="Text 8"/>
          <p:cNvSpPr/>
          <p:nvPr/>
        </p:nvSpPr>
        <p:spPr>
          <a:xfrm>
            <a:off x="1097280" y="4328160"/>
            <a:ext cx="9631680" cy="670560"/>
          </a:xfrm>
          <a:prstGeom prst="rect">
            <a:avLst/>
          </a:prstGeom>
          <a:noFill/>
          <a:ln/>
        </p:spPr>
        <p:txBody>
          <a:bodyPr wrap="square" lIns="0" tIns="0" rIns="0" bIns="0" rtlCol="0" anchor="t"/>
          <a:lstStyle/>
          <a:p>
            <a:pPr indent="0" marL="0">
              <a:buNone/>
            </a:pPr>
            <a:r>
              <a:rPr lang="en-US" sz="1100" i="1" dirty="0">
                <a:solidFill>
                  <a:srgbClr val="0E1C42"/>
                </a:solidFill>
                <a:latin typeface="Calibri" pitchFamily="34" charset="0"/>
                <a:ea typeface="Calibri" pitchFamily="34" charset="-122"/>
                <a:cs typeface="Calibri" pitchFamily="34" charset="-120"/>
              </a:rPr>
              <a:t>Write your full walk-through script using all five steps in order. Aim for 5–7 sentences total — about a minute of talking. Use the sentence starters below.</a:t>
            </a:r>
            <a:endParaRPr lang="en-US" sz="1100" dirty="0"/>
          </a:p>
        </p:txBody>
      </p:sp>
      <p:sp>
        <p:nvSpPr>
          <p:cNvPr id="11" name="Text 9"/>
          <p:cNvSpPr/>
          <p:nvPr/>
        </p:nvSpPr>
        <p:spPr>
          <a:xfrm>
            <a:off x="1097280" y="4937760"/>
            <a:ext cx="9631680" cy="1402080"/>
          </a:xfrm>
          <a:prstGeom prst="rect">
            <a:avLst/>
          </a:prstGeom>
          <a:noFill/>
          <a:ln/>
        </p:spPr>
        <p:txBody>
          <a:bodyPr wrap="square" lIns="0" tIns="0" rIns="0" bIns="0" rtlCol="0" anchor="t"/>
          <a:lstStyle/>
          <a:p>
            <a:pPr indent="0" marL="0">
              <a:spcAft>
                <a:spcPts val="200"/>
              </a:spcAft>
              <a:buNone/>
            </a:pPr>
            <a:r>
              <a:rPr lang="en-US" sz="1000" dirty="0">
                <a:solidFill>
                  <a:srgbClr val="0E1C42"/>
                </a:solidFill>
                <a:latin typeface="Calibri" pitchFamily="34" charset="0"/>
                <a:ea typeface="Calibri" pitchFamily="34" charset="-122"/>
                <a:cs typeface="Calibri" pitchFamily="34" charset="-120"/>
              </a:rPr>
              <a:t>1. Greet: “Hi -- welcome to my exhibit. My name is ____.”
</a:t>
            </a:r>
            <a:endParaRPr lang="en-US" sz="1000" dirty="0"/>
          </a:p>
          <a:p>
            <a:pPr indent="0" marL="0">
              <a:spcAft>
                <a:spcPts val="200"/>
              </a:spcAft>
              <a:buNone/>
            </a:pPr>
            <a:r>
              <a:rPr lang="en-US" sz="1000" dirty="0">
                <a:solidFill>
                  <a:srgbClr val="0E1C42"/>
                </a:solidFill>
                <a:latin typeface="Calibri" pitchFamily="34" charset="0"/>
                <a:ea typeface="Calibri" pitchFamily="34" charset="-122"/>
                <a:cs typeface="Calibri" pitchFamily="34" charset="-120"/>
              </a:rPr>
              <a:t>2. Map: “This map shows ____. I picked it because ____.”
</a:t>
            </a:r>
            <a:endParaRPr lang="en-US" sz="1000" dirty="0"/>
          </a:p>
          <a:p>
            <a:pPr indent="0" marL="0">
              <a:spcAft>
                <a:spcPts val="200"/>
              </a:spcAft>
              <a:buNone/>
            </a:pPr>
            <a:r>
              <a:rPr lang="en-US" sz="1000" dirty="0">
                <a:solidFill>
                  <a:srgbClr val="0E1C42"/>
                </a:solidFill>
                <a:latin typeface="Calibri" pitchFamily="34" charset="0"/>
                <a:ea typeface="Calibri" pitchFamily="34" charset="-122"/>
                <a:cs typeface="Calibri" pitchFamily="34" charset="-120"/>
              </a:rPr>
              <a:t>3. Source: “This source is ____. It shows that ____.”
</a:t>
            </a:r>
            <a:endParaRPr lang="en-US" sz="1000" dirty="0"/>
          </a:p>
          <a:p>
            <a:pPr indent="0" marL="0">
              <a:spcAft>
                <a:spcPts val="200"/>
              </a:spcAft>
              <a:buNone/>
            </a:pPr>
            <a:r>
              <a:rPr lang="en-US" sz="1000" dirty="0">
                <a:solidFill>
                  <a:srgbClr val="0E1C42"/>
                </a:solidFill>
                <a:latin typeface="Calibri" pitchFamily="34" charset="0"/>
                <a:ea typeface="Calibri" pitchFamily="34" charset="-122"/>
                <a:cs typeface="Calibri" pitchFamily="34" charset="-120"/>
              </a:rPr>
              <a:t>4. Community: “In this community, people ____, and that matters because ____.”
</a:t>
            </a:r>
            <a:endParaRPr lang="en-US" sz="1000" dirty="0"/>
          </a:p>
          <a:p>
            <a:pPr indent="0" marL="0">
              <a:buNone/>
            </a:pPr>
            <a:r>
              <a:rPr lang="en-US" sz="1000" dirty="0">
                <a:solidFill>
                  <a:srgbClr val="0E1C42"/>
                </a:solidFill>
                <a:latin typeface="Calibri" pitchFamily="34" charset="0"/>
                <a:ea typeface="Calibri" pitchFamily="34" charset="-122"/>
                <a:cs typeface="Calibri" pitchFamily="34" charset="-120"/>
              </a:rPr>
              <a:t>5. Virtue + question: “I picked the virtue of ____ because ____. Do you have any questions?”</a:t>
            </a:r>
            <a:endParaRPr lang="en-US" sz="10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FFF8F0"/>
          </a:solidFill>
          <a:ln/>
        </p:spPr>
      </p:sp>
      <p:sp>
        <p:nvSpPr>
          <p:cNvPr id="3" name="Text 1"/>
          <p:cNvSpPr/>
          <p:nvPr/>
        </p:nvSpPr>
        <p:spPr>
          <a:xfrm>
            <a:off x="853440" y="426720"/>
            <a:ext cx="8534400" cy="365760"/>
          </a:xfrm>
          <a:prstGeom prst="rect">
            <a:avLst/>
          </a:prstGeom>
          <a:noFill/>
          <a:ln/>
        </p:spPr>
        <p:txBody>
          <a:bodyPr wrap="square" lIns="0" tIns="0" rIns="0" bIns="0" rtlCol="0" anchor="ctr"/>
          <a:lstStyle/>
          <a:p>
            <a:pPr indent="0" marL="0">
              <a:buNone/>
            </a:pPr>
            <a:r>
              <a:rPr lang="en-US" sz="1100" b="1" spc="150" kern="0" dirty="0">
                <a:solidFill>
                  <a:srgbClr val="D4943A"/>
                </a:solidFill>
                <a:latin typeface="Calibri" pitchFamily="34" charset="0"/>
                <a:ea typeface="Calibri" pitchFamily="34" charset="-122"/>
                <a:cs typeface="Calibri" pitchFamily="34" charset="-120"/>
              </a:rPr>
              <a:t>CURATOR'S CHRONICLE</a:t>
            </a:r>
            <a:endParaRPr lang="en-US" sz="1100" dirty="0"/>
          </a:p>
        </p:txBody>
      </p:sp>
      <p:sp>
        <p:nvSpPr>
          <p:cNvPr id="4" name="Text 2"/>
          <p:cNvSpPr/>
          <p:nvPr/>
        </p:nvSpPr>
        <p:spPr>
          <a:xfrm>
            <a:off x="853440" y="853440"/>
            <a:ext cx="10119360" cy="670560"/>
          </a:xfrm>
          <a:prstGeom prst="rect">
            <a:avLst/>
          </a:prstGeom>
          <a:noFill/>
          <a:ln/>
        </p:spPr>
        <p:txBody>
          <a:bodyPr wrap="square" lIns="0" tIns="0" rIns="0" bIns="0" rtlCol="0" anchor="ctr"/>
          <a:lstStyle/>
          <a:p>
            <a:pPr indent="0" marL="0">
              <a:buNone/>
            </a:pPr>
            <a:r>
              <a:rPr lang="en-US" sz="2200" b="1" dirty="0">
                <a:solidFill>
                  <a:srgbClr val="0E1C42"/>
                </a:solidFill>
                <a:latin typeface="Cambria" pitchFamily="34" charset="0"/>
                <a:ea typeface="Cambria" pitchFamily="34" charset="-122"/>
                <a:cs typeface="Cambria" pitchFamily="34" charset="-120"/>
              </a:rPr>
              <a:t>One Sentence to Capture Today</a:t>
            </a:r>
            <a:endParaRPr lang="en-US" sz="2200" dirty="0"/>
          </a:p>
        </p:txBody>
      </p:sp>
      <p:sp>
        <p:nvSpPr>
          <p:cNvPr id="5" name="Shape 3"/>
          <p:cNvSpPr/>
          <p:nvPr/>
        </p:nvSpPr>
        <p:spPr>
          <a:xfrm>
            <a:off x="853440" y="1767840"/>
            <a:ext cx="10119360" cy="1402080"/>
          </a:xfrm>
          <a:prstGeom prst="roundRect">
            <a:avLst>
              <a:gd name="adj" fmla="val 10435"/>
            </a:avLst>
          </a:prstGeom>
          <a:solidFill>
            <a:srgbClr val="FFF3DC"/>
          </a:solidFill>
          <a:ln w="12700">
            <a:solidFill>
              <a:srgbClr val="D8DDEB"/>
            </a:solidFill>
            <a:prstDash val="solid"/>
          </a:ln>
        </p:spPr>
      </p:sp>
      <p:sp>
        <p:nvSpPr>
          <p:cNvPr id="6" name="Text 4"/>
          <p:cNvSpPr/>
          <p:nvPr/>
        </p:nvSpPr>
        <p:spPr>
          <a:xfrm>
            <a:off x="1097280" y="1889760"/>
            <a:ext cx="9631680" cy="365760"/>
          </a:xfrm>
          <a:prstGeom prst="rect">
            <a:avLst/>
          </a:prstGeom>
          <a:noFill/>
          <a:ln/>
        </p:spPr>
        <p:txBody>
          <a:bodyPr wrap="square" lIns="0" tIns="0" rIns="0" bIns="0" rtlCol="0" anchor="ctr"/>
          <a:lstStyle/>
          <a:p>
            <a:pPr indent="0" marL="0">
              <a:buNone/>
            </a:pPr>
            <a:r>
              <a:rPr lang="en-US" sz="1200" b="1" dirty="0">
                <a:solidFill>
                  <a:srgbClr val="D4943A"/>
                </a:solidFill>
                <a:latin typeface="Calibri" pitchFamily="34" charset="0"/>
                <a:ea typeface="Calibri" pitchFamily="34" charset="-122"/>
                <a:cs typeface="Calibri" pitchFamily="34" charset="-120"/>
              </a:rPr>
              <a:t>Finish this sentence in your own words:</a:t>
            </a:r>
            <a:endParaRPr lang="en-US" sz="1200" dirty="0"/>
          </a:p>
        </p:txBody>
      </p:sp>
      <p:sp>
        <p:nvSpPr>
          <p:cNvPr id="7" name="Text 5"/>
          <p:cNvSpPr/>
          <p:nvPr/>
        </p:nvSpPr>
        <p:spPr>
          <a:xfrm>
            <a:off x="1097280" y="2255520"/>
            <a:ext cx="9631680" cy="792480"/>
          </a:xfrm>
          <a:prstGeom prst="rect">
            <a:avLst/>
          </a:prstGeom>
          <a:noFill/>
          <a:ln/>
        </p:spPr>
        <p:txBody>
          <a:bodyPr wrap="square" lIns="0" tIns="0" rIns="0" bIns="0" rtlCol="0" anchor="ctr"/>
          <a:lstStyle/>
          <a:p>
            <a:pPr indent="0" marL="0">
              <a:buNone/>
            </a:pPr>
            <a:r>
              <a:rPr lang="en-US" sz="1600" i="1" dirty="0">
                <a:solidFill>
                  <a:srgbClr val="0E1C42"/>
                </a:solidFill>
                <a:latin typeface="Cambria" pitchFamily="34" charset="0"/>
                <a:ea typeface="Cambria" pitchFamily="34" charset="-122"/>
                <a:cs typeface="Cambria" pitchFamily="34" charset="-120"/>
              </a:rPr>
              <a:t>“In this exhibit, I learned that ______ because ______.”</a:t>
            </a:r>
            <a:endParaRPr lang="en-US" sz="1600" dirty="0"/>
          </a:p>
        </p:txBody>
      </p:sp>
      <p:sp>
        <p:nvSpPr>
          <p:cNvPr id="8" name="Text 6"/>
          <p:cNvSpPr/>
          <p:nvPr/>
        </p:nvSpPr>
        <p:spPr>
          <a:xfrm>
            <a:off x="853440" y="3474720"/>
            <a:ext cx="10119360" cy="670560"/>
          </a:xfrm>
          <a:prstGeom prst="rect">
            <a:avLst/>
          </a:prstGeom>
          <a:noFill/>
          <a:ln/>
        </p:spPr>
        <p:txBody>
          <a:bodyPr wrap="square" lIns="0" tIns="0" rIns="0" bIns="0" rtlCol="0" anchor="ctr"/>
          <a:lstStyle/>
          <a:p>
            <a:pPr indent="0" marL="0">
              <a:buNone/>
            </a:pPr>
            <a:r>
              <a:rPr lang="en-US" sz="1600" b="1" dirty="0">
                <a:solidFill>
                  <a:srgbClr val="0E1C42"/>
                </a:solidFill>
                <a:latin typeface="Cambria" pitchFamily="34" charset="0"/>
                <a:ea typeface="Cambria" pitchFamily="34" charset="-122"/>
                <a:cs typeface="Cambria" pitchFamily="34" charset="-120"/>
              </a:rPr>
              <a:t>Turn-In Checklist</a:t>
            </a:r>
            <a:endParaRPr lang="en-US" sz="1600" dirty="0"/>
          </a:p>
        </p:txBody>
      </p:sp>
      <p:sp>
        <p:nvSpPr>
          <p:cNvPr id="9" name="Text 7"/>
          <p:cNvSpPr/>
          <p:nvPr/>
        </p:nvSpPr>
        <p:spPr>
          <a:xfrm>
            <a:off x="1097280" y="3962400"/>
            <a:ext cx="9631680" cy="2438400"/>
          </a:xfrm>
          <a:prstGeom prst="rect">
            <a:avLst/>
          </a:prstGeom>
          <a:noFill/>
          <a:ln/>
        </p:spPr>
        <p:txBody>
          <a:bodyPr wrap="square" lIns="0" tIns="0" rIns="0" bIns="0" rtlCol="0" anchor="t"/>
          <a:lstStyle/>
          <a:p>
            <a:pPr marL="342900" indent="-342900">
              <a:spcAft>
                <a:spcPts val="800"/>
              </a:spcAft>
              <a:buSzPct val="100000"/>
              <a:buChar char="☑"/>
            </a:pPr>
            <a:r>
              <a:rPr lang="en-US" sz="1300" dirty="0">
                <a:solidFill>
                  <a:srgbClr val="0E1C42"/>
                </a:solidFill>
                <a:latin typeface="Calibri" pitchFamily="34" charset="0"/>
                <a:ea typeface="Calibri" pitchFamily="34" charset="-122"/>
                <a:cs typeface="Calibri" pitchFamily="34" charset="-120"/>
              </a:rPr>
              <a:t>I answered all three evidence questions honestly.</a:t>
            </a:r>
            <a:endParaRPr lang="en-US" sz="1300" dirty="0"/>
          </a:p>
          <a:p>
            <a:pPr marL="342900" indent="-342900">
              <a:spcAft>
                <a:spcPts val="800"/>
              </a:spcAft>
              <a:buSzPct val="100000"/>
              <a:buChar char="☑"/>
            </a:pPr>
            <a:r>
              <a:rPr lang="en-US" sz="1300" dirty="0">
                <a:solidFill>
                  <a:srgbClr val="0E1C42"/>
                </a:solidFill>
                <a:latin typeface="Calibri" pitchFamily="34" charset="0"/>
                <a:ea typeface="Calibri" pitchFamily="34" charset="-122"/>
                <a:cs typeface="Calibri" pitchFamily="34" charset="-120"/>
              </a:rPr>
              <a:t>I wrote my walk-through script using all five steps.</a:t>
            </a:r>
            <a:endParaRPr lang="en-US" sz="1300" dirty="0"/>
          </a:p>
          <a:p>
            <a:pPr marL="342900" indent="-342900">
              <a:spcAft>
                <a:spcPts val="800"/>
              </a:spcAft>
              <a:buSzPct val="100000"/>
              <a:buChar char="☑"/>
            </a:pPr>
            <a:r>
              <a:rPr lang="en-US" sz="1300" dirty="0">
                <a:solidFill>
                  <a:srgbClr val="0E1C42"/>
                </a:solidFill>
                <a:latin typeface="Calibri" pitchFamily="34" charset="0"/>
                <a:ea typeface="Calibri" pitchFamily="34" charset="-122"/>
                <a:cs typeface="Calibri" pitchFamily="34" charset="-120"/>
              </a:rPr>
              <a:t>I wrote my Curator's Chronicle.</a:t>
            </a:r>
            <a:endParaRPr lang="en-US" sz="1300" dirty="0"/>
          </a:p>
          <a:p>
            <a:pPr marL="342900" indent="-342900">
              <a:spcAft>
                <a:spcPts val="800"/>
              </a:spcAft>
              <a:buSzPct val="100000"/>
              <a:buChar char="☑"/>
            </a:pPr>
            <a:r>
              <a:rPr lang="en-US" sz="1300" dirty="0">
                <a:solidFill>
                  <a:srgbClr val="0E1C42"/>
                </a:solidFill>
                <a:latin typeface="Calibri" pitchFamily="34" charset="0"/>
                <a:ea typeface="Calibri" pitchFamily="34" charset="-122"/>
                <a:cs typeface="Calibri" pitchFamily="34" charset="-120"/>
              </a:rPr>
              <a:t>I copied or downloaded my work and submitted to Canvas.</a:t>
            </a:r>
            <a:endParaRPr lang="en-US" sz="13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B1835"/>
          </a:solidFill>
          <a:ln w="19050">
            <a:solidFill>
              <a:srgbClr val="3A5080"/>
            </a:solidFill>
            <a:prstDash val="dash"/>
          </a:ln>
        </p:spPr>
      </p:sp>
      <p:sp>
        <p:nvSpPr>
          <p:cNvPr id="3" name="Shape 1"/>
          <p:cNvSpPr/>
          <p:nvPr/>
        </p:nvSpPr>
        <p:spPr>
          <a:xfrm>
            <a:off x="0" y="0"/>
            <a:ext cx="12191695" cy="6858000"/>
          </a:xfrm>
          <a:prstGeom prst="rect">
            <a:avLst/>
          </a:prstGeom>
          <a:solidFill>
            <a:srgbClr val="0E1C42">
              <a:alpha val="62000"/>
            </a:srgbClr>
          </a:solidFill>
          <a:ln/>
        </p:spPr>
      </p:sp>
      <p:sp>
        <p:nvSpPr>
          <p:cNvPr id="5" name="Text 2"/>
          <p:cNvSpPr/>
          <p:nvPr/>
        </p:nvSpPr>
        <p:spPr>
          <a:xfrm>
            <a:off x="853440" y="731520"/>
            <a:ext cx="10485120" cy="731520"/>
          </a:xfrm>
          <a:prstGeom prst="rect">
            <a:avLst/>
          </a:prstGeom>
          <a:noFill/>
          <a:ln/>
        </p:spPr>
        <p:txBody>
          <a:bodyPr wrap="square" rtlCol="0" anchor="ctr"/>
          <a:lstStyle/>
          <a:p>
            <a:pPr indent="0" marL="0">
              <a:buNone/>
            </a:pPr>
            <a:r>
              <a:rPr lang="en-US" sz="2800" b="1" dirty="0">
                <a:solidFill>
                  <a:srgbClr val="FFFFFF"/>
                </a:solidFill>
                <a:latin typeface="Cambria" pitchFamily="34" charset="0"/>
                <a:ea typeface="Cambria" pitchFamily="34" charset="-122"/>
                <a:cs typeface="Cambria" pitchFamily="34" charset="-120"/>
              </a:rPr>
              <a:t>Nice Work, Museum Guide!</a:t>
            </a:r>
            <a:endParaRPr lang="en-US" sz="2800" dirty="0"/>
          </a:p>
        </p:txBody>
      </p:sp>
      <p:sp>
        <p:nvSpPr>
          <p:cNvPr id="6" name="Shape 3"/>
          <p:cNvSpPr/>
          <p:nvPr/>
        </p:nvSpPr>
        <p:spPr>
          <a:xfrm>
            <a:off x="853440" y="1706880"/>
            <a:ext cx="10119360" cy="2316480"/>
          </a:xfrm>
          <a:prstGeom prst="roundRect">
            <a:avLst>
              <a:gd name="adj" fmla="val 6316"/>
            </a:avLst>
          </a:prstGeom>
          <a:solidFill>
            <a:srgbClr val="132759"/>
          </a:solidFill>
          <a:ln w="12700">
            <a:solidFill>
              <a:srgbClr val="D8DDEB"/>
            </a:solidFill>
            <a:prstDash val="solid"/>
          </a:ln>
        </p:spPr>
      </p:sp>
      <p:sp>
        <p:nvSpPr>
          <p:cNvPr id="7" name="Text 4"/>
          <p:cNvSpPr/>
          <p:nvPr/>
        </p:nvSpPr>
        <p:spPr>
          <a:xfrm>
            <a:off x="1158240" y="1889760"/>
            <a:ext cx="9509760" cy="1950720"/>
          </a:xfrm>
          <a:prstGeom prst="rect">
            <a:avLst/>
          </a:prstGeom>
          <a:noFill/>
          <a:ln/>
        </p:spPr>
        <p:txBody>
          <a:bodyPr wrap="square" lIns="0" tIns="0" rIns="0" bIns="0" rtlCol="0" anchor="t"/>
          <a:lstStyle/>
          <a:p>
            <a:pPr indent="0" marL="0">
              <a:buNone/>
            </a:pPr>
            <a:r>
              <a:rPr lang="en-US" sz="1400" i="1" dirty="0">
                <a:solidFill>
                  <a:srgbClr val="FFFFFF"/>
                </a:solidFill>
                <a:latin typeface="Cambria" pitchFamily="34" charset="0"/>
                <a:ea typeface="Cambria" pitchFamily="34" charset="-122"/>
                <a:cs typeface="Cambria" pitchFamily="34" charset="-120"/>
              </a:rPr>
              <a:t>Visitors stopped at your panel today. Some asked questions you couldn't answer perfectly — and that was okay. You told them what you knew honestly, and they left with a real understanding of your exhibit.</a:t>
            </a:r>
            <a:endParaRPr lang="en-US" sz="1400" dirty="0"/>
          </a:p>
        </p:txBody>
      </p:sp>
      <p:sp>
        <p:nvSpPr>
          <p:cNvPr id="8" name="Text 5"/>
          <p:cNvSpPr/>
          <p:nvPr/>
        </p:nvSpPr>
        <p:spPr>
          <a:xfrm>
            <a:off x="853440" y="4328160"/>
            <a:ext cx="7315200" cy="365760"/>
          </a:xfrm>
          <a:prstGeom prst="rect">
            <a:avLst/>
          </a:prstGeom>
          <a:noFill/>
          <a:ln/>
        </p:spPr>
        <p:txBody>
          <a:bodyPr wrap="square" lIns="0" tIns="0" rIns="0" bIns="0" rtlCol="0" anchor="ctr"/>
          <a:lstStyle/>
          <a:p>
            <a:pPr indent="0" marL="0">
              <a:buNone/>
            </a:pPr>
            <a:r>
              <a:rPr lang="en-US" sz="1100" b="1" spc="150" kern="0" dirty="0">
                <a:solidFill>
                  <a:srgbClr val="D4943A"/>
                </a:solidFill>
                <a:latin typeface="Calibri" pitchFamily="34" charset="0"/>
                <a:ea typeface="Calibri" pitchFamily="34" charset="-122"/>
                <a:cs typeface="Calibri" pitchFamily="34" charset="-120"/>
              </a:rPr>
              <a:t>COMING NEXT</a:t>
            </a:r>
            <a:endParaRPr lang="en-US" sz="1100" dirty="0"/>
          </a:p>
        </p:txBody>
      </p:sp>
      <p:sp>
        <p:nvSpPr>
          <p:cNvPr id="9" name="Text 6"/>
          <p:cNvSpPr/>
          <p:nvPr/>
        </p:nvSpPr>
        <p:spPr>
          <a:xfrm>
            <a:off x="853440" y="4754880"/>
            <a:ext cx="10119360" cy="1341120"/>
          </a:xfrm>
          <a:prstGeom prst="rect">
            <a:avLst/>
          </a:prstGeom>
          <a:noFill/>
          <a:ln/>
        </p:spPr>
        <p:txBody>
          <a:bodyPr wrap="square" lIns="0" tIns="0" rIns="0" bIns="0" rtlCol="0" anchor="t"/>
          <a:lstStyle/>
          <a:p>
            <a:pPr indent="0" marL="0">
              <a:buNone/>
            </a:pPr>
            <a:r>
              <a:rPr lang="en-US" sz="1500" i="1" dirty="0">
                <a:solidFill>
                  <a:srgbClr val="55C8E8"/>
                </a:solidFill>
                <a:latin typeface="Cambria" pitchFamily="34" charset="0"/>
                <a:ea typeface="Cambria" pitchFamily="34" charset="-122"/>
                <a:cs typeface="Cambria" pitchFamily="34" charset="-120"/>
              </a:rPr>
              <a:t>“Tomorrow is the last lesson of the year. The museum opens to the whole community. I have something to tell every Exhibit Designer before we unlock those doors.”</a:t>
            </a:r>
            <a:endParaRPr lang="en-US" sz="15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22</Slides>
  <Notes>22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22</vt:i4>
      </vt:variant>
    </vt:vector>
  </HeadingPairs>
  <TitlesOfParts>
    <vt:vector size="2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Optima Academy Online</dc:creator>
  <cp:lastModifiedBy>Optima Academy Online</cp:lastModifiedBy>
  <cp:revision>1</cp:revision>
  <dcterms:created xsi:type="dcterms:W3CDTF">2026-07-11T19:28:51Z</dcterms:created>
  <dcterms:modified xsi:type="dcterms:W3CDTF">2026-07-11T19:28:51Z</dcterms:modified>
</cp:coreProperties>
</file>