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Dramatic aerial photo of Colorado River winding through desert canyon at sunset, deep blue water against red rock wallsTitle slide. IMAGE TO INSERT: Dramatic aerial photo of the Colorado River winding through desert canyon at sunset. Introduce the Council Chamber lesson -- today students weigh evidence about fresh water across U.S.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Council chamber table with five chairs labeled with region names, a FRESH WATER card in the centerHook slide. The Council Chamber is convened. A FRESH WATER card sits in the center of the table. Five seats represent the five U.S. regions. Students will use evidence from their Regions Gallery study to argue which region needs fresh water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Abstract background -- deep navy with soft light suggesting truth and clarityVirtue: Honesty. In the Council Chamber, students must follow evidence honestly. They should not just pick the answer that sounds dramatic -- they should weigh the data. Three steps: Notice all the evidence, Name what it shows, Narrate reasoning so others can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Northeast water evidence. This region is generally water-rich with many rivers, lakes, and adequate rainfall. Atlantic coastline. Not facing major water shortages. Students should note: not a strong candidate for the Council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Southeast water evidence. Good rainfall, Gulf and Atlantic access. Some saltwater intrusion into groundwater is a minor issue. Overall water-rich -- not a top candidate for the Council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Midwest water evidence. The Great Lakes alone hold 21% of the world's fresh surface water. Mississippi River system adds more. Eastern Midwest has adequate rainfall. Western Plains are drier but not desert-level. Not the most urgent candidate.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Southwest water evidence -- the DRIEST region. Sonoran and Chihuahuan deserts, very little rain. Colorado River and Rio Grande are the main sources but both are overused and under stress. Phoenix and Las Vegas are major desert cities still growing. This is the strongest candidate for the Council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West region water evidence. Very mixed picture. PNW is rain-abundant. But California's Central Valley grows food for the entire country and depends on snowmelt irrigation -- droughts are increasing. Water problems here affect everyone who eats. A real contender alongside the Southwest.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Council Vote slide. Two perspectives presented side by side. Perspective A: Southwest -- driest, overused Colorado River, desert cities growing. Perspective B: West/California -- grows food for the nation, droughts devastating, affects everyone. Students choose and explain using evidence. Emphasize honest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Study slide. Students examine a photograph of the Colorado River in the Southwest desert. They should notice: low water levels, dry cracked banks, bare red rock, little vegetation. Guide them to read the landscape as evidence for their Council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and Now comparison. THEN: Native Southwest peoples (like the Hohokam) built sophisticated canal systems to irrigate desert land -- engineering that worked for centuries. NOW: Modern dams, canals, and pipelines do the same thing on a larger scale. The core idea is identical: move water from where it is to where people need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Evidence Shows. Most experts agree the Southwest (Colorado River Basin) faces the most urgent water needs. But the West/California is a real concern too -- farmland feeding the nation depends on increasingly unreliable water. Honest evidence can point multiple directions. A good thinker holds that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Exhibit Label summary. Five region cards showing water status at a glance: NE and SE water-rich, Midwest mostly rich, Southwest critically dry, West mixed. Maps and data help answer who has water and who needs it. The Council Chamber models evidence-based decision 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 Says -- philosophical thinking prompt. Is water a resource like coal or corn? You can grow more corn. You can dig for more coal. But fresh water has to rain down -- you cannot make more. You can only move it, save it, or share it. This connects to the Council Chamber discussion and previews the economics unit on scarcity.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Q1. What makes the Southwest most at risk? Answer: B -- Driest region, deserts, limited rivers that are overused. A is wrong (Southwest does NOT have the longest coastline). C is wrong (too many lakes is not the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Q2. The Council Chamber routine asks you to... Answer: B -- Weigh evidence and make a recommendation. A is wrong (not about memorizing). C is wrong (the point is honest evidence-based reasoning, not guessing what the teacher wants).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Q3. What is the BIG question connecting to the next unit? Answer: B -- When resources are limited, how do people decide what to do? This connects the geography synthesis to the upcoming economics unit on scarcity and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slide with exact wording from the HTML. Three evidence questions about the Southeast region (note: these are carried over from the HTML template). Plus a Curator Task asking students to write 3-4 sentences about the Southeast for museum visitors.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Curator's Chronicle reflection. Students complete: In this exhibit, I learned that ______ because ______. Encourage them to reflect on what surprised them about water distribution, whether the evidence changed their thinking, and how they would explain the importance of water to someone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Wide shot of desert canyon at twilight transitioning to warm market lights, symbolic of moving from geography to economicsClosing slide. Synthesis 2 is complete. Preview the next unit: Marketplace Hall (economics/scarcity). The big question: When resources are limited, how do people decide what to do? Students transition from geography evidence to economic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1219200" y="1463040"/>
            <a:ext cx="9753600" cy="9753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Council Chamber</a:t>
            </a:r>
            <a:endParaRPr lang="en-US" sz="4400" dirty="0"/>
          </a:p>
        </p:txBody>
      </p:sp>
      <p:sp>
        <p:nvSpPr>
          <p:cNvPr id="6" name="Text 3"/>
          <p:cNvSpPr/>
          <p:nvPr/>
        </p:nvSpPr>
        <p:spPr>
          <a:xfrm>
            <a:off x="1219200" y="2438400"/>
            <a:ext cx="9753600" cy="731520"/>
          </a:xfrm>
          <a:prstGeom prst="rect">
            <a:avLst/>
          </a:prstGeom>
          <a:noFill/>
          <a:ln/>
        </p:spPr>
        <p:txBody>
          <a:bodyPr wrap="square" lIns="0" tIns="0" rIns="0" bIns="0" rtlCol="0" anchor="ctr"/>
          <a:lstStyle/>
          <a:p>
            <a:pPr indent="0" marL="0">
              <a:buNone/>
            </a:pPr>
            <a:r>
              <a:rPr lang="en-US" sz="2800" i="1" dirty="0">
                <a:solidFill>
                  <a:srgbClr val="55C8E8"/>
                </a:solidFill>
                <a:latin typeface="Cambria" pitchFamily="34" charset="0"/>
                <a:ea typeface="Cambria" pitchFamily="34" charset="-122"/>
                <a:cs typeface="Cambria" pitchFamily="34" charset="-120"/>
              </a:rPr>
              <a:t>Which Region Needs This Resource?</a:t>
            </a:r>
            <a:endParaRPr lang="en-US" sz="2800" dirty="0"/>
          </a:p>
        </p:txBody>
      </p:sp>
      <p:sp>
        <p:nvSpPr>
          <p:cNvPr id="7" name="Shape 4"/>
          <p:cNvSpPr/>
          <p:nvPr/>
        </p:nvSpPr>
        <p:spPr>
          <a:xfrm>
            <a:off x="1219200" y="3352800"/>
            <a:ext cx="3048000" cy="48768"/>
          </a:xfrm>
          <a:prstGeom prst="rect">
            <a:avLst/>
          </a:prstGeom>
          <a:solidFill>
            <a:srgbClr val="D4943A"/>
          </a:solidFill>
          <a:ln/>
        </p:spPr>
      </p:sp>
      <p:sp>
        <p:nvSpPr>
          <p:cNvPr id="8" name="Text 5"/>
          <p:cNvSpPr/>
          <p:nvPr/>
        </p:nvSpPr>
        <p:spPr>
          <a:xfrm>
            <a:off x="1219200" y="3657600"/>
            <a:ext cx="9753600" cy="426720"/>
          </a:xfrm>
          <a:prstGeom prst="rect">
            <a:avLst/>
          </a:prstGeom>
          <a:noFill/>
          <a:ln/>
        </p:spPr>
        <p:txBody>
          <a:bodyPr wrap="square" lIns="0" tIns="0" rIns="0" bIns="0" rtlCol="0" anchor="ctr"/>
          <a:lstStyle/>
          <a:p>
            <a:pPr indent="0" marL="0">
              <a:buNone/>
            </a:pPr>
            <a:r>
              <a:rPr lang="en-US" sz="1400" dirty="0">
                <a:solidFill>
                  <a:srgbClr val="7A88A8"/>
                </a:solidFill>
                <a:latin typeface="Calibri" pitchFamily="34" charset="0"/>
                <a:ea typeface="Calibri" pitchFamily="34" charset="-122"/>
                <a:cs typeface="Calibri" pitchFamily="34" charset="-120"/>
              </a:rPr>
              <a:t>Lesson 3.08.02  |  Week 23  |  The Regional Council</a:t>
            </a:r>
            <a:endParaRPr lang="en-US" sz="1400" dirty="0"/>
          </a:p>
        </p:txBody>
      </p:sp>
      <p:sp>
        <p:nvSpPr>
          <p:cNvPr id="9" name="Text 6"/>
          <p:cNvSpPr/>
          <p:nvPr/>
        </p:nvSpPr>
        <p:spPr>
          <a:xfrm>
            <a:off x="1219200" y="4267200"/>
            <a:ext cx="9753600" cy="731520"/>
          </a:xfrm>
          <a:prstGeom prst="rect">
            <a:avLst/>
          </a:prstGeom>
          <a:noFill/>
          <a:ln/>
        </p:spPr>
        <p:txBody>
          <a:bodyPr wrap="square" lIns="0" tIns="0" rIns="0" bIns="0" rtlCol="0" anchor="ctr"/>
          <a:lstStyle/>
          <a:p>
            <a:pPr indent="0" marL="0">
              <a:lnSpc>
                <a:spcPts val="1800"/>
              </a:lnSpc>
              <a:buNone/>
            </a:pPr>
            <a:r>
              <a:rPr lang="en-US" sz="1100" dirty="0">
                <a:solidFill>
                  <a:srgbClr val="6A78A0"/>
                </a:solidFill>
                <a:latin typeface="Calibri" pitchFamily="34" charset="0"/>
                <a:ea typeface="Calibri" pitchFamily="34" charset="-122"/>
                <a:cs typeface="Calibri" pitchFamily="34" charset="-120"/>
              </a:rPr>
              <a:t>SS.3.G.2.2 | SS.3.G.2.6 | SS.3.G.3.1 | SS.3.G.3.2</a:t>
            </a:r>
            <a:endParaRPr lang="en-US" sz="1100" dirty="0"/>
          </a:p>
          <a:p>
            <a:pPr indent="0" marL="0">
              <a:lnSpc>
                <a:spcPts val="1800"/>
              </a:lnSpc>
              <a:buNone/>
            </a:pPr>
            <a:r>
              <a:rPr lang="en-US" sz="1100" dirty="0">
                <a:solidFill>
                  <a:srgbClr val="6A78A0"/>
                </a:solidFill>
                <a:latin typeface="Calibri" pitchFamily="34" charset="0"/>
                <a:ea typeface="Calibri" pitchFamily="34" charset="-122"/>
                <a:cs typeface="Calibri" pitchFamily="34" charset="-120"/>
              </a:rPr>
              <a:t>SS.3.G.4.1 | SS.3.G.4.4</a:t>
            </a:r>
            <a:endParaRPr lang="en-US" sz="1100" dirty="0"/>
          </a:p>
        </p:txBody>
      </p:sp>
      <p:sp>
        <p:nvSpPr>
          <p:cNvPr id="10" name="Text 7"/>
          <p:cNvSpPr/>
          <p:nvPr/>
        </p:nvSpPr>
        <p:spPr>
          <a:xfrm>
            <a:off x="1219200" y="5242560"/>
            <a:ext cx="4876800" cy="365760"/>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Grade 3 Social Studies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1219200" y="731520"/>
            <a:ext cx="9753600" cy="42672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COUNCIL CONVENED</a:t>
            </a:r>
            <a:endParaRPr lang="en-US" sz="1100" dirty="0"/>
          </a:p>
        </p:txBody>
      </p:sp>
      <p:sp>
        <p:nvSpPr>
          <p:cNvPr id="6" name="Text 3"/>
          <p:cNvSpPr/>
          <p:nvPr/>
        </p:nvSpPr>
        <p:spPr>
          <a:xfrm>
            <a:off x="1219200" y="1219200"/>
            <a:ext cx="97536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Regional Council Is Called to Order</a:t>
            </a:r>
            <a:endParaRPr lang="en-US" sz="3200" dirty="0"/>
          </a:p>
        </p:txBody>
      </p:sp>
      <p:sp>
        <p:nvSpPr>
          <p:cNvPr id="7" name="Shape 4"/>
          <p:cNvSpPr/>
          <p:nvPr/>
        </p:nvSpPr>
        <p:spPr>
          <a:xfrm>
            <a:off x="3901440" y="2438400"/>
            <a:ext cx="4389120" cy="1463040"/>
          </a:xfrm>
          <a:prstGeom prst="roundRect">
            <a:avLst>
              <a:gd name="adj" fmla="val 7500"/>
            </a:avLst>
          </a:prstGeom>
          <a:solidFill>
            <a:srgbClr val="1A2D5A"/>
          </a:solidFill>
          <a:ln/>
          <a:effectLst>
            <a:outerShdw sx="100000" sy="100000" kx="0" ky="0" algn="bl" rotWithShape="0" blurRad="127000" dist="50800" dir="8100000">
              <a:srgbClr val="000000">
                <a:alpha val="30000"/>
              </a:srgbClr>
            </a:outerShdw>
          </a:effectLst>
        </p:spPr>
      </p:sp>
      <p:sp>
        <p:nvSpPr>
          <p:cNvPr id="8" name="Text 5"/>
          <p:cNvSpPr/>
          <p:nvPr/>
        </p:nvSpPr>
        <p:spPr>
          <a:xfrm>
            <a:off x="3901440" y="2621280"/>
            <a:ext cx="4389120" cy="609600"/>
          </a:xfrm>
          <a:prstGeom prst="rect">
            <a:avLst/>
          </a:prstGeom>
          <a:noFill/>
          <a:ln/>
        </p:spPr>
        <p:txBody>
          <a:bodyPr wrap="square" lIns="0" tIns="0" rIns="0" bIns="0" rtlCol="0" anchor="ctr"/>
          <a:lstStyle/>
          <a:p>
            <a:pPr algn="ctr" indent="0" marL="0">
              <a:buNone/>
            </a:pPr>
            <a:r>
              <a:rPr lang="en-US" sz="2800" b="1" dirty="0">
                <a:solidFill>
                  <a:srgbClr val="55C8E8"/>
                </a:solidFill>
                <a:latin typeface="Cambria" pitchFamily="34" charset="0"/>
                <a:ea typeface="Cambria" pitchFamily="34" charset="-122"/>
                <a:cs typeface="Cambria" pitchFamily="34" charset="-120"/>
              </a:rPr>
              <a:t>FRESH WATER</a:t>
            </a:r>
            <a:endParaRPr lang="en-US" sz="2800" dirty="0"/>
          </a:p>
        </p:txBody>
      </p:sp>
      <p:sp>
        <p:nvSpPr>
          <p:cNvPr id="9" name="Text 6"/>
          <p:cNvSpPr/>
          <p:nvPr/>
        </p:nvSpPr>
        <p:spPr>
          <a:xfrm>
            <a:off x="3901440" y="3291840"/>
            <a:ext cx="4389120" cy="365760"/>
          </a:xfrm>
          <a:prstGeom prst="rect">
            <a:avLst/>
          </a:prstGeom>
          <a:noFill/>
          <a:ln/>
        </p:spPr>
        <p:txBody>
          <a:bodyPr wrap="square" lIns="0" tIns="0" rIns="0" bIns="0" rtlCol="0" anchor="ctr"/>
          <a:lstStyle/>
          <a:p>
            <a:pPr algn="ctr" indent="0" marL="0">
              <a:buNone/>
            </a:pPr>
            <a:r>
              <a:rPr lang="en-US" sz="1200" dirty="0">
                <a:solidFill>
                  <a:srgbClr val="7A88A8"/>
                </a:solidFill>
                <a:latin typeface="Calibri" pitchFamily="34" charset="0"/>
                <a:ea typeface="Calibri" pitchFamily="34" charset="-122"/>
                <a:cs typeface="Calibri" pitchFamily="34" charset="-120"/>
              </a:rPr>
              <a:t>Resource Card</a:t>
            </a:r>
            <a:endParaRPr lang="en-US" sz="1200" dirty="0"/>
          </a:p>
        </p:txBody>
      </p:sp>
      <p:sp>
        <p:nvSpPr>
          <p:cNvPr id="10" name="Shape 7"/>
          <p:cNvSpPr/>
          <p:nvPr/>
        </p:nvSpPr>
        <p:spPr>
          <a:xfrm>
            <a:off x="1219200" y="4267200"/>
            <a:ext cx="9753600" cy="1950720"/>
          </a:xfrm>
          <a:prstGeom prst="roundRect">
            <a:avLst>
              <a:gd name="adj" fmla="val 5625"/>
            </a:avLst>
          </a:prstGeom>
          <a:solidFill>
            <a:srgbClr val="FFF3DC"/>
          </a:solidFill>
          <a:ln w="19050">
            <a:solidFill>
              <a:srgbClr val="F5E6C8"/>
            </a:solidFill>
            <a:prstDash val="solid"/>
          </a:ln>
        </p:spPr>
      </p:sp>
      <p:sp>
        <p:nvSpPr>
          <p:cNvPr id="11" name="Text 8"/>
          <p:cNvSpPr/>
          <p:nvPr/>
        </p:nvSpPr>
        <p:spPr>
          <a:xfrm>
            <a:off x="1356360" y="4322064"/>
            <a:ext cx="9479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9"/>
          <p:cNvSpPr/>
          <p:nvPr/>
        </p:nvSpPr>
        <p:spPr>
          <a:xfrm>
            <a:off x="1356360" y="4523232"/>
            <a:ext cx="9479280" cy="16306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"Yesterday you gathered evidence about every region. Today the Council has one question: Which region needs this resource most?"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"Five seats around the table. Five regions. One card: FRESH WATER."</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is why we built the Regions Gallery. Now it is time to use what we know."</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1219200" y="731520"/>
            <a:ext cx="9753600" cy="426720"/>
          </a:xfrm>
          <a:prstGeom prst="rect">
            <a:avLst/>
          </a:prstGeom>
          <a:noFill/>
          <a:ln/>
        </p:spPr>
        <p:txBody>
          <a:bodyPr wrap="square" lIns="0" tIns="0" rIns="0" bIns="0" rtlCol="0" anchor="ctr"/>
          <a:lstStyle/>
          <a:p>
            <a:pPr indent="0" marL="0">
              <a:buNone/>
            </a:pPr>
            <a:r>
              <a:rPr lang="en-US" sz="1100" b="1" spc="200" kern="0" dirty="0">
                <a:solidFill>
                  <a:srgbClr val="D4943A"/>
                </a:solidFill>
                <a:latin typeface="Calibri" pitchFamily="34" charset="0"/>
                <a:ea typeface="Calibri" pitchFamily="34" charset="-122"/>
                <a:cs typeface="Calibri" pitchFamily="34" charset="-120"/>
              </a:rPr>
              <a:t>VIRTUE SPOTLIGHT</a:t>
            </a:r>
            <a:endParaRPr lang="en-US" sz="1100" dirty="0"/>
          </a:p>
        </p:txBody>
      </p:sp>
      <p:sp>
        <p:nvSpPr>
          <p:cNvPr id="6" name="Text 3"/>
          <p:cNvSpPr/>
          <p:nvPr/>
        </p:nvSpPr>
        <p:spPr>
          <a:xfrm>
            <a:off x="1219200" y="1341120"/>
            <a:ext cx="9753600" cy="8534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Honesty</a:t>
            </a:r>
            <a:endParaRPr lang="en-US" sz="4000" dirty="0"/>
          </a:p>
        </p:txBody>
      </p:sp>
      <p:sp>
        <p:nvSpPr>
          <p:cNvPr id="7" name="Shape 4"/>
          <p:cNvSpPr/>
          <p:nvPr/>
        </p:nvSpPr>
        <p:spPr>
          <a:xfrm>
            <a:off x="1219200" y="2255520"/>
            <a:ext cx="1828800" cy="48768"/>
          </a:xfrm>
          <a:prstGeom prst="rect">
            <a:avLst/>
          </a:prstGeom>
          <a:solidFill>
            <a:srgbClr val="D4943A"/>
          </a:solidFill>
          <a:ln/>
        </p:spPr>
      </p:sp>
      <p:sp>
        <p:nvSpPr>
          <p:cNvPr id="8" name="Text 5"/>
          <p:cNvSpPr/>
          <p:nvPr/>
        </p:nvSpPr>
        <p:spPr>
          <a:xfrm>
            <a:off x="1219200" y="2560320"/>
            <a:ext cx="9144000" cy="609600"/>
          </a:xfrm>
          <a:prstGeom prst="rect">
            <a:avLst/>
          </a:prstGeom>
          <a:noFill/>
          <a:ln/>
        </p:spPr>
        <p:txBody>
          <a:bodyPr wrap="square" lIns="0" tIns="0" rIns="0" bIns="0" rtlCol="0" anchor="ctr"/>
          <a:lstStyle/>
          <a:p>
            <a:pPr indent="0" marL="0">
              <a:buNone/>
            </a:pPr>
            <a:r>
              <a:rPr lang="en-US" sz="2000" i="1" dirty="0">
                <a:solidFill>
                  <a:srgbClr val="55C8E8"/>
                </a:solidFill>
                <a:latin typeface="Cambria" pitchFamily="34" charset="0"/>
                <a:ea typeface="Cambria" pitchFamily="34" charset="-122"/>
                <a:cs typeface="Cambria" pitchFamily="34" charset="-120"/>
              </a:rPr>
              <a:t>Follow the evidence, even when the answer is complicated.</a:t>
            </a:r>
            <a:endParaRPr lang="en-US" sz="2000" dirty="0"/>
          </a:p>
        </p:txBody>
      </p:sp>
      <p:sp>
        <p:nvSpPr>
          <p:cNvPr id="9" name="Shape 6"/>
          <p:cNvSpPr/>
          <p:nvPr/>
        </p:nvSpPr>
        <p:spPr>
          <a:xfrm>
            <a:off x="1219200" y="3535680"/>
            <a:ext cx="9144000" cy="670560"/>
          </a:xfrm>
          <a:prstGeom prst="roundRect">
            <a:avLst>
              <a:gd name="adj" fmla="val 10909"/>
            </a:avLst>
          </a:prstGeom>
          <a:solidFill>
            <a:srgbClr val="1A2D5A"/>
          </a:solidFill>
          <a:ln/>
        </p:spPr>
      </p:sp>
      <p:sp>
        <p:nvSpPr>
          <p:cNvPr id="10" name="Text 7"/>
          <p:cNvSpPr/>
          <p:nvPr/>
        </p:nvSpPr>
        <p:spPr>
          <a:xfrm>
            <a:off x="1463040" y="3535680"/>
            <a:ext cx="1463040" cy="670560"/>
          </a:xfrm>
          <a:prstGeom prst="rect">
            <a:avLst/>
          </a:prstGeom>
          <a:noFill/>
          <a:ln/>
        </p:spPr>
        <p:txBody>
          <a:bodyPr wrap="square" lIns="0" tIns="0" rIns="0" bIns="0" rtlCol="0" anchor="ctr"/>
          <a:lstStyle/>
          <a:p>
            <a:pPr indent="0" marL="0">
              <a:buNone/>
            </a:pPr>
            <a:r>
              <a:rPr lang="en-US" sz="1300" b="1" spc="150" kern="0" dirty="0">
                <a:solidFill>
                  <a:srgbClr val="D4943A"/>
                </a:solidFill>
                <a:latin typeface="Calibri" pitchFamily="34" charset="0"/>
                <a:ea typeface="Calibri" pitchFamily="34" charset="-122"/>
                <a:cs typeface="Calibri" pitchFamily="34" charset="-120"/>
              </a:rPr>
              <a:t>NOTICE</a:t>
            </a:r>
            <a:endParaRPr lang="en-US" sz="1300" dirty="0"/>
          </a:p>
        </p:txBody>
      </p:sp>
      <p:sp>
        <p:nvSpPr>
          <p:cNvPr id="11" name="Text 8"/>
          <p:cNvSpPr/>
          <p:nvPr/>
        </p:nvSpPr>
        <p:spPr>
          <a:xfrm>
            <a:off x="3048000" y="3535680"/>
            <a:ext cx="7071360" cy="670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Look at all the evidence, not just the parts that support your first idea.</a:t>
            </a:r>
            <a:endParaRPr lang="en-US" sz="1300" dirty="0"/>
          </a:p>
        </p:txBody>
      </p:sp>
      <p:sp>
        <p:nvSpPr>
          <p:cNvPr id="12" name="Shape 9"/>
          <p:cNvSpPr/>
          <p:nvPr/>
        </p:nvSpPr>
        <p:spPr>
          <a:xfrm>
            <a:off x="1219200" y="4328160"/>
            <a:ext cx="9144000" cy="670560"/>
          </a:xfrm>
          <a:prstGeom prst="roundRect">
            <a:avLst>
              <a:gd name="adj" fmla="val 10909"/>
            </a:avLst>
          </a:prstGeom>
          <a:solidFill>
            <a:srgbClr val="1A2D5A"/>
          </a:solidFill>
          <a:ln/>
        </p:spPr>
      </p:sp>
      <p:sp>
        <p:nvSpPr>
          <p:cNvPr id="13" name="Text 10"/>
          <p:cNvSpPr/>
          <p:nvPr/>
        </p:nvSpPr>
        <p:spPr>
          <a:xfrm>
            <a:off x="1463040" y="4328160"/>
            <a:ext cx="1463040" cy="670560"/>
          </a:xfrm>
          <a:prstGeom prst="rect">
            <a:avLst/>
          </a:prstGeom>
          <a:noFill/>
          <a:ln/>
        </p:spPr>
        <p:txBody>
          <a:bodyPr wrap="square" lIns="0" tIns="0" rIns="0" bIns="0" rtlCol="0" anchor="ctr"/>
          <a:lstStyle/>
          <a:p>
            <a:pPr indent="0" marL="0">
              <a:buNone/>
            </a:pPr>
            <a:r>
              <a:rPr lang="en-US" sz="1300" b="1" spc="150" kern="0" dirty="0">
                <a:solidFill>
                  <a:srgbClr val="D4943A"/>
                </a:solidFill>
                <a:latin typeface="Calibri" pitchFamily="34" charset="0"/>
                <a:ea typeface="Calibri" pitchFamily="34" charset="-122"/>
                <a:cs typeface="Calibri" pitchFamily="34" charset="-120"/>
              </a:rPr>
              <a:t>NAME</a:t>
            </a:r>
            <a:endParaRPr lang="en-US" sz="1300" dirty="0"/>
          </a:p>
        </p:txBody>
      </p:sp>
      <p:sp>
        <p:nvSpPr>
          <p:cNvPr id="14" name="Text 11"/>
          <p:cNvSpPr/>
          <p:nvPr/>
        </p:nvSpPr>
        <p:spPr>
          <a:xfrm>
            <a:off x="3048000" y="4328160"/>
            <a:ext cx="7071360" cy="670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Say what the data actually shows, even if it surprises you.</a:t>
            </a:r>
            <a:endParaRPr lang="en-US" sz="1300" dirty="0"/>
          </a:p>
        </p:txBody>
      </p:sp>
      <p:sp>
        <p:nvSpPr>
          <p:cNvPr id="15" name="Shape 12"/>
          <p:cNvSpPr/>
          <p:nvPr/>
        </p:nvSpPr>
        <p:spPr>
          <a:xfrm>
            <a:off x="1219200" y="5120640"/>
            <a:ext cx="9144000" cy="670560"/>
          </a:xfrm>
          <a:prstGeom prst="roundRect">
            <a:avLst>
              <a:gd name="adj" fmla="val 10909"/>
            </a:avLst>
          </a:prstGeom>
          <a:solidFill>
            <a:srgbClr val="1A2D5A"/>
          </a:solidFill>
          <a:ln/>
        </p:spPr>
      </p:sp>
      <p:sp>
        <p:nvSpPr>
          <p:cNvPr id="16" name="Text 13"/>
          <p:cNvSpPr/>
          <p:nvPr/>
        </p:nvSpPr>
        <p:spPr>
          <a:xfrm>
            <a:off x="1463040" y="5120640"/>
            <a:ext cx="1463040" cy="670560"/>
          </a:xfrm>
          <a:prstGeom prst="rect">
            <a:avLst/>
          </a:prstGeom>
          <a:noFill/>
          <a:ln/>
        </p:spPr>
        <p:txBody>
          <a:bodyPr wrap="square" lIns="0" tIns="0" rIns="0" bIns="0" rtlCol="0" anchor="ctr"/>
          <a:lstStyle/>
          <a:p>
            <a:pPr indent="0" marL="0">
              <a:buNone/>
            </a:pPr>
            <a:r>
              <a:rPr lang="en-US" sz="1300" b="1" spc="150" kern="0" dirty="0">
                <a:solidFill>
                  <a:srgbClr val="D4943A"/>
                </a:solidFill>
                <a:latin typeface="Calibri" pitchFamily="34" charset="0"/>
                <a:ea typeface="Calibri" pitchFamily="34" charset="-122"/>
                <a:cs typeface="Calibri" pitchFamily="34" charset="-120"/>
              </a:rPr>
              <a:t>NARRATE</a:t>
            </a:r>
            <a:endParaRPr lang="en-US" sz="1300" dirty="0"/>
          </a:p>
        </p:txBody>
      </p:sp>
      <p:sp>
        <p:nvSpPr>
          <p:cNvPr id="17" name="Text 14"/>
          <p:cNvSpPr/>
          <p:nvPr/>
        </p:nvSpPr>
        <p:spPr>
          <a:xfrm>
            <a:off x="3048000" y="5120640"/>
            <a:ext cx="7071360" cy="670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Explain your reasoning honestly so others can check your thinking.</a:t>
            </a:r>
            <a:endParaRPr lang="en-US" sz="1300" dirty="0"/>
          </a:p>
        </p:txBody>
      </p:sp>
      <p:sp>
        <p:nvSpPr>
          <p:cNvPr id="18" name="Text 15"/>
          <p:cNvSpPr/>
          <p:nvPr/>
        </p:nvSpPr>
        <p:spPr>
          <a:xfrm>
            <a:off x="1219200" y="5974080"/>
            <a:ext cx="9144000" cy="365760"/>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Do not pick what sounds good -- pick what evidence supports.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4876800" cy="36576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WATER EVIDENCE</a:t>
            </a:r>
            <a:endParaRPr lang="en-US" sz="1000" dirty="0"/>
          </a:p>
        </p:txBody>
      </p:sp>
      <p:sp>
        <p:nvSpPr>
          <p:cNvPr id="4" name="Text 2"/>
          <p:cNvSpPr/>
          <p:nvPr/>
        </p:nvSpPr>
        <p:spPr>
          <a:xfrm>
            <a:off x="609600" y="731520"/>
            <a:ext cx="6096000" cy="60960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Northeast Region</a:t>
            </a:r>
            <a:endParaRPr lang="en-US" sz="3000" dirty="0"/>
          </a:p>
        </p:txBody>
      </p:sp>
      <p:sp>
        <p:nvSpPr>
          <p:cNvPr id="5" name="Shape 3"/>
          <p:cNvSpPr/>
          <p:nvPr/>
        </p:nvSpPr>
        <p:spPr>
          <a:xfrm>
            <a:off x="6705600" y="487680"/>
            <a:ext cx="4876800" cy="3413760"/>
          </a:xfrm>
          <a:prstGeom prst="roundRect">
            <a:avLst>
              <a:gd name="adj" fmla="val 3214"/>
            </a:avLst>
          </a:prstGeom>
          <a:solidFill>
            <a:srgbClr val="E2E8F4"/>
          </a:solidFill>
          <a:ln w="19050">
            <a:solidFill>
              <a:srgbClr val="B0B8CC"/>
            </a:solidFill>
            <a:prstDash val="dash"/>
          </a:ln>
        </p:spPr>
      </p:sp>
      <p:sp>
        <p:nvSpPr>
          <p:cNvPr id="6" name="Text 4"/>
          <p:cNvSpPr/>
          <p:nvPr/>
        </p:nvSpPr>
        <p:spPr>
          <a:xfrm>
            <a:off x="6705600" y="487680"/>
            <a:ext cx="48768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6888480" y="853440"/>
            <a:ext cx="4511040" cy="2956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Map of Northeast region with rivers and lakes highlighted, Atlantic coastline visible</a:t>
            </a:r>
            <a:endParaRPr lang="en-US" sz="1100" dirty="0"/>
          </a:p>
        </p:txBody>
      </p:sp>
      <p:sp>
        <p:nvSpPr>
          <p:cNvPr id="8" name="Shape 6"/>
          <p:cNvSpPr/>
          <p:nvPr/>
        </p:nvSpPr>
        <p:spPr>
          <a:xfrm>
            <a:off x="609600" y="1828800"/>
            <a:ext cx="5852160" cy="2682240"/>
          </a:xfrm>
          <a:prstGeom prst="roundRect">
            <a:avLst>
              <a:gd name="adj" fmla="val 4091"/>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682752" y="1901952"/>
            <a:ext cx="365760" cy="365760"/>
          </a:xfrm>
          <a:prstGeom prst="roundRect">
            <a:avLst>
              <a:gd name="adj" fmla="val 20000"/>
            </a:avLst>
          </a:prstGeom>
          <a:solidFill>
            <a:srgbClr val="1A8A7D"/>
          </a:solidFill>
          <a:ln/>
        </p:spPr>
      </p:sp>
      <p:sp>
        <p:nvSpPr>
          <p:cNvPr id="10" name="Text 8"/>
          <p:cNvSpPr/>
          <p:nvPr/>
        </p:nvSpPr>
        <p:spPr>
          <a:xfrm>
            <a:off x="682752" y="1901952"/>
            <a:ext cx="365760" cy="36576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1139952" y="1901952"/>
            <a:ext cx="5212080" cy="36576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Water Status: Generally Water-Rich</a:t>
            </a:r>
            <a:endParaRPr lang="en-US" sz="1600" dirty="0"/>
          </a:p>
        </p:txBody>
      </p:sp>
      <p:sp>
        <p:nvSpPr>
          <p:cNvPr id="12" name="Text 10"/>
          <p:cNvSpPr/>
          <p:nvPr/>
        </p:nvSpPr>
        <p:spPr>
          <a:xfrm>
            <a:off x="792480" y="2331720"/>
            <a:ext cx="5486400" cy="20878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Atlantic coastline provides access to ocean (saltwater)</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Many rivers and lakes throughout the region</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Adequate rainfall year-round</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Not a region facing major water shortages</a:t>
            </a:r>
            <a:endParaRPr lang="en-US" sz="1200" dirty="0"/>
          </a:p>
        </p:txBody>
      </p:sp>
      <p:sp>
        <p:nvSpPr>
          <p:cNvPr id="13" name="Shape 11"/>
          <p:cNvSpPr/>
          <p:nvPr/>
        </p:nvSpPr>
        <p:spPr>
          <a:xfrm>
            <a:off x="609600" y="4876800"/>
            <a:ext cx="10972800" cy="731520"/>
          </a:xfrm>
          <a:prstGeom prst="roundRect">
            <a:avLst>
              <a:gd name="adj" fmla="val 10000"/>
            </a:avLst>
          </a:prstGeom>
          <a:solidFill>
            <a:srgbClr val="E3F8ED"/>
          </a:solidFill>
          <a:ln/>
        </p:spPr>
      </p:sp>
      <p:sp>
        <p:nvSpPr>
          <p:cNvPr id="14" name="Text 12"/>
          <p:cNvSpPr/>
          <p:nvPr/>
        </p:nvSpPr>
        <p:spPr>
          <a:xfrm>
            <a:off x="853440" y="4876800"/>
            <a:ext cx="10485120" cy="731520"/>
          </a:xfrm>
          <a:prstGeom prst="rect">
            <a:avLst/>
          </a:prstGeom>
          <a:noFill/>
          <a:ln/>
        </p:spPr>
        <p:txBody>
          <a:bodyPr wrap="square" lIns="0" tIns="0" rIns="0" bIns="0" rtlCol="0" anchor="ctr"/>
          <a:lstStyle/>
          <a:p>
            <a:pPr indent="0" marL="0">
              <a:buNone/>
            </a:pPr>
            <a:r>
              <a:rPr lang="en-US" sz="1300" dirty="0">
                <a:solidFill>
                  <a:srgbClr val="1B6B3A"/>
                </a:solidFill>
                <a:latin typeface="Calibri" pitchFamily="34" charset="0"/>
                <a:ea typeface="Calibri" pitchFamily="34" charset="-122"/>
                <a:cs typeface="Calibri" pitchFamily="34" charset="-120"/>
              </a:rPr>
              <a:t>VERDICT:  The Northeast has plenty of fresh water. Not a strong candidate for urgent need.</a:t>
            </a:r>
            <a:endParaRPr lang="en-US" sz="1300" dirty="0"/>
          </a:p>
        </p:txBody>
      </p:sp>
      <p:sp>
        <p:nvSpPr>
          <p:cNvPr id="15" name="Text 13"/>
          <p:cNvSpPr/>
          <p:nvPr/>
        </p:nvSpPr>
        <p:spPr>
          <a:xfrm>
            <a:off x="609600" y="6400800"/>
            <a:ext cx="3657600" cy="304800"/>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
        <p:nvSpPr>
          <p:cNvPr id="16" name="Text 14"/>
          <p:cNvSpPr/>
          <p:nvPr/>
        </p:nvSpPr>
        <p:spPr>
          <a:xfrm>
            <a:off x="7924800" y="6400800"/>
            <a:ext cx="3657600" cy="3048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Lesson 3.08.02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4876800" cy="36576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WATER EVIDENCE</a:t>
            </a:r>
            <a:endParaRPr lang="en-US" sz="1000" dirty="0"/>
          </a:p>
        </p:txBody>
      </p:sp>
      <p:sp>
        <p:nvSpPr>
          <p:cNvPr id="4" name="Text 2"/>
          <p:cNvSpPr/>
          <p:nvPr/>
        </p:nvSpPr>
        <p:spPr>
          <a:xfrm>
            <a:off x="609600" y="731520"/>
            <a:ext cx="6096000" cy="60960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Southeast Region</a:t>
            </a:r>
            <a:endParaRPr lang="en-US" sz="3000" dirty="0"/>
          </a:p>
        </p:txBody>
      </p:sp>
      <p:sp>
        <p:nvSpPr>
          <p:cNvPr id="5" name="Shape 3"/>
          <p:cNvSpPr/>
          <p:nvPr/>
        </p:nvSpPr>
        <p:spPr>
          <a:xfrm>
            <a:off x="6705600" y="487680"/>
            <a:ext cx="4876800" cy="3413760"/>
          </a:xfrm>
          <a:prstGeom prst="roundRect">
            <a:avLst>
              <a:gd name="adj" fmla="val 3214"/>
            </a:avLst>
          </a:prstGeom>
          <a:solidFill>
            <a:srgbClr val="E2E8F4"/>
          </a:solidFill>
          <a:ln w="19050">
            <a:solidFill>
              <a:srgbClr val="B0B8CC"/>
            </a:solidFill>
            <a:prstDash val="dash"/>
          </a:ln>
        </p:spPr>
      </p:sp>
      <p:sp>
        <p:nvSpPr>
          <p:cNvPr id="6" name="Text 4"/>
          <p:cNvSpPr/>
          <p:nvPr/>
        </p:nvSpPr>
        <p:spPr>
          <a:xfrm>
            <a:off x="6705600" y="487680"/>
            <a:ext cx="48768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6888480" y="853440"/>
            <a:ext cx="4511040" cy="2956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Map of Southeast region showing Gulf and Atlantic coastlines, rivers, wetlands</a:t>
            </a:r>
            <a:endParaRPr lang="en-US" sz="1100" dirty="0"/>
          </a:p>
        </p:txBody>
      </p:sp>
      <p:sp>
        <p:nvSpPr>
          <p:cNvPr id="8" name="Shape 6"/>
          <p:cNvSpPr/>
          <p:nvPr/>
        </p:nvSpPr>
        <p:spPr>
          <a:xfrm>
            <a:off x="609600" y="1828800"/>
            <a:ext cx="5852160" cy="2682240"/>
          </a:xfrm>
          <a:prstGeom prst="roundRect">
            <a:avLst>
              <a:gd name="adj" fmla="val 4091"/>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682752" y="1901952"/>
            <a:ext cx="365760" cy="365760"/>
          </a:xfrm>
          <a:prstGeom prst="roundRect">
            <a:avLst>
              <a:gd name="adj" fmla="val 20000"/>
            </a:avLst>
          </a:prstGeom>
          <a:solidFill>
            <a:srgbClr val="1A8A7D"/>
          </a:solidFill>
          <a:ln/>
        </p:spPr>
      </p:sp>
      <p:sp>
        <p:nvSpPr>
          <p:cNvPr id="10" name="Text 8"/>
          <p:cNvSpPr/>
          <p:nvPr/>
        </p:nvSpPr>
        <p:spPr>
          <a:xfrm>
            <a:off x="682752" y="1901952"/>
            <a:ext cx="365760" cy="36576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1139952" y="1901952"/>
            <a:ext cx="5212080" cy="36576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Water Status: Generally Water-Rich</a:t>
            </a:r>
            <a:endParaRPr lang="en-US" sz="1600" dirty="0"/>
          </a:p>
        </p:txBody>
      </p:sp>
      <p:sp>
        <p:nvSpPr>
          <p:cNvPr id="12" name="Text 10"/>
          <p:cNvSpPr/>
          <p:nvPr/>
        </p:nvSpPr>
        <p:spPr>
          <a:xfrm>
            <a:off x="792480" y="2331720"/>
            <a:ext cx="5486400" cy="20878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Gulf of Mexico and Atlantic coastline (saltwater)</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Good rainfall throughout the year</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Some areas face saltwater intrusion into fresh groundwater</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Overall, not a water-scarce region</a:t>
            </a:r>
            <a:endParaRPr lang="en-US" sz="1200" dirty="0"/>
          </a:p>
        </p:txBody>
      </p:sp>
      <p:sp>
        <p:nvSpPr>
          <p:cNvPr id="13" name="Shape 11"/>
          <p:cNvSpPr/>
          <p:nvPr/>
        </p:nvSpPr>
        <p:spPr>
          <a:xfrm>
            <a:off x="609600" y="4876800"/>
            <a:ext cx="10972800" cy="731520"/>
          </a:xfrm>
          <a:prstGeom prst="roundRect">
            <a:avLst>
              <a:gd name="adj" fmla="val 10000"/>
            </a:avLst>
          </a:prstGeom>
          <a:solidFill>
            <a:srgbClr val="E3F8ED"/>
          </a:solidFill>
          <a:ln/>
        </p:spPr>
      </p:sp>
      <p:sp>
        <p:nvSpPr>
          <p:cNvPr id="14" name="Text 12"/>
          <p:cNvSpPr/>
          <p:nvPr/>
        </p:nvSpPr>
        <p:spPr>
          <a:xfrm>
            <a:off x="853440" y="4876800"/>
            <a:ext cx="10485120" cy="731520"/>
          </a:xfrm>
          <a:prstGeom prst="rect">
            <a:avLst/>
          </a:prstGeom>
          <a:noFill/>
          <a:ln/>
        </p:spPr>
        <p:txBody>
          <a:bodyPr wrap="square" lIns="0" tIns="0" rIns="0" bIns="0" rtlCol="0" anchor="ctr"/>
          <a:lstStyle/>
          <a:p>
            <a:pPr indent="0" marL="0">
              <a:buNone/>
            </a:pPr>
            <a:r>
              <a:rPr lang="en-US" sz="1300" dirty="0">
                <a:solidFill>
                  <a:srgbClr val="1B6B3A"/>
                </a:solidFill>
                <a:latin typeface="Calibri" pitchFamily="34" charset="0"/>
                <a:ea typeface="Calibri" pitchFamily="34" charset="-122"/>
                <a:cs typeface="Calibri" pitchFamily="34" charset="-120"/>
              </a:rPr>
              <a:t>VERDICT:  The Southeast has good rainfall and water access. Minor challenges, not urgent.</a:t>
            </a:r>
            <a:endParaRPr lang="en-US" sz="1300" dirty="0"/>
          </a:p>
        </p:txBody>
      </p:sp>
      <p:sp>
        <p:nvSpPr>
          <p:cNvPr id="15" name="Text 13"/>
          <p:cNvSpPr/>
          <p:nvPr/>
        </p:nvSpPr>
        <p:spPr>
          <a:xfrm>
            <a:off x="609600" y="6400800"/>
            <a:ext cx="3657600" cy="304800"/>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
        <p:nvSpPr>
          <p:cNvPr id="16" name="Text 14"/>
          <p:cNvSpPr/>
          <p:nvPr/>
        </p:nvSpPr>
        <p:spPr>
          <a:xfrm>
            <a:off x="7924800" y="6400800"/>
            <a:ext cx="3657600" cy="3048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Lesson 3.08.02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4876800" cy="36576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WATER EVIDENCE</a:t>
            </a:r>
            <a:endParaRPr lang="en-US" sz="1000" dirty="0"/>
          </a:p>
        </p:txBody>
      </p:sp>
      <p:sp>
        <p:nvSpPr>
          <p:cNvPr id="4" name="Text 2"/>
          <p:cNvSpPr/>
          <p:nvPr/>
        </p:nvSpPr>
        <p:spPr>
          <a:xfrm>
            <a:off x="609600" y="731520"/>
            <a:ext cx="6096000" cy="60960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Midwest Region</a:t>
            </a:r>
            <a:endParaRPr lang="en-US" sz="3000" dirty="0"/>
          </a:p>
        </p:txBody>
      </p:sp>
      <p:sp>
        <p:nvSpPr>
          <p:cNvPr id="5" name="Shape 3"/>
          <p:cNvSpPr/>
          <p:nvPr/>
        </p:nvSpPr>
        <p:spPr>
          <a:xfrm>
            <a:off x="6705600" y="487680"/>
            <a:ext cx="4876800" cy="3413760"/>
          </a:xfrm>
          <a:prstGeom prst="roundRect">
            <a:avLst>
              <a:gd name="adj" fmla="val 3214"/>
            </a:avLst>
          </a:prstGeom>
          <a:solidFill>
            <a:srgbClr val="E2E8F4"/>
          </a:solidFill>
          <a:ln w="19050">
            <a:solidFill>
              <a:srgbClr val="B0B8CC"/>
            </a:solidFill>
            <a:prstDash val="dash"/>
          </a:ln>
        </p:spPr>
      </p:sp>
      <p:sp>
        <p:nvSpPr>
          <p:cNvPr id="6" name="Text 4"/>
          <p:cNvSpPr/>
          <p:nvPr/>
        </p:nvSpPr>
        <p:spPr>
          <a:xfrm>
            <a:off x="6705600" y="487680"/>
            <a:ext cx="48768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6888480" y="853440"/>
            <a:ext cx="4511040" cy="2956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Map of Midwest region highlighting Great Lakes and Mississippi River system</a:t>
            </a:r>
            <a:endParaRPr lang="en-US" sz="1100" dirty="0"/>
          </a:p>
        </p:txBody>
      </p:sp>
      <p:sp>
        <p:nvSpPr>
          <p:cNvPr id="8" name="Shape 6"/>
          <p:cNvSpPr/>
          <p:nvPr/>
        </p:nvSpPr>
        <p:spPr>
          <a:xfrm>
            <a:off x="609600" y="1828800"/>
            <a:ext cx="5852160" cy="2682240"/>
          </a:xfrm>
          <a:prstGeom prst="roundRect">
            <a:avLst>
              <a:gd name="adj" fmla="val 4091"/>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682752" y="1901952"/>
            <a:ext cx="365760" cy="365760"/>
          </a:xfrm>
          <a:prstGeom prst="roundRect">
            <a:avLst>
              <a:gd name="adj" fmla="val 20000"/>
            </a:avLst>
          </a:prstGeom>
          <a:solidFill>
            <a:srgbClr val="2E86AB"/>
          </a:solidFill>
          <a:ln/>
        </p:spPr>
      </p:sp>
      <p:sp>
        <p:nvSpPr>
          <p:cNvPr id="10" name="Text 8"/>
          <p:cNvSpPr/>
          <p:nvPr/>
        </p:nvSpPr>
        <p:spPr>
          <a:xfrm>
            <a:off x="682752" y="1901952"/>
            <a:ext cx="365760" cy="36576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1139952" y="1901952"/>
            <a:ext cx="5212080" cy="36576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Water Status: Mixed -- Mostly Rich</a:t>
            </a:r>
            <a:endParaRPr lang="en-US" sz="1600" dirty="0"/>
          </a:p>
        </p:txBody>
      </p:sp>
      <p:sp>
        <p:nvSpPr>
          <p:cNvPr id="12" name="Text 10"/>
          <p:cNvSpPr/>
          <p:nvPr/>
        </p:nvSpPr>
        <p:spPr>
          <a:xfrm>
            <a:off x="792480" y="2331720"/>
            <a:ext cx="5486400" cy="20878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Great Lakes hold 21% of the world's fresh surface water</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Mississippi River system runs through the region</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Eastern Midwest gets adequate rainfall</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Western Plains are drier -- but still not desert-dry</a:t>
            </a:r>
            <a:endParaRPr lang="en-US" sz="1200" dirty="0"/>
          </a:p>
        </p:txBody>
      </p:sp>
      <p:sp>
        <p:nvSpPr>
          <p:cNvPr id="13" name="Shape 11"/>
          <p:cNvSpPr/>
          <p:nvPr/>
        </p:nvSpPr>
        <p:spPr>
          <a:xfrm>
            <a:off x="609600" y="4693920"/>
            <a:ext cx="3413760" cy="1219200"/>
          </a:xfrm>
          <a:prstGeom prst="roundRect">
            <a:avLst>
              <a:gd name="adj" fmla="val 7500"/>
            </a:avLst>
          </a:prstGeom>
          <a:solidFill>
            <a:srgbClr val="EAF8FD"/>
          </a:solidFill>
          <a:ln/>
        </p:spPr>
      </p:sp>
      <p:sp>
        <p:nvSpPr>
          <p:cNvPr id="14" name="Text 12"/>
          <p:cNvSpPr/>
          <p:nvPr/>
        </p:nvSpPr>
        <p:spPr>
          <a:xfrm>
            <a:off x="609600" y="4693920"/>
            <a:ext cx="3413760"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mbria" pitchFamily="34" charset="0"/>
                <a:ea typeface="Cambria" pitchFamily="34" charset="-122"/>
                <a:cs typeface="Cambria" pitchFamily="34" charset="-120"/>
              </a:rPr>
              <a:t>21%</a:t>
            </a:r>
            <a:endParaRPr lang="en-US" sz="3600" dirty="0"/>
          </a:p>
        </p:txBody>
      </p:sp>
      <p:sp>
        <p:nvSpPr>
          <p:cNvPr id="15" name="Text 13"/>
          <p:cNvSpPr/>
          <p:nvPr/>
        </p:nvSpPr>
        <p:spPr>
          <a:xfrm>
            <a:off x="609600" y="5364480"/>
            <a:ext cx="3413760" cy="548640"/>
          </a:xfrm>
          <a:prstGeom prst="rect">
            <a:avLst/>
          </a:prstGeom>
          <a:noFill/>
          <a:ln/>
        </p:spPr>
        <p:txBody>
          <a:bodyPr wrap="square" lIns="0" tIns="0" rIns="0" bIns="0" rtlCol="0" anchor="ctr"/>
          <a:lstStyle/>
          <a:p>
            <a:pPr algn="ctr" indent="0" marL="0">
              <a:buNone/>
            </a:pPr>
            <a:r>
              <a:rPr lang="en-US" sz="1000" dirty="0">
                <a:solidFill>
                  <a:srgbClr val="0E1C42"/>
                </a:solidFill>
                <a:latin typeface="Calibri" pitchFamily="34" charset="0"/>
                <a:ea typeface="Calibri" pitchFamily="34" charset="-122"/>
                <a:cs typeface="Calibri" pitchFamily="34" charset="-120"/>
              </a:rPr>
              <a:t>of world's fresh surface water</a:t>
            </a:r>
            <a:endParaRPr lang="en-US" sz="1000" dirty="0"/>
          </a:p>
          <a:p>
            <a:pPr algn="ctr" indent="0" marL="0">
              <a:buNone/>
            </a:pPr>
            <a:r>
              <a:rPr lang="en-US" sz="1000" dirty="0">
                <a:solidFill>
                  <a:srgbClr val="0E1C42"/>
                </a:solidFill>
                <a:latin typeface="Calibri" pitchFamily="34" charset="0"/>
                <a:ea typeface="Calibri" pitchFamily="34" charset="-122"/>
                <a:cs typeface="Calibri" pitchFamily="34" charset="-120"/>
              </a:rPr>
              <a:t>is in the Great Lakes</a:t>
            </a:r>
            <a:endParaRPr lang="en-US" sz="1000" dirty="0"/>
          </a:p>
        </p:txBody>
      </p:sp>
      <p:sp>
        <p:nvSpPr>
          <p:cNvPr id="16" name="Shape 14"/>
          <p:cNvSpPr/>
          <p:nvPr/>
        </p:nvSpPr>
        <p:spPr>
          <a:xfrm>
            <a:off x="4389120" y="4693920"/>
            <a:ext cx="7193280" cy="731520"/>
          </a:xfrm>
          <a:prstGeom prst="roundRect">
            <a:avLst>
              <a:gd name="adj" fmla="val 10000"/>
            </a:avLst>
          </a:prstGeom>
          <a:solidFill>
            <a:srgbClr val="E3F8ED"/>
          </a:solidFill>
          <a:ln/>
        </p:spPr>
      </p:sp>
      <p:sp>
        <p:nvSpPr>
          <p:cNvPr id="17" name="Text 15"/>
          <p:cNvSpPr/>
          <p:nvPr/>
        </p:nvSpPr>
        <p:spPr>
          <a:xfrm>
            <a:off x="4632960" y="4693920"/>
            <a:ext cx="6705600" cy="731520"/>
          </a:xfrm>
          <a:prstGeom prst="rect">
            <a:avLst/>
          </a:prstGeom>
          <a:noFill/>
          <a:ln/>
        </p:spPr>
        <p:txBody>
          <a:bodyPr wrap="square" lIns="0" tIns="0" rIns="0" bIns="0" rtlCol="0" anchor="ctr"/>
          <a:lstStyle/>
          <a:p>
            <a:pPr indent="0" marL="0">
              <a:buNone/>
            </a:pPr>
            <a:r>
              <a:rPr lang="en-US" sz="1200" dirty="0">
                <a:solidFill>
                  <a:srgbClr val="1B6B3A"/>
                </a:solidFill>
                <a:latin typeface="Calibri" pitchFamily="34" charset="0"/>
                <a:ea typeface="Calibri" pitchFamily="34" charset="-122"/>
                <a:cs typeface="Calibri" pitchFamily="34" charset="-120"/>
              </a:rPr>
              <a:t>VERDICT:  The Midwest is home to enormous freshwater reserves. Western Plains are drier, but not in crisis.</a:t>
            </a:r>
            <a:endParaRPr lang="en-US" sz="1200" dirty="0"/>
          </a:p>
        </p:txBody>
      </p:sp>
      <p:sp>
        <p:nvSpPr>
          <p:cNvPr id="18" name="Text 16"/>
          <p:cNvSpPr/>
          <p:nvPr/>
        </p:nvSpPr>
        <p:spPr>
          <a:xfrm>
            <a:off x="609600" y="6400800"/>
            <a:ext cx="3657600" cy="304800"/>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
        <p:nvSpPr>
          <p:cNvPr id="19" name="Text 17"/>
          <p:cNvSpPr/>
          <p:nvPr/>
        </p:nvSpPr>
        <p:spPr>
          <a:xfrm>
            <a:off x="7924800" y="6400800"/>
            <a:ext cx="3657600" cy="3048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Lesson 3.08.02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8F0"/>
          </a:solidFill>
          <a:ln/>
        </p:spPr>
      </p:sp>
      <p:sp>
        <p:nvSpPr>
          <p:cNvPr id="3" name="Text 1"/>
          <p:cNvSpPr/>
          <p:nvPr/>
        </p:nvSpPr>
        <p:spPr>
          <a:xfrm>
            <a:off x="609600" y="365760"/>
            <a:ext cx="4876800" cy="365760"/>
          </a:xfrm>
          <a:prstGeom prst="rect">
            <a:avLst/>
          </a:prstGeom>
          <a:noFill/>
          <a:ln/>
        </p:spPr>
        <p:txBody>
          <a:bodyPr wrap="square" lIns="0" tIns="0" rIns="0" bIns="0" rtlCol="0" anchor="ctr"/>
          <a:lstStyle/>
          <a:p>
            <a:pPr indent="0" marL="0">
              <a:buNone/>
            </a:pPr>
            <a:r>
              <a:rPr lang="en-US" sz="1000" b="1" spc="200" kern="0" dirty="0">
                <a:solidFill>
                  <a:srgbClr val="E8636B"/>
                </a:solidFill>
                <a:latin typeface="Calibri" pitchFamily="34" charset="0"/>
                <a:ea typeface="Calibri" pitchFamily="34" charset="-122"/>
                <a:cs typeface="Calibri" pitchFamily="34" charset="-120"/>
              </a:rPr>
              <a:t>WATER EVIDENCE</a:t>
            </a:r>
            <a:endParaRPr lang="en-US" sz="1000" dirty="0"/>
          </a:p>
        </p:txBody>
      </p:sp>
      <p:sp>
        <p:nvSpPr>
          <p:cNvPr id="4" name="Text 2"/>
          <p:cNvSpPr/>
          <p:nvPr/>
        </p:nvSpPr>
        <p:spPr>
          <a:xfrm>
            <a:off x="609600" y="731520"/>
            <a:ext cx="6096000" cy="60960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Southwest Region</a:t>
            </a:r>
            <a:endParaRPr lang="en-US" sz="3000" dirty="0"/>
          </a:p>
        </p:txBody>
      </p:sp>
      <p:sp>
        <p:nvSpPr>
          <p:cNvPr id="5" name="Shape 3"/>
          <p:cNvSpPr/>
          <p:nvPr/>
        </p:nvSpPr>
        <p:spPr>
          <a:xfrm>
            <a:off x="6827520" y="792480"/>
            <a:ext cx="1950720" cy="487680"/>
          </a:xfrm>
          <a:prstGeom prst="roundRect">
            <a:avLst>
              <a:gd name="adj" fmla="val 28125"/>
            </a:avLst>
          </a:prstGeom>
          <a:solidFill>
            <a:srgbClr val="E8636B"/>
          </a:solidFill>
          <a:ln/>
        </p:spPr>
      </p:sp>
      <p:sp>
        <p:nvSpPr>
          <p:cNvPr id="6" name="Text 4"/>
          <p:cNvSpPr/>
          <p:nvPr/>
        </p:nvSpPr>
        <p:spPr>
          <a:xfrm>
            <a:off x="6827520" y="792480"/>
            <a:ext cx="1950720" cy="487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DRIEST</a:t>
            </a:r>
            <a:endParaRPr lang="en-US" sz="1400" dirty="0"/>
          </a:p>
        </p:txBody>
      </p:sp>
      <p:sp>
        <p:nvSpPr>
          <p:cNvPr id="7" name="Shape 5"/>
          <p:cNvSpPr/>
          <p:nvPr/>
        </p:nvSpPr>
        <p:spPr>
          <a:xfrm>
            <a:off x="6705600" y="1463040"/>
            <a:ext cx="4876800" cy="3048000"/>
          </a:xfrm>
          <a:prstGeom prst="roundRect">
            <a:avLst>
              <a:gd name="adj" fmla="val 3600"/>
            </a:avLst>
          </a:prstGeom>
          <a:solidFill>
            <a:srgbClr val="E2E8F4"/>
          </a:solidFill>
          <a:ln w="19050">
            <a:solidFill>
              <a:srgbClr val="B0B8CC"/>
            </a:solidFill>
            <a:prstDash val="dash"/>
          </a:ln>
        </p:spPr>
      </p:sp>
      <p:sp>
        <p:nvSpPr>
          <p:cNvPr id="8" name="Text 6"/>
          <p:cNvSpPr/>
          <p:nvPr/>
        </p:nvSpPr>
        <p:spPr>
          <a:xfrm>
            <a:off x="6705600" y="1463040"/>
            <a:ext cx="48768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6888480" y="1828800"/>
            <a:ext cx="4511040" cy="25908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 of Colorado River running through arid desert canyon -- low water level visible, cracked dry banks</a:t>
            </a:r>
            <a:endParaRPr lang="en-US" sz="1100" dirty="0"/>
          </a:p>
        </p:txBody>
      </p:sp>
      <p:sp>
        <p:nvSpPr>
          <p:cNvPr id="10" name="Shape 8"/>
          <p:cNvSpPr/>
          <p:nvPr/>
        </p:nvSpPr>
        <p:spPr>
          <a:xfrm>
            <a:off x="609600" y="1584960"/>
            <a:ext cx="5852160" cy="3048000"/>
          </a:xfrm>
          <a:prstGeom prst="roundRect">
            <a:avLst>
              <a:gd name="adj" fmla="val 3600"/>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682752" y="1658112"/>
            <a:ext cx="365760" cy="365760"/>
          </a:xfrm>
          <a:prstGeom prst="roundRect">
            <a:avLst>
              <a:gd name="adj" fmla="val 20000"/>
            </a:avLst>
          </a:prstGeom>
          <a:solidFill>
            <a:srgbClr val="E8636B"/>
          </a:solidFill>
          <a:ln/>
        </p:spPr>
      </p:sp>
      <p:sp>
        <p:nvSpPr>
          <p:cNvPr id="12" name="Text 10"/>
          <p:cNvSpPr/>
          <p:nvPr/>
        </p:nvSpPr>
        <p:spPr>
          <a:xfrm>
            <a:off x="682752" y="1658112"/>
            <a:ext cx="365760" cy="36576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1139952" y="1658112"/>
            <a:ext cx="5212080" cy="36576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Water Status: Critically Dry</a:t>
            </a:r>
            <a:endParaRPr lang="en-US" sz="1600" dirty="0"/>
          </a:p>
        </p:txBody>
      </p:sp>
      <p:sp>
        <p:nvSpPr>
          <p:cNvPr id="14" name="Text 12"/>
          <p:cNvSpPr/>
          <p:nvPr/>
        </p:nvSpPr>
        <p:spPr>
          <a:xfrm>
            <a:off x="792480" y="2087880"/>
            <a:ext cx="5486400" cy="24536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Sonoran and Chihuahuan deserts -- very little rain</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Colorado River is the main water source, but it is overused</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Rio Grande also under stress</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Phoenix and Las Vegas are major cities in the desert, still growing</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Millions of people depend on rivers that do not have enough water</a:t>
            </a:r>
            <a:endParaRPr lang="en-US" sz="1200" dirty="0"/>
          </a:p>
        </p:txBody>
      </p:sp>
      <p:sp>
        <p:nvSpPr>
          <p:cNvPr id="15" name="Shape 13"/>
          <p:cNvSpPr/>
          <p:nvPr/>
        </p:nvSpPr>
        <p:spPr>
          <a:xfrm>
            <a:off x="609600" y="4998720"/>
            <a:ext cx="10972800" cy="731520"/>
          </a:xfrm>
          <a:prstGeom prst="roundRect">
            <a:avLst>
              <a:gd name="adj" fmla="val 10000"/>
            </a:avLst>
          </a:prstGeom>
          <a:solidFill>
            <a:srgbClr val="FDEAEA"/>
          </a:solidFill>
          <a:ln/>
        </p:spPr>
      </p:sp>
      <p:sp>
        <p:nvSpPr>
          <p:cNvPr id="16" name="Text 14"/>
          <p:cNvSpPr/>
          <p:nvPr/>
        </p:nvSpPr>
        <p:spPr>
          <a:xfrm>
            <a:off x="853440" y="4998720"/>
            <a:ext cx="10485120" cy="731520"/>
          </a:xfrm>
          <a:prstGeom prst="rect">
            <a:avLst/>
          </a:prstGeom>
          <a:noFill/>
          <a:ln/>
        </p:spPr>
        <p:txBody>
          <a:bodyPr wrap="square" lIns="0" tIns="0" rIns="0" bIns="0" rtlCol="0" anchor="ctr"/>
          <a:lstStyle/>
          <a:p>
            <a:pPr indent="0" marL="0">
              <a:buNone/>
            </a:pPr>
            <a:r>
              <a:rPr lang="en-US" sz="1300" b="1" dirty="0">
                <a:solidFill>
                  <a:srgbClr val="A83232"/>
                </a:solidFill>
                <a:latin typeface="Calibri" pitchFamily="34" charset="0"/>
                <a:ea typeface="Calibri" pitchFamily="34" charset="-122"/>
                <a:cs typeface="Calibri" pitchFamily="34" charset="-120"/>
              </a:rPr>
              <a:t>VERDICT:  The Southwest faces the most urgent fresh water challenges of any U.S. region.</a:t>
            </a:r>
            <a:endParaRPr lang="en-US" sz="1300" dirty="0"/>
          </a:p>
        </p:txBody>
      </p:sp>
      <p:sp>
        <p:nvSpPr>
          <p:cNvPr id="17" name="Text 15"/>
          <p:cNvSpPr/>
          <p:nvPr/>
        </p:nvSpPr>
        <p:spPr>
          <a:xfrm>
            <a:off x="609600" y="6400800"/>
            <a:ext cx="3657600" cy="304800"/>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
        <p:nvSpPr>
          <p:cNvPr id="18" name="Text 16"/>
          <p:cNvSpPr/>
          <p:nvPr/>
        </p:nvSpPr>
        <p:spPr>
          <a:xfrm>
            <a:off x="7924800" y="6400800"/>
            <a:ext cx="3657600" cy="3048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Lesson 3.08.02</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4876800" cy="365760"/>
          </a:xfrm>
          <a:prstGeom prst="rect">
            <a:avLst/>
          </a:prstGeom>
          <a:noFill/>
          <a:ln/>
        </p:spPr>
        <p:txBody>
          <a:bodyPr wrap="square" lIns="0" tIns="0" rIns="0" bIns="0" rtlCol="0" anchor="ctr"/>
          <a:lstStyle/>
          <a:p>
            <a:pPr indent="0" marL="0">
              <a:buNone/>
            </a:pPr>
            <a:r>
              <a:rPr lang="en-US" sz="1000" b="1" spc="200" kern="0" dirty="0">
                <a:solidFill>
                  <a:srgbClr val="8B6FC0"/>
                </a:solidFill>
                <a:latin typeface="Calibri" pitchFamily="34" charset="0"/>
                <a:ea typeface="Calibri" pitchFamily="34" charset="-122"/>
                <a:cs typeface="Calibri" pitchFamily="34" charset="-120"/>
              </a:rPr>
              <a:t>WATER EVIDENCE</a:t>
            </a:r>
            <a:endParaRPr lang="en-US" sz="1000" dirty="0"/>
          </a:p>
        </p:txBody>
      </p:sp>
      <p:sp>
        <p:nvSpPr>
          <p:cNvPr id="4" name="Text 2"/>
          <p:cNvSpPr/>
          <p:nvPr/>
        </p:nvSpPr>
        <p:spPr>
          <a:xfrm>
            <a:off x="609600" y="731520"/>
            <a:ext cx="6096000" cy="60960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West Region</a:t>
            </a:r>
            <a:endParaRPr lang="en-US" sz="3000" dirty="0"/>
          </a:p>
        </p:txBody>
      </p:sp>
      <p:sp>
        <p:nvSpPr>
          <p:cNvPr id="5" name="Shape 3"/>
          <p:cNvSpPr/>
          <p:nvPr/>
        </p:nvSpPr>
        <p:spPr>
          <a:xfrm>
            <a:off x="6705600" y="487680"/>
            <a:ext cx="4876800" cy="3413760"/>
          </a:xfrm>
          <a:prstGeom prst="roundRect">
            <a:avLst>
              <a:gd name="adj" fmla="val 3214"/>
            </a:avLst>
          </a:prstGeom>
          <a:solidFill>
            <a:srgbClr val="E2E8F4"/>
          </a:solidFill>
          <a:ln w="19050">
            <a:solidFill>
              <a:srgbClr val="B0B8CC"/>
            </a:solidFill>
            <a:prstDash val="dash"/>
          </a:ln>
        </p:spPr>
      </p:sp>
      <p:sp>
        <p:nvSpPr>
          <p:cNvPr id="6" name="Text 4"/>
          <p:cNvSpPr/>
          <p:nvPr/>
        </p:nvSpPr>
        <p:spPr>
          <a:xfrm>
            <a:off x="6705600" y="487680"/>
            <a:ext cx="48768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6888480" y="853440"/>
            <a:ext cx="4511040" cy="2956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Split image: lush PNW rainforest on left, dry California farmland on right</a:t>
            </a:r>
            <a:endParaRPr lang="en-US" sz="1100" dirty="0"/>
          </a:p>
        </p:txBody>
      </p:sp>
      <p:sp>
        <p:nvSpPr>
          <p:cNvPr id="8" name="Shape 6"/>
          <p:cNvSpPr/>
          <p:nvPr/>
        </p:nvSpPr>
        <p:spPr>
          <a:xfrm>
            <a:off x="609600" y="1828800"/>
            <a:ext cx="5852160" cy="3048000"/>
          </a:xfrm>
          <a:prstGeom prst="roundRect">
            <a:avLst>
              <a:gd name="adj" fmla="val 3600"/>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682752" y="1901952"/>
            <a:ext cx="365760" cy="365760"/>
          </a:xfrm>
          <a:prstGeom prst="roundRect">
            <a:avLst>
              <a:gd name="adj" fmla="val 20000"/>
            </a:avLst>
          </a:prstGeom>
          <a:solidFill>
            <a:srgbClr val="8B6FC0"/>
          </a:solidFill>
          <a:ln/>
        </p:spPr>
      </p:sp>
      <p:sp>
        <p:nvSpPr>
          <p:cNvPr id="10" name="Text 8"/>
          <p:cNvSpPr/>
          <p:nvPr/>
        </p:nvSpPr>
        <p:spPr>
          <a:xfrm>
            <a:off x="682752" y="1901952"/>
            <a:ext cx="365760" cy="36576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1139952" y="1901952"/>
            <a:ext cx="5212080" cy="36576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Water Status: Mixed -- It Depends</a:t>
            </a:r>
            <a:endParaRPr lang="en-US" sz="1600" dirty="0"/>
          </a:p>
        </p:txBody>
      </p:sp>
      <p:sp>
        <p:nvSpPr>
          <p:cNvPr id="12" name="Text 10"/>
          <p:cNvSpPr/>
          <p:nvPr/>
        </p:nvSpPr>
        <p:spPr>
          <a:xfrm>
            <a:off x="792480" y="2331720"/>
            <a:ext cx="5486400" cy="24536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Pacific Northwest (Oregon, Washington) -- abundant rain</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California Central Valley grows food for the whole country</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Central Valley depends on snowmelt and irrigation</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Droughts are increasing and devastating to farmers</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Water problems here affect everyone who eats</a:t>
            </a:r>
            <a:endParaRPr lang="en-US" sz="1200" dirty="0"/>
          </a:p>
        </p:txBody>
      </p:sp>
      <p:sp>
        <p:nvSpPr>
          <p:cNvPr id="13" name="Shape 11"/>
          <p:cNvSpPr/>
          <p:nvPr/>
        </p:nvSpPr>
        <p:spPr>
          <a:xfrm>
            <a:off x="609600" y="5120640"/>
            <a:ext cx="10972800" cy="731520"/>
          </a:xfrm>
          <a:prstGeom prst="roundRect">
            <a:avLst>
              <a:gd name="adj" fmla="val 10000"/>
            </a:avLst>
          </a:prstGeom>
          <a:solidFill>
            <a:srgbClr val="F0E8FF"/>
          </a:solidFill>
          <a:ln/>
        </p:spPr>
      </p:sp>
      <p:sp>
        <p:nvSpPr>
          <p:cNvPr id="14" name="Text 12"/>
          <p:cNvSpPr/>
          <p:nvPr/>
        </p:nvSpPr>
        <p:spPr>
          <a:xfrm>
            <a:off x="853440" y="5120640"/>
            <a:ext cx="10485120" cy="731520"/>
          </a:xfrm>
          <a:prstGeom prst="rect">
            <a:avLst/>
          </a:prstGeom>
          <a:noFill/>
          <a:ln/>
        </p:spPr>
        <p:txBody>
          <a:bodyPr wrap="square" lIns="0" tIns="0" rIns="0" bIns="0" rtlCol="0" anchor="ctr"/>
          <a:lstStyle/>
          <a:p>
            <a:pPr indent="0" marL="0">
              <a:buNone/>
            </a:pPr>
            <a:r>
              <a:rPr lang="en-US" sz="1300" dirty="0">
                <a:solidFill>
                  <a:srgbClr val="5A3D8A"/>
                </a:solidFill>
                <a:latin typeface="Calibri" pitchFamily="34" charset="0"/>
                <a:ea typeface="Calibri" pitchFamily="34" charset="-122"/>
                <a:cs typeface="Calibri" pitchFamily="34" charset="-120"/>
              </a:rPr>
              <a:t>VERDICT:  Parts of the West face serious water challenges -- especially California's farmland. A real contender.</a:t>
            </a:r>
            <a:endParaRPr lang="en-US" sz="1300" dirty="0"/>
          </a:p>
        </p:txBody>
      </p:sp>
      <p:sp>
        <p:nvSpPr>
          <p:cNvPr id="15" name="Text 13"/>
          <p:cNvSpPr/>
          <p:nvPr/>
        </p:nvSpPr>
        <p:spPr>
          <a:xfrm>
            <a:off x="609600" y="6400800"/>
            <a:ext cx="3657600" cy="304800"/>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
        <p:nvSpPr>
          <p:cNvPr id="16" name="Text 14"/>
          <p:cNvSpPr/>
          <p:nvPr/>
        </p:nvSpPr>
        <p:spPr>
          <a:xfrm>
            <a:off x="7924800" y="6400800"/>
            <a:ext cx="3657600" cy="3048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Lesson 3.08.02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4876800" cy="36576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COUNCIL VOTE</a:t>
            </a:r>
            <a:endParaRPr lang="en-US" sz="1000" dirty="0"/>
          </a:p>
        </p:txBody>
      </p:sp>
      <p:sp>
        <p:nvSpPr>
          <p:cNvPr id="4" name="Text 2"/>
          <p:cNvSpPr/>
          <p:nvPr/>
        </p:nvSpPr>
        <p:spPr>
          <a:xfrm>
            <a:off x="609600" y="731520"/>
            <a:ext cx="10972800" cy="6096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Two Perspectives -- You Decide</a:t>
            </a:r>
            <a:endParaRPr lang="en-US" sz="2800" dirty="0"/>
          </a:p>
        </p:txBody>
      </p:sp>
      <p:sp>
        <p:nvSpPr>
          <p:cNvPr id="5" name="Shape 3"/>
          <p:cNvSpPr/>
          <p:nvPr/>
        </p:nvSpPr>
        <p:spPr>
          <a:xfrm>
            <a:off x="609600" y="1706880"/>
            <a:ext cx="5242560" cy="3048000"/>
          </a:xfrm>
          <a:prstGeom prst="roundRect">
            <a:avLst>
              <a:gd name="adj" fmla="val 3600"/>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853440" y="1889760"/>
            <a:ext cx="731520" cy="548640"/>
          </a:xfrm>
          <a:prstGeom prst="roundRect">
            <a:avLst>
              <a:gd name="adj" fmla="val 13333"/>
            </a:avLst>
          </a:prstGeom>
          <a:solidFill>
            <a:srgbClr val="E8636B"/>
          </a:solidFill>
          <a:ln/>
        </p:spPr>
      </p:sp>
      <p:sp>
        <p:nvSpPr>
          <p:cNvPr id="7" name="Text 5"/>
          <p:cNvSpPr/>
          <p:nvPr/>
        </p:nvSpPr>
        <p:spPr>
          <a:xfrm>
            <a:off x="853440" y="1889760"/>
            <a:ext cx="7315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a:t>
            </a:r>
            <a:endParaRPr lang="en-US" sz="2000" dirty="0"/>
          </a:p>
        </p:txBody>
      </p:sp>
      <p:sp>
        <p:nvSpPr>
          <p:cNvPr id="8" name="Text 6"/>
          <p:cNvSpPr/>
          <p:nvPr/>
        </p:nvSpPr>
        <p:spPr>
          <a:xfrm>
            <a:off x="1828800" y="1889760"/>
            <a:ext cx="3657600" cy="54864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Southwest</a:t>
            </a:r>
            <a:endParaRPr lang="en-US" sz="2000" dirty="0"/>
          </a:p>
        </p:txBody>
      </p:sp>
      <p:sp>
        <p:nvSpPr>
          <p:cNvPr id="9" name="Text 7"/>
          <p:cNvSpPr/>
          <p:nvPr/>
        </p:nvSpPr>
        <p:spPr>
          <a:xfrm>
            <a:off x="853440" y="2621280"/>
            <a:ext cx="4754880" cy="1950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Driest region in the entire country</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Depends on the overused Colorado River</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Phoenix and Las Vegas are major desert cities -- still growing</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Millions of people, not enough water</a:t>
            </a:r>
            <a:endParaRPr lang="en-US" sz="1200" dirty="0"/>
          </a:p>
        </p:txBody>
      </p:sp>
      <p:sp>
        <p:nvSpPr>
          <p:cNvPr id="10" name="Shape 8"/>
          <p:cNvSpPr/>
          <p:nvPr/>
        </p:nvSpPr>
        <p:spPr>
          <a:xfrm>
            <a:off x="6339840" y="1706880"/>
            <a:ext cx="5242560" cy="3048000"/>
          </a:xfrm>
          <a:prstGeom prst="roundRect">
            <a:avLst>
              <a:gd name="adj" fmla="val 3600"/>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6583680" y="1889760"/>
            <a:ext cx="731520" cy="548640"/>
          </a:xfrm>
          <a:prstGeom prst="roundRect">
            <a:avLst>
              <a:gd name="adj" fmla="val 13333"/>
            </a:avLst>
          </a:prstGeom>
          <a:solidFill>
            <a:srgbClr val="8B6FC0"/>
          </a:solidFill>
          <a:ln/>
        </p:spPr>
      </p:sp>
      <p:sp>
        <p:nvSpPr>
          <p:cNvPr id="12" name="Text 10"/>
          <p:cNvSpPr/>
          <p:nvPr/>
        </p:nvSpPr>
        <p:spPr>
          <a:xfrm>
            <a:off x="6583680" y="1889760"/>
            <a:ext cx="7315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B</a:t>
            </a:r>
            <a:endParaRPr lang="en-US" sz="2000" dirty="0"/>
          </a:p>
        </p:txBody>
      </p:sp>
      <p:sp>
        <p:nvSpPr>
          <p:cNvPr id="13" name="Text 11"/>
          <p:cNvSpPr/>
          <p:nvPr/>
        </p:nvSpPr>
        <p:spPr>
          <a:xfrm>
            <a:off x="7559040" y="1889760"/>
            <a:ext cx="3657600" cy="54864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West / California</a:t>
            </a:r>
            <a:endParaRPr lang="en-US" sz="2000" dirty="0"/>
          </a:p>
        </p:txBody>
      </p:sp>
      <p:sp>
        <p:nvSpPr>
          <p:cNvPr id="14" name="Text 12"/>
          <p:cNvSpPr/>
          <p:nvPr/>
        </p:nvSpPr>
        <p:spPr>
          <a:xfrm>
            <a:off x="6583680" y="2621280"/>
            <a:ext cx="4754880" cy="1950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Grows food for the entire country</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Central Valley depends on snowmelt irrigation</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Droughts are increasing and devastating</a:t>
            </a:r>
            <a:endParaRPr lang="en-US" sz="1200" dirty="0"/>
          </a:p>
          <a:p>
            <a:pPr marL="342900" indent="-342900">
              <a:spcAft>
                <a:spcPts val="300"/>
              </a:spcAft>
              <a:buSzPct val="100000"/>
              <a:buChar char="•"/>
            </a:pPr>
            <a:r>
              <a:rPr lang="en-US" sz="1200" dirty="0">
                <a:solidFill>
                  <a:srgbClr val="0E1C42"/>
                </a:solidFill>
                <a:latin typeface="Calibri" pitchFamily="34" charset="0"/>
                <a:ea typeface="Calibri" pitchFamily="34" charset="-122"/>
                <a:cs typeface="Calibri" pitchFamily="34" charset="-120"/>
              </a:rPr>
              <a:t>Affects farmers AND everyone who eats</a:t>
            </a:r>
            <a:endParaRPr lang="en-US" sz="1200" dirty="0"/>
          </a:p>
        </p:txBody>
      </p:sp>
      <p:sp>
        <p:nvSpPr>
          <p:cNvPr id="15" name="Shape 13"/>
          <p:cNvSpPr/>
          <p:nvPr/>
        </p:nvSpPr>
        <p:spPr>
          <a:xfrm>
            <a:off x="609600" y="5120640"/>
            <a:ext cx="10972800" cy="1097280"/>
          </a:xfrm>
          <a:prstGeom prst="roundRect">
            <a:avLst>
              <a:gd name="adj" fmla="val 10000"/>
            </a:avLst>
          </a:prstGeom>
          <a:solidFill>
            <a:srgbClr val="FFF3DC"/>
          </a:solidFill>
          <a:ln w="19050">
            <a:solidFill>
              <a:srgbClr val="F5E6C8"/>
            </a:solidFill>
            <a:prstDash val="solid"/>
          </a:ln>
        </p:spPr>
      </p:sp>
      <p:sp>
        <p:nvSpPr>
          <p:cNvPr id="16" name="Text 14"/>
          <p:cNvSpPr/>
          <p:nvPr/>
        </p:nvSpPr>
        <p:spPr>
          <a:xfrm>
            <a:off x="746760" y="5175504"/>
            <a:ext cx="10698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746760" y="5376672"/>
            <a:ext cx="10698480" cy="777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"Which region do you think needs fresh water most -- and why? Use evidence from the slides to support your answer."</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"There is no trick here. Honest thinkers can disagree if they have good reasons."</a:t>
            </a:r>
            <a:endParaRPr lang="en-US" sz="1200" dirty="0"/>
          </a:p>
        </p:txBody>
      </p:sp>
      <p:sp>
        <p:nvSpPr>
          <p:cNvPr id="18" name="Text 16"/>
          <p:cNvSpPr/>
          <p:nvPr/>
        </p:nvSpPr>
        <p:spPr>
          <a:xfrm>
            <a:off x="609600" y="6400800"/>
            <a:ext cx="3657600" cy="304800"/>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
        <p:nvSpPr>
          <p:cNvPr id="19" name="Text 17"/>
          <p:cNvSpPr/>
          <p:nvPr/>
        </p:nvSpPr>
        <p:spPr>
          <a:xfrm>
            <a:off x="7924800" y="6400800"/>
            <a:ext cx="3657600" cy="3048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Lesson 3.08.02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p:nvPr/>
        </p:nvSpPr>
        <p:spPr>
          <a:xfrm>
            <a:off x="609600" y="365760"/>
            <a:ext cx="4876800" cy="36576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SOURCE STUDY</a:t>
            </a:r>
            <a:endParaRPr lang="en-US" sz="1000" dirty="0"/>
          </a:p>
        </p:txBody>
      </p:sp>
      <p:sp>
        <p:nvSpPr>
          <p:cNvPr id="4" name="Text 2"/>
          <p:cNvSpPr/>
          <p:nvPr/>
        </p:nvSpPr>
        <p:spPr>
          <a:xfrm>
            <a:off x="609600" y="731520"/>
            <a:ext cx="6096000" cy="6096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Read the Landscape</a:t>
            </a:r>
            <a:endParaRPr lang="en-US" sz="2800" dirty="0"/>
          </a:p>
        </p:txBody>
      </p:sp>
      <p:sp>
        <p:nvSpPr>
          <p:cNvPr id="5" name="Shape 3"/>
          <p:cNvSpPr/>
          <p:nvPr/>
        </p:nvSpPr>
        <p:spPr>
          <a:xfrm>
            <a:off x="609600" y="1584960"/>
            <a:ext cx="6705600" cy="3657600"/>
          </a:xfrm>
          <a:prstGeom prst="roundRect">
            <a:avLst>
              <a:gd name="adj" fmla="val 3000"/>
            </a:avLst>
          </a:prstGeom>
          <a:solidFill>
            <a:srgbClr val="E2E8F4"/>
          </a:solidFill>
          <a:ln w="19050">
            <a:solidFill>
              <a:srgbClr val="B0B8CC"/>
            </a:solidFill>
            <a:prstDash val="dash"/>
          </a:ln>
        </p:spPr>
      </p:sp>
      <p:sp>
        <p:nvSpPr>
          <p:cNvPr id="6" name="Text 4"/>
          <p:cNvSpPr/>
          <p:nvPr/>
        </p:nvSpPr>
        <p:spPr>
          <a:xfrm>
            <a:off x="609600" y="1584960"/>
            <a:ext cx="67056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792480" y="1950720"/>
            <a:ext cx="6339840" cy="32004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Photograph of Colorado River flowing through arid Southwest desert canyon -- low water, dry cracked banks, red rock walls</a:t>
            </a:r>
            <a:endParaRPr lang="en-US" sz="1100" dirty="0"/>
          </a:p>
        </p:txBody>
      </p:sp>
      <p:sp>
        <p:nvSpPr>
          <p:cNvPr id="8" name="Shape 6"/>
          <p:cNvSpPr/>
          <p:nvPr/>
        </p:nvSpPr>
        <p:spPr>
          <a:xfrm>
            <a:off x="7680960" y="1584960"/>
            <a:ext cx="3901440" cy="3657600"/>
          </a:xfrm>
          <a:prstGeom prst="roundRect">
            <a:avLst>
              <a:gd name="adj" fmla="val 3750"/>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7863840" y="1676400"/>
            <a:ext cx="35356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7863840" y="1932432"/>
            <a:ext cx="3535680" cy="32186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notice about water in this landscape?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this look like a place with plenty of water, or a place where water is scarce?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clues in the photo tell you about how much rain falls here?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you lived here, where would your drinking water come from?</a:t>
            </a:r>
            <a:endParaRPr lang="en-US" sz="1100" dirty="0"/>
          </a:p>
        </p:txBody>
      </p:sp>
      <p:sp>
        <p:nvSpPr>
          <p:cNvPr id="11" name="Shape 9"/>
          <p:cNvSpPr/>
          <p:nvPr/>
        </p:nvSpPr>
        <p:spPr>
          <a:xfrm>
            <a:off x="609600" y="5486400"/>
            <a:ext cx="10972800" cy="609600"/>
          </a:xfrm>
          <a:prstGeom prst="roundRect">
            <a:avLst>
              <a:gd name="adj" fmla="val 12000"/>
            </a:avLst>
          </a:prstGeom>
          <a:solidFill>
            <a:srgbClr val="EAF8FD"/>
          </a:solidFill>
          <a:ln/>
        </p:spPr>
      </p:sp>
      <p:sp>
        <p:nvSpPr>
          <p:cNvPr id="12" name="Text 10"/>
          <p:cNvSpPr/>
          <p:nvPr/>
        </p:nvSpPr>
        <p:spPr>
          <a:xfrm>
            <a:off x="853440" y="5486400"/>
            <a:ext cx="10485120" cy="609600"/>
          </a:xfrm>
          <a:prstGeom prst="rect">
            <a:avLst/>
          </a:prstGeom>
          <a:noFill/>
          <a:ln/>
        </p:spPr>
        <p:txBody>
          <a:bodyPr wrap="square" lIns="0" tIns="0" rIns="0" bIns="0" rtlCol="0" anchor="ctr"/>
          <a:lstStyle/>
          <a:p>
            <a:pPr indent="0" marL="0">
              <a:buNone/>
            </a:pPr>
            <a:r>
              <a:rPr lang="en-US" sz="1300" i="1" dirty="0">
                <a:solidFill>
                  <a:srgbClr val="0E1C42"/>
                </a:solidFill>
                <a:latin typeface="Calibri" pitchFamily="34" charset="0"/>
                <a:ea typeface="Calibri" pitchFamily="34" charset="-122"/>
                <a:cs typeface="Calibri" pitchFamily="34" charset="-120"/>
              </a:rPr>
              <a:t>Look carefully. The evidence is in the photograph -- dry banks, narrow water, bare rock, no green.</a:t>
            </a:r>
            <a:endParaRPr lang="en-US" sz="1300" dirty="0"/>
          </a:p>
        </p:txBody>
      </p:sp>
      <p:sp>
        <p:nvSpPr>
          <p:cNvPr id="13" name="Text 11"/>
          <p:cNvSpPr/>
          <p:nvPr/>
        </p:nvSpPr>
        <p:spPr>
          <a:xfrm>
            <a:off x="609600" y="6400800"/>
            <a:ext cx="3657600" cy="304800"/>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
        <p:nvSpPr>
          <p:cNvPr id="14" name="Text 12"/>
          <p:cNvSpPr/>
          <p:nvPr/>
        </p:nvSpPr>
        <p:spPr>
          <a:xfrm>
            <a:off x="7924800" y="6400800"/>
            <a:ext cx="3657600" cy="3048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Lesson 3.08.02</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4876800" cy="36576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THEN &amp; NOW</a:t>
            </a:r>
            <a:endParaRPr lang="en-US" sz="1000" dirty="0"/>
          </a:p>
        </p:txBody>
      </p:sp>
      <p:sp>
        <p:nvSpPr>
          <p:cNvPr id="4" name="Text 2"/>
          <p:cNvSpPr/>
          <p:nvPr/>
        </p:nvSpPr>
        <p:spPr>
          <a:xfrm>
            <a:off x="609600" y="731520"/>
            <a:ext cx="10972800" cy="6096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Solving the Same Problem Across Time</a:t>
            </a:r>
            <a:endParaRPr lang="en-US" sz="2800" dirty="0"/>
          </a:p>
        </p:txBody>
      </p:sp>
      <p:sp>
        <p:nvSpPr>
          <p:cNvPr id="5" name="Shape 3"/>
          <p:cNvSpPr/>
          <p:nvPr/>
        </p:nvSpPr>
        <p:spPr>
          <a:xfrm>
            <a:off x="609600" y="1584960"/>
            <a:ext cx="5242560" cy="3413760"/>
          </a:xfrm>
          <a:prstGeom prst="roundRect">
            <a:avLst>
              <a:gd name="adj" fmla="val 3214"/>
            </a:avLst>
          </a:prstGeom>
          <a:solidFill>
            <a:srgbClr val="FFF8F0"/>
          </a:solidFill>
          <a:ln/>
          <a:effectLst>
            <a:outerShdw sx="100000" sy="100000" kx="0" ky="0" algn="bl" rotWithShape="0" blurRad="76200" dist="25400" dir="8100000">
              <a:srgbClr val="000000">
                <a:alpha val="10000"/>
              </a:srgbClr>
            </a:outerShdw>
          </a:effectLst>
        </p:spPr>
      </p:sp>
      <p:sp>
        <p:nvSpPr>
          <p:cNvPr id="6" name="Text 4"/>
          <p:cNvSpPr/>
          <p:nvPr/>
        </p:nvSpPr>
        <p:spPr>
          <a:xfrm>
            <a:off x="853440" y="1706880"/>
            <a:ext cx="1828800" cy="487680"/>
          </a:xfrm>
          <a:prstGeom prst="rect">
            <a:avLst/>
          </a:prstGeom>
          <a:noFill/>
          <a:ln/>
        </p:spPr>
        <p:txBody>
          <a:bodyPr wrap="square" lIns="0" tIns="0" rIns="0" bIns="0" rtlCol="0" anchor="ctr"/>
          <a:lstStyle/>
          <a:p>
            <a:pPr indent="0" marL="0">
              <a:buNone/>
            </a:pPr>
            <a:r>
              <a:rPr lang="en-US" sz="1400" b="1" spc="200" kern="0" dirty="0">
                <a:solidFill>
                  <a:srgbClr val="D4943A"/>
                </a:solidFill>
                <a:latin typeface="Calibri" pitchFamily="34" charset="0"/>
                <a:ea typeface="Calibri" pitchFamily="34" charset="-122"/>
                <a:cs typeface="Calibri" pitchFamily="34" charset="-120"/>
              </a:rPr>
              <a:t>THEN</a:t>
            </a:r>
            <a:endParaRPr lang="en-US" sz="1400" dirty="0"/>
          </a:p>
        </p:txBody>
      </p:sp>
      <p:sp>
        <p:nvSpPr>
          <p:cNvPr id="7" name="Text 5"/>
          <p:cNvSpPr/>
          <p:nvPr/>
        </p:nvSpPr>
        <p:spPr>
          <a:xfrm>
            <a:off x="853440" y="2194560"/>
            <a:ext cx="4754880" cy="426720"/>
          </a:xfrm>
          <a:prstGeom prst="rect">
            <a:avLst/>
          </a:prstGeom>
          <a:noFill/>
          <a:ln/>
        </p:spPr>
        <p:txBody>
          <a:bodyPr wrap="square" lIns="0" tIns="0" rIns="0" bIns="0"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Native SW Peoples</a:t>
            </a:r>
            <a:endParaRPr lang="en-US" sz="1800" dirty="0"/>
          </a:p>
        </p:txBody>
      </p:sp>
      <p:sp>
        <p:nvSpPr>
          <p:cNvPr id="8" name="Shape 6"/>
          <p:cNvSpPr/>
          <p:nvPr/>
        </p:nvSpPr>
        <p:spPr>
          <a:xfrm>
            <a:off x="853440" y="2682240"/>
            <a:ext cx="4754880" cy="1463040"/>
          </a:xfrm>
          <a:prstGeom prst="roundRect">
            <a:avLst>
              <a:gd name="adj" fmla="val 7500"/>
            </a:avLst>
          </a:prstGeom>
          <a:solidFill>
            <a:srgbClr val="E2E8F4"/>
          </a:solidFill>
          <a:ln w="19050">
            <a:solidFill>
              <a:srgbClr val="B0B8CC"/>
            </a:solidFill>
            <a:prstDash val="dash"/>
          </a:ln>
        </p:spPr>
      </p:sp>
      <p:sp>
        <p:nvSpPr>
          <p:cNvPr id="9" name="Text 7"/>
          <p:cNvSpPr/>
          <p:nvPr/>
        </p:nvSpPr>
        <p:spPr>
          <a:xfrm>
            <a:off x="853440" y="2682240"/>
            <a:ext cx="475488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1036320" y="3048000"/>
            <a:ext cx="4389120" cy="10058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Illustration or photo of ancient Hohokam canal system in Arizona desert</a:t>
            </a:r>
            <a:endParaRPr lang="en-US" sz="1100" dirty="0"/>
          </a:p>
        </p:txBody>
      </p:sp>
      <p:sp>
        <p:nvSpPr>
          <p:cNvPr id="11" name="Text 9"/>
          <p:cNvSpPr/>
          <p:nvPr/>
        </p:nvSpPr>
        <p:spPr>
          <a:xfrm>
            <a:off x="853440" y="4206240"/>
            <a:ext cx="4754880" cy="67056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Built sophisticated canal systems to carry river water to crops in the desert. Engineering that worked for centuries.</a:t>
            </a:r>
            <a:endParaRPr lang="en-US" sz="1100" dirty="0"/>
          </a:p>
        </p:txBody>
      </p:sp>
      <p:sp>
        <p:nvSpPr>
          <p:cNvPr id="12" name="Shape 10"/>
          <p:cNvSpPr/>
          <p:nvPr/>
        </p:nvSpPr>
        <p:spPr>
          <a:xfrm>
            <a:off x="6339840" y="1584960"/>
            <a:ext cx="5242560" cy="3413760"/>
          </a:xfrm>
          <a:prstGeom prst="roundRect">
            <a:avLst>
              <a:gd name="adj" fmla="val 3214"/>
            </a:avLst>
          </a:prstGeom>
          <a:solidFill>
            <a:srgbClr val="EAF8FD"/>
          </a:solidFill>
          <a:ln/>
          <a:effectLst>
            <a:outerShdw sx="100000" sy="100000" kx="0" ky="0" algn="bl" rotWithShape="0" blurRad="76200" dist="25400" dir="8100000">
              <a:srgbClr val="000000">
                <a:alpha val="10000"/>
              </a:srgbClr>
            </a:outerShdw>
          </a:effectLst>
        </p:spPr>
      </p:sp>
      <p:sp>
        <p:nvSpPr>
          <p:cNvPr id="13" name="Text 11"/>
          <p:cNvSpPr/>
          <p:nvPr/>
        </p:nvSpPr>
        <p:spPr>
          <a:xfrm>
            <a:off x="6583680" y="1706880"/>
            <a:ext cx="1828800" cy="487680"/>
          </a:xfrm>
          <a:prstGeom prst="rect">
            <a:avLst/>
          </a:prstGeom>
          <a:noFill/>
          <a:ln/>
        </p:spPr>
        <p:txBody>
          <a:bodyPr wrap="square" lIns="0" tIns="0" rIns="0" bIns="0" rtlCol="0" anchor="ctr"/>
          <a:lstStyle/>
          <a:p>
            <a:pPr indent="0" marL="0">
              <a:buNone/>
            </a:pPr>
            <a:r>
              <a:rPr lang="en-US" sz="1400" b="1" spc="200" kern="0" dirty="0">
                <a:solidFill>
                  <a:srgbClr val="1A8A7D"/>
                </a:solidFill>
                <a:latin typeface="Calibri" pitchFamily="34" charset="0"/>
                <a:ea typeface="Calibri" pitchFamily="34" charset="-122"/>
                <a:cs typeface="Calibri" pitchFamily="34" charset="-120"/>
              </a:rPr>
              <a:t>NOW</a:t>
            </a:r>
            <a:endParaRPr lang="en-US" sz="1400" dirty="0"/>
          </a:p>
        </p:txBody>
      </p:sp>
      <p:sp>
        <p:nvSpPr>
          <p:cNvPr id="14" name="Text 12"/>
          <p:cNvSpPr/>
          <p:nvPr/>
        </p:nvSpPr>
        <p:spPr>
          <a:xfrm>
            <a:off x="6583680" y="2194560"/>
            <a:ext cx="4754880" cy="426720"/>
          </a:xfrm>
          <a:prstGeom prst="rect">
            <a:avLst/>
          </a:prstGeom>
          <a:noFill/>
          <a:ln/>
        </p:spPr>
        <p:txBody>
          <a:bodyPr wrap="square" lIns="0" tIns="0" rIns="0" bIns="0"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Modern Infrastructure</a:t>
            </a:r>
            <a:endParaRPr lang="en-US" sz="1800" dirty="0"/>
          </a:p>
        </p:txBody>
      </p:sp>
      <p:sp>
        <p:nvSpPr>
          <p:cNvPr id="15" name="Shape 13"/>
          <p:cNvSpPr/>
          <p:nvPr/>
        </p:nvSpPr>
        <p:spPr>
          <a:xfrm>
            <a:off x="6583680" y="2682240"/>
            <a:ext cx="4754880" cy="1463040"/>
          </a:xfrm>
          <a:prstGeom prst="roundRect">
            <a:avLst>
              <a:gd name="adj" fmla="val 7500"/>
            </a:avLst>
          </a:prstGeom>
          <a:solidFill>
            <a:srgbClr val="E2E8F4"/>
          </a:solidFill>
          <a:ln w="19050">
            <a:solidFill>
              <a:srgbClr val="B0B8CC"/>
            </a:solidFill>
            <a:prstDash val="dash"/>
          </a:ln>
        </p:spPr>
      </p:sp>
      <p:sp>
        <p:nvSpPr>
          <p:cNvPr id="16" name="Text 14"/>
          <p:cNvSpPr/>
          <p:nvPr/>
        </p:nvSpPr>
        <p:spPr>
          <a:xfrm>
            <a:off x="6583680" y="2682240"/>
            <a:ext cx="475488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7" name="Text 15"/>
          <p:cNvSpPr/>
          <p:nvPr/>
        </p:nvSpPr>
        <p:spPr>
          <a:xfrm>
            <a:off x="6766560" y="3048000"/>
            <a:ext cx="4389120" cy="10058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 of Hoover Dam or modern canal/pipeline carrying water through desert</a:t>
            </a:r>
            <a:endParaRPr lang="en-US" sz="1100" dirty="0"/>
          </a:p>
        </p:txBody>
      </p:sp>
      <p:sp>
        <p:nvSpPr>
          <p:cNvPr id="18" name="Text 16"/>
          <p:cNvSpPr/>
          <p:nvPr/>
        </p:nvSpPr>
        <p:spPr>
          <a:xfrm>
            <a:off x="6583680" y="4206240"/>
            <a:ext cx="4754880" cy="67056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Same principle, bigger scale: canals, dams, and pipelines move water hundreds of miles to desert cities and farms.</a:t>
            </a:r>
            <a:endParaRPr lang="en-US" sz="1100" dirty="0"/>
          </a:p>
        </p:txBody>
      </p:sp>
      <p:sp>
        <p:nvSpPr>
          <p:cNvPr id="19" name="Shape 17"/>
          <p:cNvSpPr/>
          <p:nvPr/>
        </p:nvSpPr>
        <p:spPr>
          <a:xfrm>
            <a:off x="609600" y="5303520"/>
            <a:ext cx="10972800" cy="792480"/>
          </a:xfrm>
          <a:prstGeom prst="roundRect">
            <a:avLst>
              <a:gd name="adj" fmla="val 9231"/>
            </a:avLst>
          </a:prstGeom>
          <a:solidFill>
            <a:srgbClr val="FFF3DC"/>
          </a:solidFill>
          <a:ln/>
        </p:spPr>
      </p:sp>
      <p:sp>
        <p:nvSpPr>
          <p:cNvPr id="20" name="Text 18"/>
          <p:cNvSpPr/>
          <p:nvPr/>
        </p:nvSpPr>
        <p:spPr>
          <a:xfrm>
            <a:off x="853440" y="5303520"/>
            <a:ext cx="10485120" cy="79248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The problem is the same across centuries: not enough water where people live. The solution is the same idea: move water from where it is to where it is needed.</a:t>
            </a:r>
            <a:endParaRPr lang="en-US" sz="1200" dirty="0"/>
          </a:p>
        </p:txBody>
      </p:sp>
      <p:sp>
        <p:nvSpPr>
          <p:cNvPr id="21" name="Text 19"/>
          <p:cNvSpPr/>
          <p:nvPr/>
        </p:nvSpPr>
        <p:spPr>
          <a:xfrm>
            <a:off x="609600" y="6400800"/>
            <a:ext cx="3657600" cy="304800"/>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
        <p:nvSpPr>
          <p:cNvPr id="22" name="Text 20"/>
          <p:cNvSpPr/>
          <p:nvPr/>
        </p:nvSpPr>
        <p:spPr>
          <a:xfrm>
            <a:off x="7924800" y="6400800"/>
            <a:ext cx="3657600" cy="3048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Lesson 3.08.02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p:nvPr/>
        </p:nvSpPr>
        <p:spPr>
          <a:xfrm>
            <a:off x="609600" y="365760"/>
            <a:ext cx="7315200" cy="36576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WHAT THE EVIDENCE SHOWS</a:t>
            </a:r>
            <a:endParaRPr lang="en-US" sz="1000" dirty="0"/>
          </a:p>
        </p:txBody>
      </p:sp>
      <p:sp>
        <p:nvSpPr>
          <p:cNvPr id="4" name="Text 2"/>
          <p:cNvSpPr/>
          <p:nvPr/>
        </p:nvSpPr>
        <p:spPr>
          <a:xfrm>
            <a:off x="609600" y="731520"/>
            <a:ext cx="10972800" cy="6096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Honest Answers Can Be Complicated</a:t>
            </a:r>
            <a:endParaRPr lang="en-US" sz="2800" dirty="0"/>
          </a:p>
        </p:txBody>
      </p:sp>
      <p:sp>
        <p:nvSpPr>
          <p:cNvPr id="5" name="Shape 3"/>
          <p:cNvSpPr/>
          <p:nvPr/>
        </p:nvSpPr>
        <p:spPr>
          <a:xfrm>
            <a:off x="609600" y="1584960"/>
            <a:ext cx="10972800" cy="1463040"/>
          </a:xfrm>
          <a:prstGeom prst="roundRect">
            <a:avLst>
              <a:gd name="adj" fmla="val 7500"/>
            </a:avLst>
          </a:prstGeom>
          <a:solidFill>
            <a:srgbClr val="EAF8FD"/>
          </a:solidFill>
          <a:ln/>
          <a:effectLst>
            <a:outerShdw sx="100000" sy="100000" kx="0" ky="0" algn="bl" rotWithShape="0" blurRad="76200" dist="25400" dir="8100000">
              <a:srgbClr val="000000">
                <a:alpha val="10000"/>
              </a:srgbClr>
            </a:outerShdw>
          </a:effectLst>
        </p:spPr>
      </p:sp>
      <p:sp>
        <p:nvSpPr>
          <p:cNvPr id="6" name="Text 4"/>
          <p:cNvSpPr/>
          <p:nvPr/>
        </p:nvSpPr>
        <p:spPr>
          <a:xfrm>
            <a:off x="853440" y="1645920"/>
            <a:ext cx="4876800" cy="426720"/>
          </a:xfrm>
          <a:prstGeom prst="rect">
            <a:avLst/>
          </a:prstGeom>
          <a:noFill/>
          <a:ln/>
        </p:spPr>
        <p:txBody>
          <a:bodyPr wrap="square" lIns="0" tIns="0" rIns="0" bIns="0" rtlCol="0" anchor="ctr"/>
          <a:lstStyle/>
          <a:p>
            <a:pPr indent="0" marL="0">
              <a:buNone/>
            </a:pPr>
            <a:r>
              <a:rPr lang="en-US" sz="1200" b="1" dirty="0">
                <a:solidFill>
                  <a:srgbClr val="1A8A7D"/>
                </a:solidFill>
                <a:latin typeface="Calibri" pitchFamily="34" charset="0"/>
                <a:ea typeface="Calibri" pitchFamily="34" charset="-122"/>
                <a:cs typeface="Calibri" pitchFamily="34" charset="-120"/>
              </a:rPr>
              <a:t>Most experts agree:</a:t>
            </a:r>
            <a:endParaRPr lang="en-US" sz="1200" dirty="0"/>
          </a:p>
        </p:txBody>
      </p:sp>
      <p:sp>
        <p:nvSpPr>
          <p:cNvPr id="7" name="Text 5"/>
          <p:cNvSpPr/>
          <p:nvPr/>
        </p:nvSpPr>
        <p:spPr>
          <a:xfrm>
            <a:off x="853440" y="2072640"/>
            <a:ext cx="10485120" cy="426720"/>
          </a:xfrm>
          <a:prstGeom prst="rect">
            <a:avLst/>
          </a:prstGeom>
          <a:noFill/>
          <a:ln/>
        </p:spPr>
        <p:txBody>
          <a:bodyPr wrap="square" lIns="0" tIns="0" rIns="0" bIns="0"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The Southwest (Colorado River Basin) faces the most urgent fresh water needs.</a:t>
            </a:r>
            <a:endParaRPr lang="en-US" sz="1800" dirty="0"/>
          </a:p>
        </p:txBody>
      </p:sp>
      <p:sp>
        <p:nvSpPr>
          <p:cNvPr id="8" name="Text 6"/>
          <p:cNvSpPr/>
          <p:nvPr/>
        </p:nvSpPr>
        <p:spPr>
          <a:xfrm>
            <a:off x="853440" y="2560320"/>
            <a:ext cx="10485120" cy="365760"/>
          </a:xfrm>
          <a:prstGeom prst="rect">
            <a:avLst/>
          </a:prstGeom>
          <a:noFill/>
          <a:ln/>
        </p:spPr>
        <p:txBody>
          <a:bodyPr wrap="square" lIns="0" tIns="0" rIns="0" bIns="0" rtlCol="0" anchor="ctr"/>
          <a:lstStyle/>
          <a:p>
            <a:pPr indent="0" marL="0">
              <a:buNone/>
            </a:pPr>
            <a:r>
              <a:rPr lang="en-US" sz="1400" i="1" dirty="0">
                <a:solidFill>
                  <a:srgbClr val="0E1C42"/>
                </a:solidFill>
                <a:latin typeface="Calibri" pitchFamily="34" charset="0"/>
                <a:ea typeface="Calibri" pitchFamily="34" charset="-122"/>
                <a:cs typeface="Calibri" pitchFamily="34" charset="-120"/>
              </a:rPr>
              <a:t>But honest evidence can point in multiple directions.</a:t>
            </a:r>
            <a:endParaRPr lang="en-US" sz="1400" dirty="0"/>
          </a:p>
        </p:txBody>
      </p:sp>
      <p:sp>
        <p:nvSpPr>
          <p:cNvPr id="9" name="Shape 7"/>
          <p:cNvSpPr/>
          <p:nvPr/>
        </p:nvSpPr>
        <p:spPr>
          <a:xfrm>
            <a:off x="609600" y="3291840"/>
            <a:ext cx="10972800" cy="731520"/>
          </a:xfrm>
          <a:prstGeom prst="roundRect">
            <a:avLst>
              <a:gd name="adj" fmla="val 10000"/>
            </a:avLst>
          </a:prstGeom>
          <a:solidFill>
            <a:srgbClr val="F0F2F8"/>
          </a:solidFill>
          <a:ln/>
        </p:spPr>
      </p:sp>
      <p:sp>
        <p:nvSpPr>
          <p:cNvPr id="10" name="Shape 8"/>
          <p:cNvSpPr/>
          <p:nvPr/>
        </p:nvSpPr>
        <p:spPr>
          <a:xfrm>
            <a:off x="792480" y="3389376"/>
            <a:ext cx="487680" cy="487680"/>
          </a:xfrm>
          <a:prstGeom prst="roundRect">
            <a:avLst>
              <a:gd name="adj" fmla="val 37500"/>
            </a:avLst>
          </a:prstGeom>
          <a:solidFill>
            <a:srgbClr val="0E1C42"/>
          </a:solidFill>
          <a:ln/>
        </p:spPr>
      </p:sp>
      <p:sp>
        <p:nvSpPr>
          <p:cNvPr id="11" name="Text 9"/>
          <p:cNvSpPr/>
          <p:nvPr/>
        </p:nvSpPr>
        <p:spPr>
          <a:xfrm>
            <a:off x="792480" y="3389376"/>
            <a:ext cx="487680" cy="4876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2" name="Text 10"/>
          <p:cNvSpPr/>
          <p:nvPr/>
        </p:nvSpPr>
        <p:spPr>
          <a:xfrm>
            <a:off x="1463040" y="3316224"/>
            <a:ext cx="3657600" cy="341376"/>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Southwest is most at risk</a:t>
            </a:r>
            <a:endParaRPr lang="en-US" sz="1300" dirty="0"/>
          </a:p>
        </p:txBody>
      </p:sp>
      <p:sp>
        <p:nvSpPr>
          <p:cNvPr id="13" name="Text 11"/>
          <p:cNvSpPr/>
          <p:nvPr/>
        </p:nvSpPr>
        <p:spPr>
          <a:xfrm>
            <a:off x="1463040" y="3657600"/>
            <a:ext cx="9875520" cy="341376"/>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Desert climate + overused rivers + growing cities = the most urgent combination.</a:t>
            </a:r>
            <a:endParaRPr lang="en-US" sz="1200" dirty="0"/>
          </a:p>
        </p:txBody>
      </p:sp>
      <p:sp>
        <p:nvSpPr>
          <p:cNvPr id="14" name="Shape 12"/>
          <p:cNvSpPr/>
          <p:nvPr/>
        </p:nvSpPr>
        <p:spPr>
          <a:xfrm>
            <a:off x="609600" y="4145280"/>
            <a:ext cx="10972800" cy="731520"/>
          </a:xfrm>
          <a:prstGeom prst="roundRect">
            <a:avLst>
              <a:gd name="adj" fmla="val 10000"/>
            </a:avLst>
          </a:prstGeom>
          <a:solidFill>
            <a:srgbClr val="F0F2F8"/>
          </a:solidFill>
          <a:ln/>
        </p:spPr>
      </p:sp>
      <p:sp>
        <p:nvSpPr>
          <p:cNvPr id="15" name="Shape 13"/>
          <p:cNvSpPr/>
          <p:nvPr/>
        </p:nvSpPr>
        <p:spPr>
          <a:xfrm>
            <a:off x="792480" y="4242816"/>
            <a:ext cx="487680" cy="487680"/>
          </a:xfrm>
          <a:prstGeom prst="roundRect">
            <a:avLst>
              <a:gd name="adj" fmla="val 37500"/>
            </a:avLst>
          </a:prstGeom>
          <a:solidFill>
            <a:srgbClr val="0E1C42"/>
          </a:solidFill>
          <a:ln/>
        </p:spPr>
      </p:sp>
      <p:sp>
        <p:nvSpPr>
          <p:cNvPr id="16" name="Text 14"/>
          <p:cNvSpPr/>
          <p:nvPr/>
        </p:nvSpPr>
        <p:spPr>
          <a:xfrm>
            <a:off x="792480" y="4242816"/>
            <a:ext cx="487680" cy="4876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7" name="Text 15"/>
          <p:cNvSpPr/>
          <p:nvPr/>
        </p:nvSpPr>
        <p:spPr>
          <a:xfrm>
            <a:off x="1463040" y="4169664"/>
            <a:ext cx="3657600" cy="341376"/>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West (California) is a real concern</a:t>
            </a:r>
            <a:endParaRPr lang="en-US" sz="1300" dirty="0"/>
          </a:p>
        </p:txBody>
      </p:sp>
      <p:sp>
        <p:nvSpPr>
          <p:cNvPr id="18" name="Text 16"/>
          <p:cNvSpPr/>
          <p:nvPr/>
        </p:nvSpPr>
        <p:spPr>
          <a:xfrm>
            <a:off x="1463040" y="4511040"/>
            <a:ext cx="9875520" cy="341376"/>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Farmland that feeds the nation depends on water that is becoming less reliable.</a:t>
            </a:r>
            <a:endParaRPr lang="en-US" sz="1200" dirty="0"/>
          </a:p>
        </p:txBody>
      </p:sp>
      <p:sp>
        <p:nvSpPr>
          <p:cNvPr id="19" name="Shape 17"/>
          <p:cNvSpPr/>
          <p:nvPr/>
        </p:nvSpPr>
        <p:spPr>
          <a:xfrm>
            <a:off x="609600" y="4998720"/>
            <a:ext cx="10972800" cy="731520"/>
          </a:xfrm>
          <a:prstGeom prst="roundRect">
            <a:avLst>
              <a:gd name="adj" fmla="val 10000"/>
            </a:avLst>
          </a:prstGeom>
          <a:solidFill>
            <a:srgbClr val="F0F2F8"/>
          </a:solidFill>
          <a:ln/>
        </p:spPr>
      </p:sp>
      <p:sp>
        <p:nvSpPr>
          <p:cNvPr id="20" name="Shape 18"/>
          <p:cNvSpPr/>
          <p:nvPr/>
        </p:nvSpPr>
        <p:spPr>
          <a:xfrm>
            <a:off x="792480" y="5096256"/>
            <a:ext cx="487680" cy="487680"/>
          </a:xfrm>
          <a:prstGeom prst="roundRect">
            <a:avLst>
              <a:gd name="adj" fmla="val 37500"/>
            </a:avLst>
          </a:prstGeom>
          <a:solidFill>
            <a:srgbClr val="0E1C42"/>
          </a:solidFill>
          <a:ln/>
        </p:spPr>
      </p:sp>
      <p:sp>
        <p:nvSpPr>
          <p:cNvPr id="21" name="Text 19"/>
          <p:cNvSpPr/>
          <p:nvPr/>
        </p:nvSpPr>
        <p:spPr>
          <a:xfrm>
            <a:off x="792480" y="5096256"/>
            <a:ext cx="487680" cy="4876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2" name="Text 20"/>
          <p:cNvSpPr/>
          <p:nvPr/>
        </p:nvSpPr>
        <p:spPr>
          <a:xfrm>
            <a:off x="1463040" y="5023104"/>
            <a:ext cx="3657600" cy="341376"/>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Honesty means holding complexity</a:t>
            </a:r>
            <a:endParaRPr lang="en-US" sz="1300" dirty="0"/>
          </a:p>
        </p:txBody>
      </p:sp>
      <p:sp>
        <p:nvSpPr>
          <p:cNvPr id="23" name="Text 21"/>
          <p:cNvSpPr/>
          <p:nvPr/>
        </p:nvSpPr>
        <p:spPr>
          <a:xfrm>
            <a:off x="1463040" y="5364480"/>
            <a:ext cx="9875520" cy="341376"/>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A good thinker can see that BOTH regions face real challenges -- and say so.</a:t>
            </a:r>
            <a:endParaRPr lang="en-US" sz="1200" dirty="0"/>
          </a:p>
        </p:txBody>
      </p:sp>
      <p:sp>
        <p:nvSpPr>
          <p:cNvPr id="24" name="Text 22"/>
          <p:cNvSpPr/>
          <p:nvPr/>
        </p:nvSpPr>
        <p:spPr>
          <a:xfrm>
            <a:off x="609600" y="6400800"/>
            <a:ext cx="3657600" cy="304800"/>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
        <p:nvSpPr>
          <p:cNvPr id="25" name="Text 23"/>
          <p:cNvSpPr/>
          <p:nvPr/>
        </p:nvSpPr>
        <p:spPr>
          <a:xfrm>
            <a:off x="7924800" y="6400800"/>
            <a:ext cx="3657600" cy="3048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Lesson 3.08.02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4876800" cy="36576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EXHIBIT LABEL</a:t>
            </a:r>
            <a:endParaRPr lang="en-US" sz="1000" dirty="0"/>
          </a:p>
        </p:txBody>
      </p:sp>
      <p:sp>
        <p:nvSpPr>
          <p:cNvPr id="4" name="Text 2"/>
          <p:cNvSpPr/>
          <p:nvPr/>
        </p:nvSpPr>
        <p:spPr>
          <a:xfrm>
            <a:off x="609600" y="731520"/>
            <a:ext cx="10972800" cy="6096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Different Regions, Different Water</a:t>
            </a:r>
            <a:endParaRPr lang="en-US" sz="2800" dirty="0"/>
          </a:p>
        </p:txBody>
      </p:sp>
      <p:sp>
        <p:nvSpPr>
          <p:cNvPr id="5" name="Shape 3"/>
          <p:cNvSpPr/>
          <p:nvPr/>
        </p:nvSpPr>
        <p:spPr>
          <a:xfrm>
            <a:off x="609600" y="1584960"/>
            <a:ext cx="3413760" cy="1341120"/>
          </a:xfrm>
          <a:prstGeom prst="roundRect">
            <a:avLst>
              <a:gd name="adj" fmla="val 6818"/>
            </a:avLst>
          </a:prstGeom>
          <a:solidFill>
            <a:srgbClr val="FFFFFF"/>
          </a:solidFill>
          <a:ln/>
          <a:effectLst>
            <a:outerShdw sx="100000" sy="100000" kx="0" ky="0" algn="bl" rotWithShape="0" blurRad="50800" dist="12700" dir="8100000">
              <a:srgbClr val="000000">
                <a:alpha val="10000"/>
              </a:srgbClr>
            </a:outerShdw>
          </a:effectLst>
        </p:spPr>
      </p:sp>
      <p:sp>
        <p:nvSpPr>
          <p:cNvPr id="6" name="Shape 4"/>
          <p:cNvSpPr/>
          <p:nvPr/>
        </p:nvSpPr>
        <p:spPr>
          <a:xfrm>
            <a:off x="731520" y="1706880"/>
            <a:ext cx="426720" cy="426720"/>
          </a:xfrm>
          <a:prstGeom prst="roundRect">
            <a:avLst>
              <a:gd name="adj" fmla="val 12857"/>
            </a:avLst>
          </a:prstGeom>
          <a:solidFill>
            <a:srgbClr val="1A8A7D"/>
          </a:solidFill>
          <a:ln/>
        </p:spPr>
      </p:sp>
      <p:sp>
        <p:nvSpPr>
          <p:cNvPr id="7" name="Text 5"/>
          <p:cNvSpPr/>
          <p:nvPr/>
        </p:nvSpPr>
        <p:spPr>
          <a:xfrm>
            <a:off x="1280160" y="1706880"/>
            <a:ext cx="2438400" cy="426720"/>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Northeast</a:t>
            </a:r>
            <a:endParaRPr lang="en-US" sz="1400" dirty="0"/>
          </a:p>
        </p:txBody>
      </p:sp>
      <p:sp>
        <p:nvSpPr>
          <p:cNvPr id="8" name="Text 6"/>
          <p:cNvSpPr/>
          <p:nvPr/>
        </p:nvSpPr>
        <p:spPr>
          <a:xfrm>
            <a:off x="731520" y="2255520"/>
            <a:ext cx="3048000" cy="42672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Water-rich</a:t>
            </a:r>
            <a:endParaRPr lang="en-US" sz="1200" dirty="0"/>
          </a:p>
        </p:txBody>
      </p:sp>
      <p:sp>
        <p:nvSpPr>
          <p:cNvPr id="9" name="Shape 7"/>
          <p:cNvSpPr/>
          <p:nvPr/>
        </p:nvSpPr>
        <p:spPr>
          <a:xfrm>
            <a:off x="4389120" y="1584960"/>
            <a:ext cx="3413760" cy="1341120"/>
          </a:xfrm>
          <a:prstGeom prst="roundRect">
            <a:avLst>
              <a:gd name="adj" fmla="val 6818"/>
            </a:avLst>
          </a:prstGeom>
          <a:solidFill>
            <a:srgbClr val="FFFFFF"/>
          </a:solidFill>
          <a:ln/>
          <a:effectLst>
            <a:outerShdw sx="100000" sy="100000" kx="0" ky="0" algn="bl" rotWithShape="0" blurRad="50800" dist="12700" dir="8100000">
              <a:srgbClr val="000000">
                <a:alpha val="10000"/>
              </a:srgbClr>
            </a:outerShdw>
          </a:effectLst>
        </p:spPr>
      </p:sp>
      <p:sp>
        <p:nvSpPr>
          <p:cNvPr id="10" name="Shape 8"/>
          <p:cNvSpPr/>
          <p:nvPr/>
        </p:nvSpPr>
        <p:spPr>
          <a:xfrm>
            <a:off x="4511040" y="1706880"/>
            <a:ext cx="426720" cy="426720"/>
          </a:xfrm>
          <a:prstGeom prst="roundRect">
            <a:avLst>
              <a:gd name="adj" fmla="val 12857"/>
            </a:avLst>
          </a:prstGeom>
          <a:solidFill>
            <a:srgbClr val="1A8A7D"/>
          </a:solidFill>
          <a:ln/>
        </p:spPr>
      </p:sp>
      <p:sp>
        <p:nvSpPr>
          <p:cNvPr id="11" name="Text 9"/>
          <p:cNvSpPr/>
          <p:nvPr/>
        </p:nvSpPr>
        <p:spPr>
          <a:xfrm>
            <a:off x="5059680" y="1706880"/>
            <a:ext cx="2438400" cy="426720"/>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Southeast</a:t>
            </a:r>
            <a:endParaRPr lang="en-US" sz="1400" dirty="0"/>
          </a:p>
        </p:txBody>
      </p:sp>
      <p:sp>
        <p:nvSpPr>
          <p:cNvPr id="12" name="Text 10"/>
          <p:cNvSpPr/>
          <p:nvPr/>
        </p:nvSpPr>
        <p:spPr>
          <a:xfrm>
            <a:off x="4511040" y="2255520"/>
            <a:ext cx="3048000" cy="42672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Water-rich</a:t>
            </a:r>
            <a:endParaRPr lang="en-US" sz="1200" dirty="0"/>
          </a:p>
        </p:txBody>
      </p:sp>
      <p:sp>
        <p:nvSpPr>
          <p:cNvPr id="13" name="Shape 11"/>
          <p:cNvSpPr/>
          <p:nvPr/>
        </p:nvSpPr>
        <p:spPr>
          <a:xfrm>
            <a:off x="8168640" y="1584960"/>
            <a:ext cx="3413760" cy="1341120"/>
          </a:xfrm>
          <a:prstGeom prst="roundRect">
            <a:avLst>
              <a:gd name="adj" fmla="val 6818"/>
            </a:avLst>
          </a:prstGeom>
          <a:solidFill>
            <a:srgbClr val="FFFFFF"/>
          </a:solidFill>
          <a:ln/>
          <a:effectLst>
            <a:outerShdw sx="100000" sy="100000" kx="0" ky="0" algn="bl" rotWithShape="0" blurRad="50800" dist="12700" dir="8100000">
              <a:srgbClr val="000000">
                <a:alpha val="10000"/>
              </a:srgbClr>
            </a:outerShdw>
          </a:effectLst>
        </p:spPr>
      </p:sp>
      <p:sp>
        <p:nvSpPr>
          <p:cNvPr id="14" name="Shape 12"/>
          <p:cNvSpPr/>
          <p:nvPr/>
        </p:nvSpPr>
        <p:spPr>
          <a:xfrm>
            <a:off x="8290560" y="1706880"/>
            <a:ext cx="426720" cy="426720"/>
          </a:xfrm>
          <a:prstGeom prst="roundRect">
            <a:avLst>
              <a:gd name="adj" fmla="val 12857"/>
            </a:avLst>
          </a:prstGeom>
          <a:solidFill>
            <a:srgbClr val="2E86AB"/>
          </a:solidFill>
          <a:ln/>
        </p:spPr>
      </p:sp>
      <p:sp>
        <p:nvSpPr>
          <p:cNvPr id="15" name="Text 13"/>
          <p:cNvSpPr/>
          <p:nvPr/>
        </p:nvSpPr>
        <p:spPr>
          <a:xfrm>
            <a:off x="8839200" y="1706880"/>
            <a:ext cx="2438400" cy="426720"/>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Midwest</a:t>
            </a:r>
            <a:endParaRPr lang="en-US" sz="1400" dirty="0"/>
          </a:p>
        </p:txBody>
      </p:sp>
      <p:sp>
        <p:nvSpPr>
          <p:cNvPr id="16" name="Text 14"/>
          <p:cNvSpPr/>
          <p:nvPr/>
        </p:nvSpPr>
        <p:spPr>
          <a:xfrm>
            <a:off x="8290560" y="2255520"/>
            <a:ext cx="3048000" cy="42672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Mostly rich</a:t>
            </a:r>
            <a:endParaRPr lang="en-US" sz="1200" dirty="0"/>
          </a:p>
        </p:txBody>
      </p:sp>
      <p:sp>
        <p:nvSpPr>
          <p:cNvPr id="17" name="Shape 15"/>
          <p:cNvSpPr/>
          <p:nvPr/>
        </p:nvSpPr>
        <p:spPr>
          <a:xfrm>
            <a:off x="609600" y="3169920"/>
            <a:ext cx="3413760" cy="1341120"/>
          </a:xfrm>
          <a:prstGeom prst="roundRect">
            <a:avLst>
              <a:gd name="adj" fmla="val 6818"/>
            </a:avLst>
          </a:prstGeom>
          <a:solidFill>
            <a:srgbClr val="FFFFFF"/>
          </a:solidFill>
          <a:ln/>
          <a:effectLst>
            <a:outerShdw sx="100000" sy="100000" kx="0" ky="0" algn="bl" rotWithShape="0" blurRad="50800" dist="12700" dir="8100000">
              <a:srgbClr val="000000">
                <a:alpha val="10000"/>
              </a:srgbClr>
            </a:outerShdw>
          </a:effectLst>
        </p:spPr>
      </p:sp>
      <p:sp>
        <p:nvSpPr>
          <p:cNvPr id="18" name="Shape 16"/>
          <p:cNvSpPr/>
          <p:nvPr/>
        </p:nvSpPr>
        <p:spPr>
          <a:xfrm>
            <a:off x="731520" y="3291840"/>
            <a:ext cx="426720" cy="426720"/>
          </a:xfrm>
          <a:prstGeom prst="roundRect">
            <a:avLst>
              <a:gd name="adj" fmla="val 12857"/>
            </a:avLst>
          </a:prstGeom>
          <a:solidFill>
            <a:srgbClr val="E8636B"/>
          </a:solidFill>
          <a:ln/>
        </p:spPr>
      </p:sp>
      <p:sp>
        <p:nvSpPr>
          <p:cNvPr id="19" name="Text 17"/>
          <p:cNvSpPr/>
          <p:nvPr/>
        </p:nvSpPr>
        <p:spPr>
          <a:xfrm>
            <a:off x="1280160" y="3291840"/>
            <a:ext cx="2438400" cy="426720"/>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Southwest</a:t>
            </a:r>
            <a:endParaRPr lang="en-US" sz="1400" dirty="0"/>
          </a:p>
        </p:txBody>
      </p:sp>
      <p:sp>
        <p:nvSpPr>
          <p:cNvPr id="20" name="Text 18"/>
          <p:cNvSpPr/>
          <p:nvPr/>
        </p:nvSpPr>
        <p:spPr>
          <a:xfrm>
            <a:off x="731520" y="3840480"/>
            <a:ext cx="3048000" cy="42672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Critically dry</a:t>
            </a:r>
            <a:endParaRPr lang="en-US" sz="1200" dirty="0"/>
          </a:p>
        </p:txBody>
      </p:sp>
      <p:sp>
        <p:nvSpPr>
          <p:cNvPr id="21" name="Shape 19"/>
          <p:cNvSpPr/>
          <p:nvPr/>
        </p:nvSpPr>
        <p:spPr>
          <a:xfrm>
            <a:off x="4389120" y="3169920"/>
            <a:ext cx="3413760" cy="1341120"/>
          </a:xfrm>
          <a:prstGeom prst="roundRect">
            <a:avLst>
              <a:gd name="adj" fmla="val 6818"/>
            </a:avLst>
          </a:prstGeom>
          <a:solidFill>
            <a:srgbClr val="FFFFFF"/>
          </a:solidFill>
          <a:ln/>
          <a:effectLst>
            <a:outerShdw sx="100000" sy="100000" kx="0" ky="0" algn="bl" rotWithShape="0" blurRad="50800" dist="12700" dir="8100000">
              <a:srgbClr val="000000">
                <a:alpha val="10000"/>
              </a:srgbClr>
            </a:outerShdw>
          </a:effectLst>
        </p:spPr>
      </p:sp>
      <p:sp>
        <p:nvSpPr>
          <p:cNvPr id="22" name="Shape 20"/>
          <p:cNvSpPr/>
          <p:nvPr/>
        </p:nvSpPr>
        <p:spPr>
          <a:xfrm>
            <a:off x="4511040" y="3291840"/>
            <a:ext cx="426720" cy="426720"/>
          </a:xfrm>
          <a:prstGeom prst="roundRect">
            <a:avLst>
              <a:gd name="adj" fmla="val 12857"/>
            </a:avLst>
          </a:prstGeom>
          <a:solidFill>
            <a:srgbClr val="8B6FC0"/>
          </a:solidFill>
          <a:ln/>
        </p:spPr>
      </p:sp>
      <p:sp>
        <p:nvSpPr>
          <p:cNvPr id="23" name="Text 21"/>
          <p:cNvSpPr/>
          <p:nvPr/>
        </p:nvSpPr>
        <p:spPr>
          <a:xfrm>
            <a:off x="5059680" y="3291840"/>
            <a:ext cx="2438400" cy="426720"/>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West</a:t>
            </a:r>
            <a:endParaRPr lang="en-US" sz="1400" dirty="0"/>
          </a:p>
        </p:txBody>
      </p:sp>
      <p:sp>
        <p:nvSpPr>
          <p:cNvPr id="24" name="Text 22"/>
          <p:cNvSpPr/>
          <p:nvPr/>
        </p:nvSpPr>
        <p:spPr>
          <a:xfrm>
            <a:off x="4511040" y="3840480"/>
            <a:ext cx="3048000" cy="42672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Mixed</a:t>
            </a:r>
            <a:endParaRPr lang="en-US" sz="1200" dirty="0"/>
          </a:p>
        </p:txBody>
      </p:sp>
      <p:sp>
        <p:nvSpPr>
          <p:cNvPr id="25" name="Shape 23"/>
          <p:cNvSpPr/>
          <p:nvPr/>
        </p:nvSpPr>
        <p:spPr>
          <a:xfrm>
            <a:off x="609600" y="4998720"/>
            <a:ext cx="10972800" cy="853440"/>
          </a:xfrm>
          <a:prstGeom prst="roundRect">
            <a:avLst>
              <a:gd name="adj" fmla="val 10714"/>
            </a:avLst>
          </a:prstGeom>
          <a:solidFill>
            <a:srgbClr val="FFF3DC"/>
          </a:solidFill>
          <a:ln/>
        </p:spPr>
      </p:sp>
      <p:sp>
        <p:nvSpPr>
          <p:cNvPr id="26" name="Text 24"/>
          <p:cNvSpPr/>
          <p:nvPr/>
        </p:nvSpPr>
        <p:spPr>
          <a:xfrm>
            <a:off x="853440" y="4998720"/>
            <a:ext cx="10485120" cy="85344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Maps and data help us answer the question: Who has water, and who needs it? The Council Chamber showed us that evidence-based thinking is how real decisions get made.</a:t>
            </a:r>
            <a:endParaRPr lang="en-US" sz="1300" dirty="0"/>
          </a:p>
        </p:txBody>
      </p:sp>
      <p:sp>
        <p:nvSpPr>
          <p:cNvPr id="27" name="Text 25"/>
          <p:cNvSpPr/>
          <p:nvPr/>
        </p:nvSpPr>
        <p:spPr>
          <a:xfrm>
            <a:off x="609600" y="6400800"/>
            <a:ext cx="3657600" cy="304800"/>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
        <p:nvSpPr>
          <p:cNvPr id="28" name="Text 26"/>
          <p:cNvSpPr/>
          <p:nvPr/>
        </p:nvSpPr>
        <p:spPr>
          <a:xfrm>
            <a:off x="7924800" y="6400800"/>
            <a:ext cx="3657600" cy="3048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Lesson 3.08.02</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p:nvPr/>
        </p:nvSpPr>
        <p:spPr>
          <a:xfrm>
            <a:off x="609600" y="365760"/>
            <a:ext cx="4876800" cy="36576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OPTI SAYS</a:t>
            </a:r>
            <a:endParaRPr lang="en-US" sz="1000" dirty="0"/>
          </a:p>
        </p:txBody>
      </p:sp>
      <p:sp>
        <p:nvSpPr>
          <p:cNvPr id="4" name="Text 2"/>
          <p:cNvSpPr/>
          <p:nvPr/>
        </p:nvSpPr>
        <p:spPr>
          <a:xfrm>
            <a:off x="609600" y="792480"/>
            <a:ext cx="10972800" cy="6096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Is Water Like Other Resources?</a:t>
            </a:r>
            <a:endParaRPr lang="en-US" sz="2800" dirty="0"/>
          </a:p>
        </p:txBody>
      </p:sp>
      <p:sp>
        <p:nvSpPr>
          <p:cNvPr id="5" name="Shape 3"/>
          <p:cNvSpPr/>
          <p:nvPr/>
        </p:nvSpPr>
        <p:spPr>
          <a:xfrm>
            <a:off x="609600" y="1706880"/>
            <a:ext cx="10972800" cy="2438400"/>
          </a:xfrm>
          <a:prstGeom prst="roundRect">
            <a:avLst>
              <a:gd name="adj" fmla="val 5625"/>
            </a:avLst>
          </a:prstGeom>
          <a:solidFill>
            <a:srgbClr val="EAF8FD"/>
          </a:solidFill>
          <a:ln/>
          <a:effectLst>
            <a:outerShdw sx="100000" sy="100000" kx="0" ky="0" algn="bl" rotWithShape="0" blurRad="101600" dist="38100" dir="8100000">
              <a:srgbClr val="000000">
                <a:alpha val="10000"/>
              </a:srgbClr>
            </a:outerShdw>
          </a:effectLst>
        </p:spPr>
      </p:sp>
      <p:sp>
        <p:nvSpPr>
          <p:cNvPr id="6" name="Shape 4"/>
          <p:cNvSpPr/>
          <p:nvPr/>
        </p:nvSpPr>
        <p:spPr>
          <a:xfrm>
            <a:off x="853440" y="1889760"/>
            <a:ext cx="1828800" cy="1828800"/>
          </a:xfrm>
          <a:prstGeom prst="roundRect">
            <a:avLst>
              <a:gd name="adj" fmla="val 6000"/>
            </a:avLst>
          </a:prstGeom>
          <a:solidFill>
            <a:srgbClr val="E2E8F4"/>
          </a:solidFill>
          <a:ln w="19050">
            <a:solidFill>
              <a:srgbClr val="B0B8CC"/>
            </a:solidFill>
            <a:prstDash val="dash"/>
          </a:ln>
        </p:spPr>
      </p:sp>
      <p:sp>
        <p:nvSpPr>
          <p:cNvPr id="7" name="Text 5"/>
          <p:cNvSpPr/>
          <p:nvPr/>
        </p:nvSpPr>
        <p:spPr>
          <a:xfrm>
            <a:off x="853440" y="1889760"/>
            <a:ext cx="18288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1036320" y="2255520"/>
            <a:ext cx="1463040" cy="13716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Opti mascot character looking thoughtful, hand on chin</a:t>
            </a:r>
            <a:endParaRPr lang="en-US" sz="1100" dirty="0"/>
          </a:p>
        </p:txBody>
      </p:sp>
      <p:sp>
        <p:nvSpPr>
          <p:cNvPr id="9" name="Text 7"/>
          <p:cNvSpPr/>
          <p:nvPr/>
        </p:nvSpPr>
        <p:spPr>
          <a:xfrm>
            <a:off x="2926080" y="1889760"/>
            <a:ext cx="8412480" cy="2072640"/>
          </a:xfrm>
          <a:prstGeom prst="rect">
            <a:avLst/>
          </a:prstGeom>
          <a:noFill/>
          <a:ln/>
        </p:spPr>
        <p:txBody>
          <a:bodyPr wrap="square" lIns="0" tIns="0" rIns="0" bIns="0" rtlCol="0" anchor="ctr"/>
          <a:lstStyle/>
          <a:p>
            <a:pPr indent="0" marL="0">
              <a:spcAft>
                <a:spcPts val="800"/>
              </a:spcAft>
              <a:buNone/>
            </a:pPr>
            <a:r>
              <a:rPr lang="en-US" sz="1600" b="1" dirty="0">
                <a:solidFill>
                  <a:srgbClr val="0E1C42"/>
                </a:solidFill>
                <a:latin typeface="Cambria" pitchFamily="34" charset="0"/>
                <a:ea typeface="Cambria" pitchFamily="34" charset="-122"/>
                <a:cs typeface="Cambria" pitchFamily="34" charset="-120"/>
              </a:rPr>
              <a:t>Is water a "resource" like coal or corn?</a:t>
            </a:r>
            <a:endParaRPr lang="en-US" sz="1600" dirty="0"/>
          </a:p>
          <a:p>
            <a:pPr indent="0" marL="0">
              <a:spcAft>
                <a:spcPts val="400"/>
              </a:spcAft>
              <a:buNone/>
            </a:pPr>
            <a:r>
              <a:rPr lang="en-US" sz="1400" dirty="0">
                <a:solidFill>
                  <a:srgbClr val="0E1C42"/>
                </a:solidFill>
                <a:latin typeface="Calibri" pitchFamily="34" charset="0"/>
                <a:ea typeface="Calibri" pitchFamily="34" charset="-122"/>
                <a:cs typeface="Calibri" pitchFamily="34" charset="-120"/>
              </a:rPr>
              <a:t>You can grow more corn. You can dig for more coal.</a:t>
            </a:r>
            <a:endParaRPr lang="en-US" sz="1600" dirty="0"/>
          </a:p>
          <a:p>
            <a:pPr indent="0" marL="0">
              <a:spcAft>
                <a:spcPts val="400"/>
              </a:spcAft>
              <a:buNone/>
            </a:pPr>
            <a:r>
              <a:rPr lang="en-US" sz="1400" dirty="0">
                <a:solidFill>
                  <a:srgbClr val="0E1C42"/>
                </a:solidFill>
                <a:latin typeface="Calibri" pitchFamily="34" charset="0"/>
                <a:ea typeface="Calibri" pitchFamily="34" charset="-122"/>
                <a:cs typeface="Calibri" pitchFamily="34" charset="-120"/>
              </a:rPr>
              <a:t>But fresh water has to rain down from the sky.</a:t>
            </a:r>
            <a:endParaRPr lang="en-US" sz="1600" dirty="0"/>
          </a:p>
          <a:p>
            <a:pPr indent="0" marL="0">
              <a:spcAft>
                <a:spcPts val="800"/>
              </a:spcAft>
              <a:buNone/>
            </a:pPr>
            <a:r>
              <a:rPr lang="en-US" sz="1400" dirty="0">
                <a:solidFill>
                  <a:srgbClr val="0E1C42"/>
                </a:solidFill>
                <a:latin typeface="Calibri" pitchFamily="34" charset="0"/>
                <a:ea typeface="Calibri" pitchFamily="34" charset="-122"/>
                <a:cs typeface="Calibri" pitchFamily="34" charset="-120"/>
              </a:rPr>
              <a:t>You cannot make more of it. You can only move it, save it, or share it.</a:t>
            </a:r>
            <a:endParaRPr lang="en-US" sz="1600" dirty="0"/>
          </a:p>
          <a:p>
            <a:pPr indent="0" marL="0">
              <a:buNone/>
            </a:pPr>
            <a:r>
              <a:rPr lang="en-US" sz="1400" i="1" dirty="0">
                <a:solidFill>
                  <a:srgbClr val="1A8A7D"/>
                </a:solidFill>
                <a:latin typeface="Calibri" pitchFamily="34" charset="0"/>
                <a:ea typeface="Calibri" pitchFamily="34" charset="-122"/>
                <a:cs typeface="Calibri" pitchFamily="34" charset="-120"/>
              </a:rPr>
              <a:t>What does that mean for the regions that do not have enough?</a:t>
            </a:r>
            <a:endParaRPr lang="en-US" sz="1600" dirty="0"/>
          </a:p>
        </p:txBody>
      </p:sp>
      <p:sp>
        <p:nvSpPr>
          <p:cNvPr id="10" name="Shape 8"/>
          <p:cNvSpPr/>
          <p:nvPr/>
        </p:nvSpPr>
        <p:spPr>
          <a:xfrm>
            <a:off x="609600" y="4511040"/>
            <a:ext cx="10972800" cy="1584960"/>
          </a:xfrm>
          <a:prstGeom prst="roundRect">
            <a:avLst>
              <a:gd name="adj" fmla="val 8654"/>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792480" y="4602480"/>
            <a:ext cx="10607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2" name="Text 10"/>
          <p:cNvSpPr/>
          <p:nvPr/>
        </p:nvSpPr>
        <p:spPr>
          <a:xfrm>
            <a:off x="792480" y="4858512"/>
            <a:ext cx="10607040" cy="11460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other resources can people make more of? What resources are limited?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you cannot make more water, what are your only choices?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does this connect to what the Council just discussed?</a:t>
            </a:r>
            <a:endParaRPr lang="en-US" sz="1100" dirty="0"/>
          </a:p>
        </p:txBody>
      </p:sp>
      <p:sp>
        <p:nvSpPr>
          <p:cNvPr id="13" name="Text 11"/>
          <p:cNvSpPr/>
          <p:nvPr/>
        </p:nvSpPr>
        <p:spPr>
          <a:xfrm>
            <a:off x="609600" y="6400800"/>
            <a:ext cx="3657600" cy="304800"/>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
        <p:nvSpPr>
          <p:cNvPr id="14" name="Text 12"/>
          <p:cNvSpPr/>
          <p:nvPr/>
        </p:nvSpPr>
        <p:spPr>
          <a:xfrm>
            <a:off x="7924800" y="6400800"/>
            <a:ext cx="3657600" cy="3048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Lesson 3.08.02</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4876800" cy="365760"/>
          </a:xfrm>
          <a:prstGeom prst="rect">
            <a:avLst/>
          </a:prstGeom>
          <a:noFill/>
          <a:ln/>
        </p:spPr>
        <p:txBody>
          <a:bodyPr wrap="square" lIns="0" tIns="0" rIns="0" bIns="0" rtlCol="0" anchor="ctr"/>
          <a:lstStyle/>
          <a:p>
            <a:pPr indent="0" marL="0">
              <a:buNone/>
            </a:pPr>
            <a:r>
              <a:rPr lang="en-US" sz="1000" b="1" spc="200" kern="0" dirty="0">
                <a:solidFill>
                  <a:srgbClr val="34B76F"/>
                </a:solidFill>
                <a:latin typeface="Calibri" pitchFamily="34" charset="0"/>
                <a:ea typeface="Calibri" pitchFamily="34" charset="-122"/>
                <a:cs typeface="Calibri" pitchFamily="34" charset="-120"/>
              </a:rPr>
              <a:t>SELF-CHECK</a:t>
            </a:r>
            <a:endParaRPr lang="en-US" sz="1000" dirty="0"/>
          </a:p>
        </p:txBody>
      </p:sp>
      <p:sp>
        <p:nvSpPr>
          <p:cNvPr id="4" name="Text 2"/>
          <p:cNvSpPr/>
          <p:nvPr/>
        </p:nvSpPr>
        <p:spPr>
          <a:xfrm>
            <a:off x="609600" y="731520"/>
            <a:ext cx="6096000" cy="48768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Question 1 of 3</a:t>
            </a:r>
            <a:endParaRPr lang="en-US" sz="2200" dirty="0"/>
          </a:p>
        </p:txBody>
      </p:sp>
      <p:sp>
        <p:nvSpPr>
          <p:cNvPr id="5" name="Shape 3"/>
          <p:cNvSpPr/>
          <p:nvPr/>
        </p:nvSpPr>
        <p:spPr>
          <a:xfrm>
            <a:off x="609600" y="1463040"/>
            <a:ext cx="10972800" cy="853440"/>
          </a:xfrm>
          <a:prstGeom prst="roundRect">
            <a:avLst>
              <a:gd name="adj" fmla="val 10714"/>
            </a:avLst>
          </a:prstGeom>
          <a:solidFill>
            <a:srgbClr val="FFFFFF"/>
          </a:solidFill>
          <a:ln/>
          <a:effectLst>
            <a:outerShdw sx="100000" sy="100000" kx="0" ky="0" algn="bl" rotWithShape="0" blurRad="50800" dist="12700" dir="8100000">
              <a:srgbClr val="000000">
                <a:alpha val="8000"/>
              </a:srgbClr>
            </a:outerShdw>
          </a:effectLst>
        </p:spPr>
      </p:sp>
      <p:sp>
        <p:nvSpPr>
          <p:cNvPr id="6" name="Text 4"/>
          <p:cNvSpPr/>
          <p:nvPr/>
        </p:nvSpPr>
        <p:spPr>
          <a:xfrm>
            <a:off x="853440" y="1463040"/>
            <a:ext cx="10485120" cy="85344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What makes the Southwest most at risk for water shortages?</a:t>
            </a:r>
            <a:endParaRPr lang="en-US" sz="1600" dirty="0"/>
          </a:p>
        </p:txBody>
      </p:sp>
      <p:sp>
        <p:nvSpPr>
          <p:cNvPr id="7" name="Shape 5"/>
          <p:cNvSpPr/>
          <p:nvPr/>
        </p:nvSpPr>
        <p:spPr>
          <a:xfrm>
            <a:off x="609600" y="2682240"/>
            <a:ext cx="10972800" cy="670560"/>
          </a:xfrm>
          <a:prstGeom prst="roundRect">
            <a:avLst>
              <a:gd name="adj" fmla="val 13636"/>
            </a:avLst>
          </a:prstGeom>
          <a:solidFill>
            <a:srgbClr val="FFFFFF"/>
          </a:solidFill>
          <a:ln/>
          <a:effectLst>
            <a:outerShdw sx="100000" sy="100000" kx="0" ky="0" algn="bl" rotWithShape="0" blurRad="38100" dist="12700" dir="8100000">
              <a:srgbClr val="000000">
                <a:alpha val="6000"/>
              </a:srgbClr>
            </a:outerShdw>
          </a:effectLst>
        </p:spPr>
      </p:sp>
      <p:sp>
        <p:nvSpPr>
          <p:cNvPr id="8" name="Shape 6"/>
          <p:cNvSpPr/>
          <p:nvPr/>
        </p:nvSpPr>
        <p:spPr>
          <a:xfrm>
            <a:off x="792480" y="2779776"/>
            <a:ext cx="463296" cy="463296"/>
          </a:xfrm>
          <a:prstGeom prst="roundRect">
            <a:avLst>
              <a:gd name="adj" fmla="val 37500"/>
            </a:avLst>
          </a:prstGeom>
          <a:solidFill>
            <a:srgbClr val="7A88A8"/>
          </a:solidFill>
          <a:ln/>
        </p:spPr>
      </p:sp>
      <p:sp>
        <p:nvSpPr>
          <p:cNvPr id="9" name="Text 7"/>
          <p:cNvSpPr/>
          <p:nvPr/>
        </p:nvSpPr>
        <p:spPr>
          <a:xfrm>
            <a:off x="792480" y="2779776"/>
            <a:ext cx="463296" cy="4632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0" name="Text 8"/>
          <p:cNvSpPr/>
          <p:nvPr/>
        </p:nvSpPr>
        <p:spPr>
          <a:xfrm>
            <a:off x="1463040" y="2682240"/>
            <a:ext cx="9753600" cy="67056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It has the longest coastline of any region</a:t>
            </a:r>
            <a:endParaRPr lang="en-US" sz="1400" dirty="0"/>
          </a:p>
        </p:txBody>
      </p:sp>
      <p:sp>
        <p:nvSpPr>
          <p:cNvPr id="11" name="Shape 9"/>
          <p:cNvSpPr/>
          <p:nvPr/>
        </p:nvSpPr>
        <p:spPr>
          <a:xfrm>
            <a:off x="609600" y="3535680"/>
            <a:ext cx="10972800" cy="670560"/>
          </a:xfrm>
          <a:prstGeom prst="roundRect">
            <a:avLst>
              <a:gd name="adj" fmla="val 13636"/>
            </a:avLst>
          </a:prstGeom>
          <a:solidFill>
            <a:srgbClr val="E3F8ED"/>
          </a:solidFill>
          <a:ln/>
          <a:effectLst>
            <a:outerShdw sx="100000" sy="100000" kx="0" ky="0" algn="bl" rotWithShape="0" blurRad="38100" dist="12700" dir="8100000">
              <a:srgbClr val="000000">
                <a:alpha val="6000"/>
              </a:srgbClr>
            </a:outerShdw>
          </a:effectLst>
        </p:spPr>
      </p:sp>
      <p:sp>
        <p:nvSpPr>
          <p:cNvPr id="12" name="Shape 10"/>
          <p:cNvSpPr/>
          <p:nvPr/>
        </p:nvSpPr>
        <p:spPr>
          <a:xfrm>
            <a:off x="792480" y="3633216"/>
            <a:ext cx="463296" cy="463296"/>
          </a:xfrm>
          <a:prstGeom prst="roundRect">
            <a:avLst>
              <a:gd name="adj" fmla="val 37500"/>
            </a:avLst>
          </a:prstGeom>
          <a:solidFill>
            <a:srgbClr val="34B76F"/>
          </a:solidFill>
          <a:ln/>
        </p:spPr>
      </p:sp>
      <p:sp>
        <p:nvSpPr>
          <p:cNvPr id="13" name="Text 11"/>
          <p:cNvSpPr/>
          <p:nvPr/>
        </p:nvSpPr>
        <p:spPr>
          <a:xfrm>
            <a:off x="792480" y="3633216"/>
            <a:ext cx="463296" cy="4632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4" name="Text 12"/>
          <p:cNvSpPr/>
          <p:nvPr/>
        </p:nvSpPr>
        <p:spPr>
          <a:xfrm>
            <a:off x="1463040" y="3535680"/>
            <a:ext cx="9753600" cy="67056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Driest region, deserts, limited rivers that are overused</a:t>
            </a:r>
            <a:endParaRPr lang="en-US" sz="1400" dirty="0"/>
          </a:p>
        </p:txBody>
      </p:sp>
      <p:sp>
        <p:nvSpPr>
          <p:cNvPr id="15" name="Shape 13"/>
          <p:cNvSpPr/>
          <p:nvPr/>
        </p:nvSpPr>
        <p:spPr>
          <a:xfrm>
            <a:off x="609600" y="4389120"/>
            <a:ext cx="10972800" cy="670560"/>
          </a:xfrm>
          <a:prstGeom prst="roundRect">
            <a:avLst>
              <a:gd name="adj" fmla="val 13636"/>
            </a:avLst>
          </a:prstGeom>
          <a:solidFill>
            <a:srgbClr val="FFFFFF"/>
          </a:solidFill>
          <a:ln/>
          <a:effectLst>
            <a:outerShdw sx="100000" sy="100000" kx="0" ky="0" algn="bl" rotWithShape="0" blurRad="38100" dist="12700" dir="8100000">
              <a:srgbClr val="000000">
                <a:alpha val="6000"/>
              </a:srgbClr>
            </a:outerShdw>
          </a:effectLst>
        </p:spPr>
      </p:sp>
      <p:sp>
        <p:nvSpPr>
          <p:cNvPr id="16" name="Shape 14"/>
          <p:cNvSpPr/>
          <p:nvPr/>
        </p:nvSpPr>
        <p:spPr>
          <a:xfrm>
            <a:off x="792480" y="4486656"/>
            <a:ext cx="463296" cy="463296"/>
          </a:xfrm>
          <a:prstGeom prst="roundRect">
            <a:avLst>
              <a:gd name="adj" fmla="val 37500"/>
            </a:avLst>
          </a:prstGeom>
          <a:solidFill>
            <a:srgbClr val="7A88A8"/>
          </a:solidFill>
          <a:ln/>
        </p:spPr>
      </p:sp>
      <p:sp>
        <p:nvSpPr>
          <p:cNvPr id="17" name="Text 15"/>
          <p:cNvSpPr/>
          <p:nvPr/>
        </p:nvSpPr>
        <p:spPr>
          <a:xfrm>
            <a:off x="792480" y="4486656"/>
            <a:ext cx="463296" cy="4632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Text 16"/>
          <p:cNvSpPr/>
          <p:nvPr/>
        </p:nvSpPr>
        <p:spPr>
          <a:xfrm>
            <a:off x="1463040" y="4389120"/>
            <a:ext cx="9753600" cy="67056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Too many lakes cause flooding problems</a:t>
            </a:r>
            <a:endParaRPr lang="en-US" sz="1400" dirty="0"/>
          </a:p>
        </p:txBody>
      </p:sp>
      <p:sp>
        <p:nvSpPr>
          <p:cNvPr id="19" name="Text 17"/>
          <p:cNvSpPr/>
          <p:nvPr/>
        </p:nvSpPr>
        <p:spPr>
          <a:xfrm>
            <a:off x="609600" y="6400800"/>
            <a:ext cx="3657600" cy="304800"/>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
        <p:nvSpPr>
          <p:cNvPr id="20" name="Text 18"/>
          <p:cNvSpPr/>
          <p:nvPr/>
        </p:nvSpPr>
        <p:spPr>
          <a:xfrm>
            <a:off x="7924800" y="6400800"/>
            <a:ext cx="3657600" cy="3048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Lesson 3.08.02</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4876800" cy="365760"/>
          </a:xfrm>
          <a:prstGeom prst="rect">
            <a:avLst/>
          </a:prstGeom>
          <a:noFill/>
          <a:ln/>
        </p:spPr>
        <p:txBody>
          <a:bodyPr wrap="square" lIns="0" tIns="0" rIns="0" bIns="0" rtlCol="0" anchor="ctr"/>
          <a:lstStyle/>
          <a:p>
            <a:pPr indent="0" marL="0">
              <a:buNone/>
            </a:pPr>
            <a:r>
              <a:rPr lang="en-US" sz="1000" b="1" spc="200" kern="0" dirty="0">
                <a:solidFill>
                  <a:srgbClr val="34B76F"/>
                </a:solidFill>
                <a:latin typeface="Calibri" pitchFamily="34" charset="0"/>
                <a:ea typeface="Calibri" pitchFamily="34" charset="-122"/>
                <a:cs typeface="Calibri" pitchFamily="34" charset="-120"/>
              </a:rPr>
              <a:t>SELF-CHECK</a:t>
            </a:r>
            <a:endParaRPr lang="en-US" sz="1000" dirty="0"/>
          </a:p>
        </p:txBody>
      </p:sp>
      <p:sp>
        <p:nvSpPr>
          <p:cNvPr id="4" name="Text 2"/>
          <p:cNvSpPr/>
          <p:nvPr/>
        </p:nvSpPr>
        <p:spPr>
          <a:xfrm>
            <a:off x="609600" y="731520"/>
            <a:ext cx="6096000" cy="48768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Question 2 of 3</a:t>
            </a:r>
            <a:endParaRPr lang="en-US" sz="2200" dirty="0"/>
          </a:p>
        </p:txBody>
      </p:sp>
      <p:sp>
        <p:nvSpPr>
          <p:cNvPr id="5" name="Shape 3"/>
          <p:cNvSpPr/>
          <p:nvPr/>
        </p:nvSpPr>
        <p:spPr>
          <a:xfrm>
            <a:off x="609600" y="1463040"/>
            <a:ext cx="10972800" cy="853440"/>
          </a:xfrm>
          <a:prstGeom prst="roundRect">
            <a:avLst>
              <a:gd name="adj" fmla="val 10714"/>
            </a:avLst>
          </a:prstGeom>
          <a:solidFill>
            <a:srgbClr val="FFFFFF"/>
          </a:solidFill>
          <a:ln/>
          <a:effectLst>
            <a:outerShdw sx="100000" sy="100000" kx="0" ky="0" algn="bl" rotWithShape="0" blurRad="50800" dist="12700" dir="8100000">
              <a:srgbClr val="000000">
                <a:alpha val="8000"/>
              </a:srgbClr>
            </a:outerShdw>
          </a:effectLst>
        </p:spPr>
      </p:sp>
      <p:sp>
        <p:nvSpPr>
          <p:cNvPr id="6" name="Text 4"/>
          <p:cNvSpPr/>
          <p:nvPr/>
        </p:nvSpPr>
        <p:spPr>
          <a:xfrm>
            <a:off x="853440" y="1463040"/>
            <a:ext cx="10485120" cy="85344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The Council Chamber routine asks you to...</a:t>
            </a:r>
            <a:endParaRPr lang="en-US" sz="1600" dirty="0"/>
          </a:p>
        </p:txBody>
      </p:sp>
      <p:sp>
        <p:nvSpPr>
          <p:cNvPr id="7" name="Shape 5"/>
          <p:cNvSpPr/>
          <p:nvPr/>
        </p:nvSpPr>
        <p:spPr>
          <a:xfrm>
            <a:off x="609600" y="2682240"/>
            <a:ext cx="10972800" cy="670560"/>
          </a:xfrm>
          <a:prstGeom prst="roundRect">
            <a:avLst>
              <a:gd name="adj" fmla="val 13636"/>
            </a:avLst>
          </a:prstGeom>
          <a:solidFill>
            <a:srgbClr val="FFFFFF"/>
          </a:solidFill>
          <a:ln/>
          <a:effectLst>
            <a:outerShdw sx="100000" sy="100000" kx="0" ky="0" algn="bl" rotWithShape="0" blurRad="38100" dist="12700" dir="8100000">
              <a:srgbClr val="000000">
                <a:alpha val="6000"/>
              </a:srgbClr>
            </a:outerShdw>
          </a:effectLst>
        </p:spPr>
      </p:sp>
      <p:sp>
        <p:nvSpPr>
          <p:cNvPr id="8" name="Shape 6"/>
          <p:cNvSpPr/>
          <p:nvPr/>
        </p:nvSpPr>
        <p:spPr>
          <a:xfrm>
            <a:off x="792480" y="2779776"/>
            <a:ext cx="463296" cy="463296"/>
          </a:xfrm>
          <a:prstGeom prst="roundRect">
            <a:avLst>
              <a:gd name="adj" fmla="val 37500"/>
            </a:avLst>
          </a:prstGeom>
          <a:solidFill>
            <a:srgbClr val="7A88A8"/>
          </a:solidFill>
          <a:ln/>
        </p:spPr>
      </p:sp>
      <p:sp>
        <p:nvSpPr>
          <p:cNvPr id="9" name="Text 7"/>
          <p:cNvSpPr/>
          <p:nvPr/>
        </p:nvSpPr>
        <p:spPr>
          <a:xfrm>
            <a:off x="792480" y="2779776"/>
            <a:ext cx="463296" cy="4632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0" name="Text 8"/>
          <p:cNvSpPr/>
          <p:nvPr/>
        </p:nvSpPr>
        <p:spPr>
          <a:xfrm>
            <a:off x="1463040" y="2682240"/>
            <a:ext cx="9753600" cy="67056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Memorize all the rivers in every region</a:t>
            </a:r>
            <a:endParaRPr lang="en-US" sz="1400" dirty="0"/>
          </a:p>
        </p:txBody>
      </p:sp>
      <p:sp>
        <p:nvSpPr>
          <p:cNvPr id="11" name="Shape 9"/>
          <p:cNvSpPr/>
          <p:nvPr/>
        </p:nvSpPr>
        <p:spPr>
          <a:xfrm>
            <a:off x="609600" y="3535680"/>
            <a:ext cx="10972800" cy="670560"/>
          </a:xfrm>
          <a:prstGeom prst="roundRect">
            <a:avLst>
              <a:gd name="adj" fmla="val 13636"/>
            </a:avLst>
          </a:prstGeom>
          <a:solidFill>
            <a:srgbClr val="E3F8ED"/>
          </a:solidFill>
          <a:ln/>
          <a:effectLst>
            <a:outerShdw sx="100000" sy="100000" kx="0" ky="0" algn="bl" rotWithShape="0" blurRad="38100" dist="12700" dir="8100000">
              <a:srgbClr val="000000">
                <a:alpha val="6000"/>
              </a:srgbClr>
            </a:outerShdw>
          </a:effectLst>
        </p:spPr>
      </p:sp>
      <p:sp>
        <p:nvSpPr>
          <p:cNvPr id="12" name="Shape 10"/>
          <p:cNvSpPr/>
          <p:nvPr/>
        </p:nvSpPr>
        <p:spPr>
          <a:xfrm>
            <a:off x="792480" y="3633216"/>
            <a:ext cx="463296" cy="463296"/>
          </a:xfrm>
          <a:prstGeom prst="roundRect">
            <a:avLst>
              <a:gd name="adj" fmla="val 37500"/>
            </a:avLst>
          </a:prstGeom>
          <a:solidFill>
            <a:srgbClr val="34B76F"/>
          </a:solidFill>
          <a:ln/>
        </p:spPr>
      </p:sp>
      <p:sp>
        <p:nvSpPr>
          <p:cNvPr id="13" name="Text 11"/>
          <p:cNvSpPr/>
          <p:nvPr/>
        </p:nvSpPr>
        <p:spPr>
          <a:xfrm>
            <a:off x="792480" y="3633216"/>
            <a:ext cx="463296" cy="4632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4" name="Text 12"/>
          <p:cNvSpPr/>
          <p:nvPr/>
        </p:nvSpPr>
        <p:spPr>
          <a:xfrm>
            <a:off x="1463040" y="3535680"/>
            <a:ext cx="9753600" cy="67056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Weigh evidence and make a recommendation</a:t>
            </a:r>
            <a:endParaRPr lang="en-US" sz="1400" dirty="0"/>
          </a:p>
        </p:txBody>
      </p:sp>
      <p:sp>
        <p:nvSpPr>
          <p:cNvPr id="15" name="Shape 13"/>
          <p:cNvSpPr/>
          <p:nvPr/>
        </p:nvSpPr>
        <p:spPr>
          <a:xfrm>
            <a:off x="609600" y="4389120"/>
            <a:ext cx="10972800" cy="670560"/>
          </a:xfrm>
          <a:prstGeom prst="roundRect">
            <a:avLst>
              <a:gd name="adj" fmla="val 13636"/>
            </a:avLst>
          </a:prstGeom>
          <a:solidFill>
            <a:srgbClr val="FFFFFF"/>
          </a:solidFill>
          <a:ln/>
          <a:effectLst>
            <a:outerShdw sx="100000" sy="100000" kx="0" ky="0" algn="bl" rotWithShape="0" blurRad="38100" dist="12700" dir="8100000">
              <a:srgbClr val="000000">
                <a:alpha val="6000"/>
              </a:srgbClr>
            </a:outerShdw>
          </a:effectLst>
        </p:spPr>
      </p:sp>
      <p:sp>
        <p:nvSpPr>
          <p:cNvPr id="16" name="Shape 14"/>
          <p:cNvSpPr/>
          <p:nvPr/>
        </p:nvSpPr>
        <p:spPr>
          <a:xfrm>
            <a:off x="792480" y="4486656"/>
            <a:ext cx="463296" cy="463296"/>
          </a:xfrm>
          <a:prstGeom prst="roundRect">
            <a:avLst>
              <a:gd name="adj" fmla="val 37500"/>
            </a:avLst>
          </a:prstGeom>
          <a:solidFill>
            <a:srgbClr val="7A88A8"/>
          </a:solidFill>
          <a:ln/>
        </p:spPr>
      </p:sp>
      <p:sp>
        <p:nvSpPr>
          <p:cNvPr id="17" name="Text 15"/>
          <p:cNvSpPr/>
          <p:nvPr/>
        </p:nvSpPr>
        <p:spPr>
          <a:xfrm>
            <a:off x="792480" y="4486656"/>
            <a:ext cx="463296" cy="4632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Text 16"/>
          <p:cNvSpPr/>
          <p:nvPr/>
        </p:nvSpPr>
        <p:spPr>
          <a:xfrm>
            <a:off x="1463040" y="4389120"/>
            <a:ext cx="9753600" cy="67056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Pick the answer the teacher wants to hear</a:t>
            </a:r>
            <a:endParaRPr lang="en-US" sz="1400" dirty="0"/>
          </a:p>
        </p:txBody>
      </p:sp>
      <p:sp>
        <p:nvSpPr>
          <p:cNvPr id="19" name="Text 17"/>
          <p:cNvSpPr/>
          <p:nvPr/>
        </p:nvSpPr>
        <p:spPr>
          <a:xfrm>
            <a:off x="609600" y="6400800"/>
            <a:ext cx="3657600" cy="304800"/>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
        <p:nvSpPr>
          <p:cNvPr id="20" name="Text 18"/>
          <p:cNvSpPr/>
          <p:nvPr/>
        </p:nvSpPr>
        <p:spPr>
          <a:xfrm>
            <a:off x="7924800" y="6400800"/>
            <a:ext cx="3657600" cy="3048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Lesson 3.08.02</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4876800" cy="365760"/>
          </a:xfrm>
          <a:prstGeom prst="rect">
            <a:avLst/>
          </a:prstGeom>
          <a:noFill/>
          <a:ln/>
        </p:spPr>
        <p:txBody>
          <a:bodyPr wrap="square" lIns="0" tIns="0" rIns="0" bIns="0" rtlCol="0" anchor="ctr"/>
          <a:lstStyle/>
          <a:p>
            <a:pPr indent="0" marL="0">
              <a:buNone/>
            </a:pPr>
            <a:r>
              <a:rPr lang="en-US" sz="1000" b="1" spc="200" kern="0" dirty="0">
                <a:solidFill>
                  <a:srgbClr val="34B76F"/>
                </a:solidFill>
                <a:latin typeface="Calibri" pitchFamily="34" charset="0"/>
                <a:ea typeface="Calibri" pitchFamily="34" charset="-122"/>
                <a:cs typeface="Calibri" pitchFamily="34" charset="-120"/>
              </a:rPr>
              <a:t>SELF-CHECK</a:t>
            </a:r>
            <a:endParaRPr lang="en-US" sz="1000" dirty="0"/>
          </a:p>
        </p:txBody>
      </p:sp>
      <p:sp>
        <p:nvSpPr>
          <p:cNvPr id="4" name="Text 2"/>
          <p:cNvSpPr/>
          <p:nvPr/>
        </p:nvSpPr>
        <p:spPr>
          <a:xfrm>
            <a:off x="609600" y="731520"/>
            <a:ext cx="6096000" cy="48768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Question 3 of 3</a:t>
            </a:r>
            <a:endParaRPr lang="en-US" sz="2200" dirty="0"/>
          </a:p>
        </p:txBody>
      </p:sp>
      <p:sp>
        <p:nvSpPr>
          <p:cNvPr id="5" name="Shape 3"/>
          <p:cNvSpPr/>
          <p:nvPr/>
        </p:nvSpPr>
        <p:spPr>
          <a:xfrm>
            <a:off x="609600" y="1463040"/>
            <a:ext cx="10972800" cy="853440"/>
          </a:xfrm>
          <a:prstGeom prst="roundRect">
            <a:avLst>
              <a:gd name="adj" fmla="val 10714"/>
            </a:avLst>
          </a:prstGeom>
          <a:solidFill>
            <a:srgbClr val="FFFFFF"/>
          </a:solidFill>
          <a:ln/>
          <a:effectLst>
            <a:outerShdw sx="100000" sy="100000" kx="0" ky="0" algn="bl" rotWithShape="0" blurRad="50800" dist="12700" dir="8100000">
              <a:srgbClr val="000000">
                <a:alpha val="8000"/>
              </a:srgbClr>
            </a:outerShdw>
          </a:effectLst>
        </p:spPr>
      </p:sp>
      <p:sp>
        <p:nvSpPr>
          <p:cNvPr id="6" name="Text 4"/>
          <p:cNvSpPr/>
          <p:nvPr/>
        </p:nvSpPr>
        <p:spPr>
          <a:xfrm>
            <a:off x="853440" y="1463040"/>
            <a:ext cx="10485120" cy="85344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What is the BIG question connecting to the next unit?</a:t>
            </a:r>
            <a:endParaRPr lang="en-US" sz="1600" dirty="0"/>
          </a:p>
        </p:txBody>
      </p:sp>
      <p:sp>
        <p:nvSpPr>
          <p:cNvPr id="7" name="Shape 5"/>
          <p:cNvSpPr/>
          <p:nvPr/>
        </p:nvSpPr>
        <p:spPr>
          <a:xfrm>
            <a:off x="609600" y="2682240"/>
            <a:ext cx="10972800" cy="670560"/>
          </a:xfrm>
          <a:prstGeom prst="roundRect">
            <a:avLst>
              <a:gd name="adj" fmla="val 13636"/>
            </a:avLst>
          </a:prstGeom>
          <a:solidFill>
            <a:srgbClr val="FFFFFF"/>
          </a:solidFill>
          <a:ln/>
          <a:effectLst>
            <a:outerShdw sx="100000" sy="100000" kx="0" ky="0" algn="bl" rotWithShape="0" blurRad="38100" dist="12700" dir="8100000">
              <a:srgbClr val="000000">
                <a:alpha val="6000"/>
              </a:srgbClr>
            </a:outerShdw>
          </a:effectLst>
        </p:spPr>
      </p:sp>
      <p:sp>
        <p:nvSpPr>
          <p:cNvPr id="8" name="Shape 6"/>
          <p:cNvSpPr/>
          <p:nvPr/>
        </p:nvSpPr>
        <p:spPr>
          <a:xfrm>
            <a:off x="792480" y="2779776"/>
            <a:ext cx="463296" cy="463296"/>
          </a:xfrm>
          <a:prstGeom prst="roundRect">
            <a:avLst>
              <a:gd name="adj" fmla="val 37500"/>
            </a:avLst>
          </a:prstGeom>
          <a:solidFill>
            <a:srgbClr val="7A88A8"/>
          </a:solidFill>
          <a:ln/>
        </p:spPr>
      </p:sp>
      <p:sp>
        <p:nvSpPr>
          <p:cNvPr id="9" name="Text 7"/>
          <p:cNvSpPr/>
          <p:nvPr/>
        </p:nvSpPr>
        <p:spPr>
          <a:xfrm>
            <a:off x="792480" y="2779776"/>
            <a:ext cx="463296" cy="4632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0" name="Text 8"/>
          <p:cNvSpPr/>
          <p:nvPr/>
        </p:nvSpPr>
        <p:spPr>
          <a:xfrm>
            <a:off x="1463040" y="2682240"/>
            <a:ext cx="9753600" cy="67056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How many rivers does each region have?</a:t>
            </a:r>
            <a:endParaRPr lang="en-US" sz="1400" dirty="0"/>
          </a:p>
        </p:txBody>
      </p:sp>
      <p:sp>
        <p:nvSpPr>
          <p:cNvPr id="11" name="Shape 9"/>
          <p:cNvSpPr/>
          <p:nvPr/>
        </p:nvSpPr>
        <p:spPr>
          <a:xfrm>
            <a:off x="609600" y="3535680"/>
            <a:ext cx="10972800" cy="670560"/>
          </a:xfrm>
          <a:prstGeom prst="roundRect">
            <a:avLst>
              <a:gd name="adj" fmla="val 13636"/>
            </a:avLst>
          </a:prstGeom>
          <a:solidFill>
            <a:srgbClr val="E3F8ED"/>
          </a:solidFill>
          <a:ln/>
          <a:effectLst>
            <a:outerShdw sx="100000" sy="100000" kx="0" ky="0" algn="bl" rotWithShape="0" blurRad="38100" dist="12700" dir="8100000">
              <a:srgbClr val="000000">
                <a:alpha val="6000"/>
              </a:srgbClr>
            </a:outerShdw>
          </a:effectLst>
        </p:spPr>
      </p:sp>
      <p:sp>
        <p:nvSpPr>
          <p:cNvPr id="12" name="Shape 10"/>
          <p:cNvSpPr/>
          <p:nvPr/>
        </p:nvSpPr>
        <p:spPr>
          <a:xfrm>
            <a:off x="792480" y="3633216"/>
            <a:ext cx="463296" cy="463296"/>
          </a:xfrm>
          <a:prstGeom prst="roundRect">
            <a:avLst>
              <a:gd name="adj" fmla="val 37500"/>
            </a:avLst>
          </a:prstGeom>
          <a:solidFill>
            <a:srgbClr val="34B76F"/>
          </a:solidFill>
          <a:ln/>
        </p:spPr>
      </p:sp>
      <p:sp>
        <p:nvSpPr>
          <p:cNvPr id="13" name="Text 11"/>
          <p:cNvSpPr/>
          <p:nvPr/>
        </p:nvSpPr>
        <p:spPr>
          <a:xfrm>
            <a:off x="792480" y="3633216"/>
            <a:ext cx="463296" cy="4632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4" name="Text 12"/>
          <p:cNvSpPr/>
          <p:nvPr/>
        </p:nvSpPr>
        <p:spPr>
          <a:xfrm>
            <a:off x="1463040" y="3535680"/>
            <a:ext cx="9753600" cy="67056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When resources are limited, how do people decide what to do?</a:t>
            </a:r>
            <a:endParaRPr lang="en-US" sz="1400" dirty="0"/>
          </a:p>
        </p:txBody>
      </p:sp>
      <p:sp>
        <p:nvSpPr>
          <p:cNvPr id="15" name="Shape 13"/>
          <p:cNvSpPr/>
          <p:nvPr/>
        </p:nvSpPr>
        <p:spPr>
          <a:xfrm>
            <a:off x="609600" y="4389120"/>
            <a:ext cx="10972800" cy="670560"/>
          </a:xfrm>
          <a:prstGeom prst="roundRect">
            <a:avLst>
              <a:gd name="adj" fmla="val 13636"/>
            </a:avLst>
          </a:prstGeom>
          <a:solidFill>
            <a:srgbClr val="FFFFFF"/>
          </a:solidFill>
          <a:ln/>
          <a:effectLst>
            <a:outerShdw sx="100000" sy="100000" kx="0" ky="0" algn="bl" rotWithShape="0" blurRad="38100" dist="12700" dir="8100000">
              <a:srgbClr val="000000">
                <a:alpha val="6000"/>
              </a:srgbClr>
            </a:outerShdw>
          </a:effectLst>
        </p:spPr>
      </p:sp>
      <p:sp>
        <p:nvSpPr>
          <p:cNvPr id="16" name="Shape 14"/>
          <p:cNvSpPr/>
          <p:nvPr/>
        </p:nvSpPr>
        <p:spPr>
          <a:xfrm>
            <a:off x="792480" y="4486656"/>
            <a:ext cx="463296" cy="463296"/>
          </a:xfrm>
          <a:prstGeom prst="roundRect">
            <a:avLst>
              <a:gd name="adj" fmla="val 37500"/>
            </a:avLst>
          </a:prstGeom>
          <a:solidFill>
            <a:srgbClr val="7A88A8"/>
          </a:solidFill>
          <a:ln/>
        </p:spPr>
      </p:sp>
      <p:sp>
        <p:nvSpPr>
          <p:cNvPr id="17" name="Text 15"/>
          <p:cNvSpPr/>
          <p:nvPr/>
        </p:nvSpPr>
        <p:spPr>
          <a:xfrm>
            <a:off x="792480" y="4486656"/>
            <a:ext cx="463296" cy="4632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Text 16"/>
          <p:cNvSpPr/>
          <p:nvPr/>
        </p:nvSpPr>
        <p:spPr>
          <a:xfrm>
            <a:off x="1463040" y="4389120"/>
            <a:ext cx="9753600" cy="67056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Which region has the best weather for farming?</a:t>
            </a:r>
            <a:endParaRPr lang="en-US" sz="1400" dirty="0"/>
          </a:p>
        </p:txBody>
      </p:sp>
      <p:sp>
        <p:nvSpPr>
          <p:cNvPr id="19" name="Text 17"/>
          <p:cNvSpPr/>
          <p:nvPr/>
        </p:nvSpPr>
        <p:spPr>
          <a:xfrm>
            <a:off x="609600" y="6400800"/>
            <a:ext cx="3657600" cy="304800"/>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
        <p:nvSpPr>
          <p:cNvPr id="20" name="Text 18"/>
          <p:cNvSpPr/>
          <p:nvPr/>
        </p:nvSpPr>
        <p:spPr>
          <a:xfrm>
            <a:off x="7924800" y="6400800"/>
            <a:ext cx="3657600" cy="3048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Lesson 3.08.02</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p:nvPr/>
        </p:nvSpPr>
        <p:spPr>
          <a:xfrm>
            <a:off x="609600" y="365760"/>
            <a:ext cx="4876800" cy="36576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ASSIGNMENT</a:t>
            </a:r>
            <a:endParaRPr lang="en-US" sz="1000" dirty="0"/>
          </a:p>
        </p:txBody>
      </p:sp>
      <p:sp>
        <p:nvSpPr>
          <p:cNvPr id="4" name="Text 2"/>
          <p:cNvSpPr/>
          <p:nvPr/>
        </p:nvSpPr>
        <p:spPr>
          <a:xfrm>
            <a:off x="609600" y="731520"/>
            <a:ext cx="10972800" cy="6096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Evidence Questions and Curator Task</a:t>
            </a:r>
            <a:endParaRPr lang="en-US" sz="2600" dirty="0"/>
          </a:p>
        </p:txBody>
      </p:sp>
      <p:sp>
        <p:nvSpPr>
          <p:cNvPr id="5" name="Shape 3"/>
          <p:cNvSpPr/>
          <p:nvPr/>
        </p:nvSpPr>
        <p:spPr>
          <a:xfrm>
            <a:off x="609600" y="1584960"/>
            <a:ext cx="10972800" cy="2560320"/>
          </a:xfrm>
          <a:prstGeom prst="roundRect">
            <a:avLst>
              <a:gd name="adj" fmla="val 4286"/>
            </a:avLst>
          </a:prstGeom>
          <a:solidFill>
            <a:srgbClr val="F0F2F8"/>
          </a:solidFill>
          <a:ln/>
          <a:effectLst>
            <a:outerShdw sx="100000" sy="100000" kx="0" ky="0" algn="bl" rotWithShape="0" blurRad="50800" dist="12700" dir="8100000">
              <a:srgbClr val="000000">
                <a:alpha val="8000"/>
              </a:srgbClr>
            </a:outerShdw>
          </a:effectLst>
        </p:spPr>
      </p:sp>
      <p:sp>
        <p:nvSpPr>
          <p:cNvPr id="6" name="Text 4"/>
          <p:cNvSpPr/>
          <p:nvPr/>
        </p:nvSpPr>
        <p:spPr>
          <a:xfrm>
            <a:off x="853440" y="1706880"/>
            <a:ext cx="4876800" cy="365760"/>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EVIDENCE QUESTIONS</a:t>
            </a:r>
            <a:endParaRPr lang="en-US" sz="1000" dirty="0"/>
          </a:p>
        </p:txBody>
      </p:sp>
      <p:sp>
        <p:nvSpPr>
          <p:cNvPr id="7" name="Text 5"/>
          <p:cNvSpPr/>
          <p:nvPr/>
        </p:nvSpPr>
        <p:spPr>
          <a:xfrm>
            <a:off x="853440" y="2133600"/>
            <a:ext cx="10485120" cy="1828800"/>
          </a:xfrm>
          <a:prstGeom prst="rect">
            <a:avLst/>
          </a:prstGeom>
          <a:noFill/>
          <a:ln/>
        </p:spPr>
        <p:txBody>
          <a:bodyPr wrap="square" lIns="0" tIns="0" rIns="0" bIns="0" rtlCol="0" anchor="t"/>
          <a:lstStyle/>
          <a:p>
            <a:pPr indent="0" marL="0">
              <a:spcAft>
                <a:spcPts val="600"/>
              </a:spcAft>
              <a:buNone/>
            </a:pPr>
            <a:r>
              <a:rPr lang="en-US" sz="1200" dirty="0">
                <a:solidFill>
                  <a:srgbClr val="0E1C42"/>
                </a:solidFill>
                <a:latin typeface="Calibri" pitchFamily="34" charset="0"/>
                <a:ea typeface="Calibri" pitchFamily="34" charset="-122"/>
                <a:cs typeface="Calibri" pitchFamily="34" charset="-120"/>
              </a:rPr>
              <a:t>1.  Where is the Southeast located on a U.S. map? Name the two bodies of water that border it.</a:t>
            </a:r>
            <a:endParaRPr lang="en-US" sz="1200" dirty="0"/>
          </a:p>
          <a:p>
            <a:pPr indent="0" marL="0">
              <a:spcAft>
                <a:spcPts val="600"/>
              </a:spcAft>
              <a:buNone/>
            </a:pPr>
            <a:r>
              <a:rPr lang="en-US" sz="1200" dirty="0">
                <a:solidFill>
                  <a:srgbClr val="0E1C42"/>
                </a:solidFill>
                <a:latin typeface="Calibri" pitchFamily="34" charset="0"/>
                <a:ea typeface="Calibri" pitchFamily="34" charset="-122"/>
                <a:cs typeface="Calibri" pitchFamily="34" charset="-120"/>
              </a:rPr>
              <a:t>2.  Name one Southeast state and one thing that makes it interesting.</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3.  Name one thing that is the SAME and one thing that is DIFFERENT between the Northeast and the Southeast.</a:t>
            </a:r>
            <a:endParaRPr lang="en-US" sz="1200" dirty="0"/>
          </a:p>
        </p:txBody>
      </p:sp>
      <p:sp>
        <p:nvSpPr>
          <p:cNvPr id="8" name="Shape 6"/>
          <p:cNvSpPr/>
          <p:nvPr/>
        </p:nvSpPr>
        <p:spPr>
          <a:xfrm>
            <a:off x="609600" y="4389120"/>
            <a:ext cx="10972800" cy="1584960"/>
          </a:xfrm>
          <a:prstGeom prst="roundRect">
            <a:avLst>
              <a:gd name="adj" fmla="val 6923"/>
            </a:avLst>
          </a:prstGeom>
          <a:solidFill>
            <a:srgbClr val="FFF3DC"/>
          </a:solidFill>
          <a:ln/>
          <a:effectLst>
            <a:outerShdw sx="100000" sy="100000" kx="0" ky="0" algn="bl" rotWithShape="0" blurRad="50800" dist="12700" dir="8100000">
              <a:srgbClr val="000000">
                <a:alpha val="8000"/>
              </a:srgbClr>
            </a:outerShdw>
          </a:effectLst>
        </p:spPr>
      </p:sp>
      <p:sp>
        <p:nvSpPr>
          <p:cNvPr id="9" name="Text 7"/>
          <p:cNvSpPr/>
          <p:nvPr/>
        </p:nvSpPr>
        <p:spPr>
          <a:xfrm>
            <a:off x="853440" y="4511040"/>
            <a:ext cx="4876800" cy="36576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CURATOR TASK</a:t>
            </a:r>
            <a:endParaRPr lang="en-US" sz="1000" dirty="0"/>
          </a:p>
        </p:txBody>
      </p:sp>
      <p:sp>
        <p:nvSpPr>
          <p:cNvPr id="10" name="Text 8"/>
          <p:cNvSpPr/>
          <p:nvPr/>
        </p:nvSpPr>
        <p:spPr>
          <a:xfrm>
            <a:off x="853440" y="4937760"/>
            <a:ext cx="10485120" cy="91440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Write 3-4 sentences telling visitors where the Southeast is, what the land and water are like, and one thing people grow or do here. Use kind, careful words.</a:t>
            </a:r>
            <a:endParaRPr lang="en-US" sz="1300" dirty="0"/>
          </a:p>
        </p:txBody>
      </p:sp>
      <p:sp>
        <p:nvSpPr>
          <p:cNvPr id="11" name="Text 9"/>
          <p:cNvSpPr/>
          <p:nvPr/>
        </p:nvSpPr>
        <p:spPr>
          <a:xfrm>
            <a:off x="609600" y="6400800"/>
            <a:ext cx="3657600" cy="304800"/>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
        <p:nvSpPr>
          <p:cNvPr id="12" name="Text 10"/>
          <p:cNvSpPr/>
          <p:nvPr/>
        </p:nvSpPr>
        <p:spPr>
          <a:xfrm>
            <a:off x="7924800" y="6400800"/>
            <a:ext cx="3657600" cy="3048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Lesson 3.08.02</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6096000" cy="36576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CURATOR'S CHRONICLE</a:t>
            </a:r>
            <a:endParaRPr lang="en-US" sz="1000" dirty="0"/>
          </a:p>
        </p:txBody>
      </p:sp>
      <p:sp>
        <p:nvSpPr>
          <p:cNvPr id="4" name="Text 2"/>
          <p:cNvSpPr/>
          <p:nvPr/>
        </p:nvSpPr>
        <p:spPr>
          <a:xfrm>
            <a:off x="609600" y="792480"/>
            <a:ext cx="10972800" cy="6096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Reflect on What You Learned</a:t>
            </a:r>
            <a:endParaRPr lang="en-US" sz="2800" dirty="0"/>
          </a:p>
        </p:txBody>
      </p:sp>
      <p:sp>
        <p:nvSpPr>
          <p:cNvPr id="5" name="Shape 3"/>
          <p:cNvSpPr/>
          <p:nvPr/>
        </p:nvSpPr>
        <p:spPr>
          <a:xfrm>
            <a:off x="1828800" y="1828800"/>
            <a:ext cx="8534400" cy="2438400"/>
          </a:xfrm>
          <a:prstGeom prst="roundRect">
            <a:avLst>
              <a:gd name="adj" fmla="val 5625"/>
            </a:avLst>
          </a:prstGeom>
          <a:solidFill>
            <a:srgbClr val="FFFFFF"/>
          </a:solidFill>
          <a:ln/>
          <a:effectLst>
            <a:outerShdw sx="100000" sy="100000" kx="0" ky="0" algn="bl" rotWithShape="0" blurRad="127000" dist="50800" dir="8100000">
              <a:srgbClr val="000000">
                <a:alpha val="12000"/>
              </a:srgbClr>
            </a:outerShdw>
          </a:effectLst>
        </p:spPr>
      </p:sp>
      <p:sp>
        <p:nvSpPr>
          <p:cNvPr id="6" name="Text 4"/>
          <p:cNvSpPr/>
          <p:nvPr/>
        </p:nvSpPr>
        <p:spPr>
          <a:xfrm>
            <a:off x="2072640" y="1950720"/>
            <a:ext cx="8046720" cy="487680"/>
          </a:xfrm>
          <a:prstGeom prst="rect">
            <a:avLst/>
          </a:prstGeom>
          <a:noFill/>
          <a:ln/>
        </p:spPr>
        <p:txBody>
          <a:bodyPr wrap="square" lIns="0" tIns="0" rIns="0" bIns="0" rtlCol="0" anchor="ctr"/>
          <a:lstStyle/>
          <a:p>
            <a:pPr indent="0" marL="0">
              <a:buNone/>
            </a:pPr>
            <a:r>
              <a:rPr lang="en-US" sz="1300" dirty="0">
                <a:solidFill>
                  <a:srgbClr val="7A88A8"/>
                </a:solidFill>
                <a:latin typeface="Calibri" pitchFamily="34" charset="0"/>
                <a:ea typeface="Calibri" pitchFamily="34" charset="-122"/>
                <a:cs typeface="Calibri" pitchFamily="34" charset="-120"/>
              </a:rPr>
              <a:t>Complete this sentence in your Curator's Chronicle:</a:t>
            </a:r>
            <a:endParaRPr lang="en-US" sz="1300" dirty="0"/>
          </a:p>
        </p:txBody>
      </p:sp>
      <p:sp>
        <p:nvSpPr>
          <p:cNvPr id="7" name="Text 5"/>
          <p:cNvSpPr/>
          <p:nvPr/>
        </p:nvSpPr>
        <p:spPr>
          <a:xfrm>
            <a:off x="2072640" y="2682240"/>
            <a:ext cx="8046720" cy="1219200"/>
          </a:xfrm>
          <a:prstGeom prst="rect">
            <a:avLst/>
          </a:prstGeom>
          <a:noFill/>
          <a:ln/>
        </p:spPr>
        <p:txBody>
          <a:bodyPr wrap="square" lIns="0" tIns="0" rIns="0" bIns="0" rtlCol="0" anchor="ctr"/>
          <a:lstStyle/>
          <a:p>
            <a:pPr indent="0" marL="0">
              <a:buNone/>
            </a:pPr>
            <a:r>
              <a:rPr lang="en-US" sz="2000" i="1" dirty="0">
                <a:solidFill>
                  <a:srgbClr val="0E1C42"/>
                </a:solidFill>
                <a:latin typeface="Cambria" pitchFamily="34" charset="0"/>
                <a:ea typeface="Cambria" pitchFamily="34" charset="-122"/>
                <a:cs typeface="Cambria" pitchFamily="34" charset="-120"/>
              </a:rPr>
              <a:t>"In this exhibit, I learned that </a:t>
            </a:r>
            <a:pPr indent="0" marL="0">
              <a:buNone/>
            </a:pPr>
            <a:r>
              <a:rPr lang="en-US" sz="2000" u="sng" dirty="0">
                <a:solidFill>
                  <a:srgbClr val="D4943A"/>
                </a:solidFill>
                <a:latin typeface="Cambria" pitchFamily="34" charset="0"/>
                <a:ea typeface="Cambria" pitchFamily="34" charset="-122"/>
                <a:cs typeface="Cambria" pitchFamily="34" charset="-120"/>
              </a:rPr>
              <a:t>______</a:t>
            </a:r>
            <a:pPr indent="0" marL="0">
              <a:buNone/>
            </a:pPr>
            <a:r>
              <a:rPr lang="en-US" sz="2000" i="1" dirty="0">
                <a:solidFill>
                  <a:srgbClr val="0E1C42"/>
                </a:solidFill>
                <a:latin typeface="Cambria" pitchFamily="34" charset="0"/>
                <a:ea typeface="Cambria" pitchFamily="34" charset="-122"/>
                <a:cs typeface="Cambria" pitchFamily="34" charset="-120"/>
              </a:rPr>
              <a:t> because </a:t>
            </a:r>
            <a:pPr indent="0" marL="0">
              <a:buNone/>
            </a:pPr>
            <a:r>
              <a:rPr lang="en-US" sz="2000" u="sng" dirty="0">
                <a:solidFill>
                  <a:srgbClr val="D4943A"/>
                </a:solidFill>
                <a:latin typeface="Cambria" pitchFamily="34" charset="0"/>
                <a:ea typeface="Cambria" pitchFamily="34" charset="-122"/>
                <a:cs typeface="Cambria" pitchFamily="34" charset="-120"/>
              </a:rPr>
              <a:t>______</a:t>
            </a:r>
            <a:pPr indent="0" marL="0">
              <a:buNone/>
            </a:pPr>
            <a:r>
              <a:rPr lang="en-US" sz="2000" i="1" dirty="0">
                <a:solidFill>
                  <a:srgbClr val="0E1C42"/>
                </a:solidFill>
                <a:latin typeface="Cambria" pitchFamily="34" charset="0"/>
                <a:ea typeface="Cambria" pitchFamily="34" charset="-122"/>
                <a:cs typeface="Cambria" pitchFamily="34" charset="-120"/>
              </a:rPr>
              <a:t>."</a:t>
            </a:r>
            <a:endParaRPr lang="en-US" sz="2000" dirty="0"/>
          </a:p>
        </p:txBody>
      </p:sp>
      <p:sp>
        <p:nvSpPr>
          <p:cNvPr id="8" name="Shape 6"/>
          <p:cNvSpPr/>
          <p:nvPr/>
        </p:nvSpPr>
        <p:spPr>
          <a:xfrm>
            <a:off x="1828800" y="4632960"/>
            <a:ext cx="8534400" cy="1463040"/>
          </a:xfrm>
          <a:prstGeom prst="roundRect">
            <a:avLst>
              <a:gd name="adj" fmla="val 9375"/>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2011680" y="4724400"/>
            <a:ext cx="81686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2011680" y="4980432"/>
            <a:ext cx="8168640" cy="10241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surprised you about water in the United States?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Did the evidence change what you thought before the Council met?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you tell someone who says water is not a big deal?</a:t>
            </a:r>
            <a:endParaRPr lang="en-US" sz="1100" dirty="0"/>
          </a:p>
        </p:txBody>
      </p:sp>
      <p:sp>
        <p:nvSpPr>
          <p:cNvPr id="11" name="Text 9"/>
          <p:cNvSpPr/>
          <p:nvPr/>
        </p:nvSpPr>
        <p:spPr>
          <a:xfrm>
            <a:off x="609600" y="6400800"/>
            <a:ext cx="3657600" cy="304800"/>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
        <p:nvSpPr>
          <p:cNvPr id="12" name="Text 10"/>
          <p:cNvSpPr/>
          <p:nvPr/>
        </p:nvSpPr>
        <p:spPr>
          <a:xfrm>
            <a:off x="7924800" y="6400800"/>
            <a:ext cx="3657600" cy="3048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Lesson 3.08.02</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1219200" y="1219200"/>
            <a:ext cx="9753600" cy="731520"/>
          </a:xfrm>
          <a:prstGeom prst="rect">
            <a:avLst/>
          </a:prstGeom>
          <a:noFill/>
          <a:ln/>
        </p:spPr>
        <p:txBody>
          <a:bodyPr wrap="square" lIns="0" tIns="0" rIns="0" bIns="0" rtlCol="0" anchor="ctr"/>
          <a:lstStyle/>
          <a:p>
            <a:pPr indent="0" marL="0">
              <a:buNone/>
            </a:pPr>
            <a:r>
              <a:rPr lang="en-US" sz="1800" b="1" spc="200" kern="0" dirty="0">
                <a:solidFill>
                  <a:srgbClr val="D4943A"/>
                </a:solidFill>
                <a:latin typeface="Calibri" pitchFamily="34" charset="0"/>
                <a:ea typeface="Calibri" pitchFamily="34" charset="-122"/>
                <a:cs typeface="Calibri" pitchFamily="34" charset="-120"/>
              </a:rPr>
              <a:t>Synthesis 2 Complete</a:t>
            </a:r>
            <a:endParaRPr lang="en-US" sz="1800" dirty="0"/>
          </a:p>
        </p:txBody>
      </p:sp>
      <p:sp>
        <p:nvSpPr>
          <p:cNvPr id="6" name="Text 3"/>
          <p:cNvSpPr/>
          <p:nvPr/>
        </p:nvSpPr>
        <p:spPr>
          <a:xfrm>
            <a:off x="1219200" y="1950720"/>
            <a:ext cx="9753600" cy="9753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Council Has Spoken</a:t>
            </a:r>
            <a:endParaRPr lang="en-US" sz="4000" dirty="0"/>
          </a:p>
        </p:txBody>
      </p:sp>
      <p:sp>
        <p:nvSpPr>
          <p:cNvPr id="7" name="Shape 4"/>
          <p:cNvSpPr/>
          <p:nvPr/>
        </p:nvSpPr>
        <p:spPr>
          <a:xfrm>
            <a:off x="1219200" y="3048000"/>
            <a:ext cx="3048000" cy="48768"/>
          </a:xfrm>
          <a:prstGeom prst="rect">
            <a:avLst/>
          </a:prstGeom>
          <a:solidFill>
            <a:srgbClr val="D4943A"/>
          </a:solidFill>
          <a:ln/>
        </p:spPr>
      </p:sp>
      <p:sp>
        <p:nvSpPr>
          <p:cNvPr id="8" name="Shape 5"/>
          <p:cNvSpPr/>
          <p:nvPr/>
        </p:nvSpPr>
        <p:spPr>
          <a:xfrm>
            <a:off x="1219200" y="3413760"/>
            <a:ext cx="9753600" cy="1706880"/>
          </a:xfrm>
          <a:prstGeom prst="roundRect">
            <a:avLst>
              <a:gd name="adj" fmla="val 6429"/>
            </a:avLst>
          </a:prstGeom>
          <a:solidFill>
            <a:srgbClr val="1A2D5A"/>
          </a:solidFill>
          <a:ln/>
          <a:effectLst>
            <a:outerShdw sx="100000" sy="100000" kx="0" ky="0" algn="bl" rotWithShape="0" blurRad="101600" dist="38100" dir="8100000">
              <a:srgbClr val="000000">
                <a:alpha val="20000"/>
              </a:srgbClr>
            </a:outerShdw>
          </a:effectLst>
        </p:spPr>
      </p:sp>
      <p:sp>
        <p:nvSpPr>
          <p:cNvPr id="9" name="Text 6"/>
          <p:cNvSpPr/>
          <p:nvPr/>
        </p:nvSpPr>
        <p:spPr>
          <a:xfrm>
            <a:off x="1463040" y="3535680"/>
            <a:ext cx="3657600" cy="365760"/>
          </a:xfrm>
          <a:prstGeom prst="rect">
            <a:avLst/>
          </a:prstGeom>
          <a:noFill/>
          <a:ln/>
        </p:spPr>
        <p:txBody>
          <a:bodyPr wrap="square" lIns="0" tIns="0" rIns="0" bIns="0"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COMING NEXT</a:t>
            </a:r>
            <a:endParaRPr lang="en-US" sz="1000" dirty="0"/>
          </a:p>
        </p:txBody>
      </p:sp>
      <p:sp>
        <p:nvSpPr>
          <p:cNvPr id="10" name="Text 7"/>
          <p:cNvSpPr/>
          <p:nvPr/>
        </p:nvSpPr>
        <p:spPr>
          <a:xfrm>
            <a:off x="1463040" y="3962400"/>
            <a:ext cx="9144000" cy="4876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Marketplace Hall Opens</a:t>
            </a:r>
            <a:endParaRPr lang="en-US" sz="2200" dirty="0"/>
          </a:p>
        </p:txBody>
      </p:sp>
      <p:sp>
        <p:nvSpPr>
          <p:cNvPr id="11" name="Text 8"/>
          <p:cNvSpPr/>
          <p:nvPr/>
        </p:nvSpPr>
        <p:spPr>
          <a:xfrm>
            <a:off x="1463040" y="4511040"/>
            <a:ext cx="9144000" cy="426720"/>
          </a:xfrm>
          <a:prstGeom prst="rect">
            <a:avLst/>
          </a:prstGeom>
          <a:noFill/>
          <a:ln/>
        </p:spPr>
        <p:txBody>
          <a:bodyPr wrap="square" lIns="0" tIns="0" rIns="0" bIns="0" rtlCol="0" anchor="ctr"/>
          <a:lstStyle/>
          <a:p>
            <a:pPr indent="0" marL="0">
              <a:buNone/>
            </a:pPr>
            <a:r>
              <a:rPr lang="en-US" sz="1500" i="1" dirty="0">
                <a:solidFill>
                  <a:srgbClr val="55C8E8"/>
                </a:solidFill>
                <a:latin typeface="Cambria" pitchFamily="34" charset="0"/>
                <a:ea typeface="Cambria" pitchFamily="34" charset="-122"/>
                <a:cs typeface="Cambria" pitchFamily="34" charset="-120"/>
              </a:rPr>
              <a:t>When resources are limited, how do people decide what to do?</a:t>
            </a:r>
            <a:endParaRPr lang="en-US" sz="1500" dirty="0"/>
          </a:p>
        </p:txBody>
      </p:sp>
      <p:sp>
        <p:nvSpPr>
          <p:cNvPr id="12" name="Text 9"/>
          <p:cNvSpPr/>
          <p:nvPr/>
        </p:nvSpPr>
        <p:spPr>
          <a:xfrm>
            <a:off x="1219200" y="5486400"/>
            <a:ext cx="9753600" cy="731520"/>
          </a:xfrm>
          <a:prstGeom prst="rect">
            <a:avLst/>
          </a:prstGeom>
          <a:noFill/>
          <a:ln/>
        </p:spPr>
        <p:txBody>
          <a:bodyPr wrap="square" lIns="0" tIns="0" rIns="0" bIns="0" rtlCol="0" anchor="ctr"/>
          <a:lstStyle/>
          <a:p>
            <a:pPr indent="0" marL="0">
              <a:lnSpc>
                <a:spcPts val="2000"/>
              </a:lnSpc>
              <a:buNone/>
            </a:pPr>
            <a:r>
              <a:rPr lang="en-US" sz="1300" dirty="0">
                <a:solidFill>
                  <a:srgbClr val="7A88A8"/>
                </a:solidFill>
                <a:latin typeface="Calibri" pitchFamily="34" charset="0"/>
                <a:ea typeface="Calibri" pitchFamily="34" charset="-122"/>
                <a:cs typeface="Calibri" pitchFamily="34" charset="-120"/>
              </a:rPr>
              <a:t>You weighed evidence like a real council member.</a:t>
            </a:r>
            <a:endParaRPr lang="en-US" sz="1300" dirty="0"/>
          </a:p>
          <a:p>
            <a:pPr indent="0" marL="0">
              <a:lnSpc>
                <a:spcPts val="2000"/>
              </a:lnSpc>
              <a:buNone/>
            </a:pPr>
            <a:r>
              <a:rPr lang="en-US" sz="1300" dirty="0">
                <a:solidFill>
                  <a:srgbClr val="7A88A8"/>
                </a:solidFill>
                <a:latin typeface="Calibri" pitchFamily="34" charset="0"/>
                <a:ea typeface="Calibri" pitchFamily="34" charset="-122"/>
                <a:cs typeface="Calibri" pitchFamily="34" charset="-120"/>
              </a:rPr>
              <a:t>Now the museum opens a new hall -- and the question gets bigger.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2026-07-11T18:54:06Z</dcterms:created>
  <dcterms:modified xsi:type="dcterms:W3CDTF">2026-07-11T18:54:06Z</dcterms:modified>
</cp:coreProperties>
</file>