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tall wooden Decision Board on a heavy easel in a bustling historical marketplace hall -- two sliding columns, one marked with a red minus for Costs, one with a green plus for Benefits, small wooden tiles slotted into each column. Warm lantern light, 1800s American trade-town feel, other museum exhibits about goods and trade routes visible in the background.Welcome students to the Marketplace Hall. Read the title aloud. Preview: today we learn costs and benefits and use them to make a wise marketplace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'Yesterday you read a trade routes map like an economist. Today there's a tall wooden board with two sliding columns -- one for costs, one for benefits. Every choice in a marketplace has both.' Read the Curator's Question aloud.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today's virtue, self-governance: 'Self-governance is when you stop and think before you act.' Tease the harbor example you'll work through together. Keep energy warm, not rushed.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Enter the Scene image. Do NOT define cost or benefit yet -- students only observe. Give 5 seconds of silence before taking chat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image as a class before naming any vocabulary. Let several students respond in chat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and define both terms in plain 3rd-grade language. Cost: what you give up or put in -- money, time, effort, space, opportunity. Benefit: what you gain -- goods, services, saved time, comfort, income, fun.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tile columns. Model how a curator slides each tile into the right column, then looks at the whole picture before deciding. Do not reveal a decision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two Pause &amp; Think prompts from the lesson. Let students argue both sides -- there is no single right answer for the harbor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directly to the virtue: careful weighing = self-governance. Preview Opti's three quiet questions (gaining / giving up / worth it) which come up again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the harbor example to real choices. This is the reasoning scaffold students will need for Evidence Question 2 about self-governance.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with a NEW small example (not the harbor, not the $20 fruit-or-game task) -- e.g., choosing to spend allowance on a toy now vs. saving it. Think aloud sorting one cost and one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sort. Cold-call a few students to place each tile and justify with 'because...'. Reinforce that costs/benefits can shift depending on the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work with a partner using the checklist. Circulate and listen for correct use of 'cost' and 'benefit' vocabulary before calling on volunteers.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find and explain the error before you confirm: new jobs are a GAIN, so they belong in Benefits, not Costs. Praise the reasoning, not just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genuine debate happen. There is no single right answer -- the point is that judgment matters when costs and benefits are close, which is exactly what 'best judgment' means from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Exhibit Label aloud as a class summary before moving into the graded-feel self-check. High energy, sense of accomplishment.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take chat guesses, then reveal the answer text already shown on the slide. Celebrate a perfect score; if not, revisit the harbor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verbatim. Model for Q1: 'A cost is what you give up. In the harbor example, the town gave up money and trees and time.' Both questions were already scaffolded in the discovery cycles, why-it-matters slide, and guided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Curator Task exactly: 'A family has $20. They can either buy fresh fruit for the week OR a new board game. You'll list at least two costs and two benefits, then make a decision and explain it.' This was scaffolded across every discovery cycle and guided-practice slide -- students have already practiced sorting new costs/benefits and defending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finish the Chronicle sentence frame exactly as shown, in their own words. Review the turn-in checklist so everyone knows what 'done' looks like before submitting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gold-framed plaque being hung on the back wall of the Marketplace Hall, surrounded by all ten completed exhibits of the unit -- scarcity, choice, trade, goods, services, money, currencies, routes, and decisions -- glowing softly, warm and celebratory, ready for a final unveiling.Celebrate: 'You weighed a real choice with costs and benefits. You can now use self-governance to think before you decide.' Tease tomorrow's Wise Trader badge and final plaque. Under 1 minute, warm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1219200"/>
            <a:ext cx="9753600" cy="487680"/>
          </a:xfrm>
          <a:prstGeom prst="rect">
            <a:avLst/>
          </a:prstGeom>
          <a:noFill/>
          <a:ln/>
        </p:spPr>
        <p:txBody>
          <a:bodyPr wrap="square" lIns="0" tIns="0" rIns="0" bIns="0" rtlCol="0" anchor="ctr"/>
          <a:lstStyle/>
          <a:p>
            <a:pPr algn="ctr" indent="0" marL="0">
              <a:buNone/>
            </a:pPr>
            <a:r>
              <a:rPr lang="en-US" sz="1400" b="1" spc="200" kern="0" dirty="0">
                <a:solidFill>
                  <a:srgbClr val="55C8E8"/>
                </a:solidFill>
                <a:latin typeface="Calibri" pitchFamily="34" charset="0"/>
                <a:ea typeface="Calibri" pitchFamily="34" charset="-122"/>
                <a:cs typeface="Calibri" pitchFamily="34" charset="-120"/>
              </a:rPr>
              <a:t>MARKETPLACE HALL</a:t>
            </a:r>
            <a:endParaRPr lang="en-US" sz="1400" dirty="0"/>
          </a:p>
        </p:txBody>
      </p:sp>
      <p:sp>
        <p:nvSpPr>
          <p:cNvPr id="6" name="Text 3"/>
          <p:cNvSpPr/>
          <p:nvPr/>
        </p:nvSpPr>
        <p:spPr>
          <a:xfrm>
            <a:off x="975360" y="2255520"/>
            <a:ext cx="10241280" cy="8534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Marketplace Decision:</a:t>
            </a:r>
            <a:endParaRPr lang="en-US" sz="3400" dirty="0"/>
          </a:p>
        </p:txBody>
      </p:sp>
      <p:sp>
        <p:nvSpPr>
          <p:cNvPr id="7" name="Text 4"/>
          <p:cNvSpPr/>
          <p:nvPr/>
        </p:nvSpPr>
        <p:spPr>
          <a:xfrm>
            <a:off x="975360" y="3048000"/>
            <a:ext cx="10241280" cy="975360"/>
          </a:xfrm>
          <a:prstGeom prst="rect">
            <a:avLst/>
          </a:prstGeom>
          <a:noFill/>
          <a:ln/>
        </p:spPr>
        <p:txBody>
          <a:bodyPr wrap="square" lIns="0" tIns="0" rIns="0" bIns="0" rtlCol="0" anchor="ctr"/>
          <a:lstStyle/>
          <a:p>
            <a:pPr algn="ctr" indent="0" marL="0">
              <a:buNone/>
            </a:pPr>
            <a:r>
              <a:rPr lang="en-US" sz="4200" b="1" dirty="0">
                <a:solidFill>
                  <a:srgbClr val="D4943A"/>
                </a:solidFill>
                <a:latin typeface="Cambria" pitchFamily="34" charset="0"/>
                <a:ea typeface="Cambria" pitchFamily="34" charset="-122"/>
                <a:cs typeface="Cambria" pitchFamily="34" charset="-120"/>
              </a:rPr>
              <a:t>Costs &amp; Benefits</a:t>
            </a:r>
            <a:endParaRPr lang="en-US" sz="4200" dirty="0"/>
          </a:p>
        </p:txBody>
      </p:sp>
      <p:sp>
        <p:nvSpPr>
          <p:cNvPr id="8" name="Text 5"/>
          <p:cNvSpPr/>
          <p:nvPr/>
        </p:nvSpPr>
        <p:spPr>
          <a:xfrm>
            <a:off x="975360" y="4267200"/>
            <a:ext cx="10241280" cy="426720"/>
          </a:xfrm>
          <a:prstGeom prst="rect">
            <a:avLst/>
          </a:prstGeom>
          <a:noFill/>
          <a:ln/>
        </p:spPr>
        <p:txBody>
          <a:bodyPr wrap="square" lIns="0" tIns="0" rIns="0" bIns="0" rtlCol="0" anchor="ctr"/>
          <a:lstStyle/>
          <a:p>
            <a:pPr algn="ctr" indent="0" marL="0">
              <a:buNone/>
            </a:pPr>
            <a:r>
              <a:rPr lang="en-US" sz="1200" b="1" spc="150" kern="0" dirty="0">
                <a:solidFill>
                  <a:srgbClr val="55C8E8"/>
                </a:solidFill>
                <a:latin typeface="Calibri" pitchFamily="34" charset="0"/>
                <a:ea typeface="Calibri" pitchFamily="34" charset="-122"/>
                <a:cs typeface="Calibri" pitchFamily="34" charset="-120"/>
              </a:rPr>
              <a:t>LESSON 3.09.07  ·  BASICS OF ECONOMICS  ·  WEEK 27  ·  Q4</a:t>
            </a:r>
            <a:endParaRPr lang="en-US" sz="1200" dirty="0"/>
          </a:p>
        </p:txBody>
      </p:sp>
      <p:sp>
        <p:nvSpPr>
          <p:cNvPr id="9" name="Text 6"/>
          <p:cNvSpPr/>
          <p:nvPr/>
        </p:nvSpPr>
        <p:spPr>
          <a:xfrm>
            <a:off x="1463040" y="5059680"/>
            <a:ext cx="9265920" cy="609600"/>
          </a:xfrm>
          <a:prstGeom prst="rect">
            <a:avLst/>
          </a:prstGeom>
          <a:noFill/>
          <a:ln/>
        </p:spPr>
        <p:txBody>
          <a:bodyPr wrap="square" lIns="0" tIns="0" rIns="0" bIns="0" rtlCol="0" anchor="ctr"/>
          <a:lstStyle/>
          <a:p>
            <a:pPr algn="ctr" indent="0" marL="0">
              <a:buNone/>
            </a:pPr>
            <a:r>
              <a:rPr lang="en-US" sz="1500" i="1" dirty="0">
                <a:solidFill>
                  <a:srgbClr val="D6E0F5"/>
                </a:solidFill>
                <a:latin typeface="Cambria" pitchFamily="34" charset="0"/>
                <a:ea typeface="Cambria" pitchFamily="34" charset="-122"/>
                <a:cs typeface="Cambria" pitchFamily="34" charset="-120"/>
              </a:rPr>
              <a:t>"A wise person looks at both sides before they decide."</a:t>
            </a:r>
            <a:endParaRPr lang="en-US" sz="1500" dirty="0"/>
          </a:p>
        </p:txBody>
      </p:sp>
      <p:sp>
        <p:nvSpPr>
          <p:cNvPr id="10" name="Text 7"/>
          <p:cNvSpPr/>
          <p:nvPr/>
        </p:nvSpPr>
        <p:spPr>
          <a:xfrm>
            <a:off x="975360" y="5791200"/>
            <a:ext cx="10241280" cy="426720"/>
          </a:xfrm>
          <a:prstGeom prst="rect">
            <a:avLst/>
          </a:prstGeom>
          <a:noFill/>
          <a:ln/>
        </p:spPr>
        <p:txBody>
          <a:bodyPr wrap="square" lIns="0" tIns="0" rIns="0" bIns="0" rtlCol="0" anchor="ctr"/>
          <a:lstStyle/>
          <a:p>
            <a:pPr algn="ctr" indent="0" marL="0">
              <a:buNone/>
            </a:pPr>
            <a:r>
              <a:rPr lang="en-US" sz="1200" b="1" spc="100" kern="0" dirty="0">
                <a:solidFill>
                  <a:srgbClr val="1A8A7D"/>
                </a:solidFill>
                <a:latin typeface="Calibri" pitchFamily="34" charset="0"/>
                <a:ea typeface="Calibri" pitchFamily="34" charset="-122"/>
                <a:cs typeface="Calibri" pitchFamily="34" charset="-120"/>
              </a:rPr>
              <a:t>Today's Role: Trade &amp; Choice Curator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26720"/>
            <a:ext cx="10972800" cy="731520"/>
          </a:xfrm>
          <a:prstGeom prst="rect">
            <a:avLst/>
          </a:prstGeom>
          <a:noFill/>
          <a:ln/>
        </p:spPr>
        <p:txBody>
          <a:bodyPr wrap="square" lIns="0" tIns="0" rIns="0" bIns="0" rtlCol="0" anchor="ctr"/>
          <a:lstStyle/>
          <a:p>
            <a:pPr algn="l" indent="0" marL="0">
              <a:buNone/>
            </a:pPr>
            <a:r>
              <a:rPr lang="en-US" sz="3000" b="1" dirty="0">
                <a:solidFill>
                  <a:srgbClr val="D4943A"/>
                </a:solidFill>
                <a:latin typeface="Cambria" pitchFamily="34" charset="0"/>
                <a:ea typeface="Cambria" pitchFamily="34" charset="-122"/>
                <a:cs typeface="Cambria" pitchFamily="34" charset="-120"/>
              </a:rPr>
              <a:t>The Decision Board Arrives</a:t>
            </a:r>
            <a:endParaRPr lang="en-US" sz="3000" dirty="0"/>
          </a:p>
        </p:txBody>
      </p:sp>
      <p:sp>
        <p:nvSpPr>
          <p:cNvPr id="3" name="Text 1"/>
          <p:cNvSpPr/>
          <p:nvPr/>
        </p:nvSpPr>
        <p:spPr>
          <a:xfrm>
            <a:off x="609600" y="1280160"/>
            <a:ext cx="6827520" cy="3535680"/>
          </a:xfrm>
          <a:prstGeom prst="rect">
            <a:avLst/>
          </a:prstGeom>
          <a:noFill/>
          <a:ln/>
        </p:spPr>
        <p:txBody>
          <a:bodyPr wrap="square" lIns="0" tIns="0" rIns="0" bIns="0" rtlCol="0" anchor="t"/>
          <a:lstStyle/>
          <a:p>
            <a:pPr algn="l" indent="0" marL="0">
              <a:lnSpc>
                <a:spcPct val="115000"/>
              </a:lnSpc>
              <a:buNone/>
            </a:pPr>
            <a:r>
              <a:rPr lang="en-US" sz="1300" dirty="0">
                <a:solidFill>
                  <a:srgbClr val="FFFFFF"/>
                </a:solidFill>
                <a:latin typeface="Calibri" pitchFamily="34" charset="0"/>
                <a:ea typeface="Calibri" pitchFamily="34" charset="-122"/>
                <a:cs typeface="Calibri" pitchFamily="34" charset="-120"/>
              </a:rPr>
              <a:t>A tall wooden board now stands in the middle of the Marketplace Hall, set on a heavy easel. Two columns slide along its sides -- one labeled with a red minus sign for Costs, and one labeled with a green plus sign for Benefits. Small tiles sit ready to slip into each column. "Every choice in a market has both," the head curator says, sliding a sample tile in to show how it works. "A wise person looks at both sides before they decide."</a:t>
            </a:r>
            <a:endParaRPr lang="en-US" sz="1300" dirty="0"/>
          </a:p>
        </p:txBody>
      </p:sp>
      <p:sp>
        <p:nvSpPr>
          <p:cNvPr id="4" name="Shape 2"/>
          <p:cNvSpPr/>
          <p:nvPr/>
        </p:nvSpPr>
        <p:spPr>
          <a:xfrm>
            <a:off x="7680960" y="1280160"/>
            <a:ext cx="3779520" cy="2438400"/>
          </a:xfrm>
          <a:prstGeom prst="roundRect">
            <a:avLst>
              <a:gd name="adj" fmla="val 6000"/>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7924800" y="1463040"/>
            <a:ext cx="3413760" cy="36576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TODAY'S BIG QUESTION</a:t>
            </a:r>
            <a:endParaRPr lang="en-US" sz="900" dirty="0"/>
          </a:p>
        </p:txBody>
      </p:sp>
      <p:sp>
        <p:nvSpPr>
          <p:cNvPr id="6" name="Text 4"/>
          <p:cNvSpPr/>
          <p:nvPr/>
        </p:nvSpPr>
        <p:spPr>
          <a:xfrm>
            <a:off x="7924800" y="1889760"/>
            <a:ext cx="3413760" cy="1706880"/>
          </a:xfrm>
          <a:prstGeom prst="rect">
            <a:avLst/>
          </a:prstGeom>
          <a:noFill/>
          <a:ln/>
        </p:spPr>
        <p:txBody>
          <a:bodyPr wrap="square" lIns="0" tIns="0" rIns="0" bIns="0" rtlCol="0" anchor="t"/>
          <a:lstStyle/>
          <a:p>
            <a:pPr algn="l" indent="0" marL="0">
              <a:buNone/>
            </a:pPr>
            <a:r>
              <a:rPr lang="en-US" sz="1300" i="1" dirty="0">
                <a:solidFill>
                  <a:srgbClr val="FFFFFF"/>
                </a:solidFill>
                <a:latin typeface="Cambria" pitchFamily="34" charset="0"/>
                <a:ea typeface="Cambria" pitchFamily="34" charset="-122"/>
                <a:cs typeface="Cambria" pitchFamily="34" charset="-120"/>
              </a:rPr>
              <a:t>How does a wise person weigh what they gain against what they give up before making a marketplace choice?</a:t>
            </a:r>
            <a:endParaRPr lang="en-US" sz="1300" dirty="0"/>
          </a:p>
        </p:txBody>
      </p:sp>
      <p:sp>
        <p:nvSpPr>
          <p:cNvPr id="7" name="Text 5"/>
          <p:cNvSpPr/>
          <p:nvPr/>
        </p:nvSpPr>
        <p:spPr>
          <a:xfrm>
            <a:off x="609600" y="5059680"/>
            <a:ext cx="10972800" cy="36576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YOUR ROLE TODAY</a:t>
            </a:r>
            <a:endParaRPr lang="en-US" sz="900" dirty="0"/>
          </a:p>
        </p:txBody>
      </p:sp>
      <p:sp>
        <p:nvSpPr>
          <p:cNvPr id="8" name="Text 6"/>
          <p:cNvSpPr/>
          <p:nvPr/>
        </p:nvSpPr>
        <p:spPr>
          <a:xfrm>
            <a:off x="609600" y="5486400"/>
            <a:ext cx="10972800" cy="1036320"/>
          </a:xfrm>
          <a:prstGeom prst="rect">
            <a:avLst/>
          </a:prstGeom>
          <a:noFill/>
          <a:ln/>
        </p:spPr>
        <p:txBody>
          <a:bodyPr wrap="square" lIns="0" tIns="0" rIns="0" bIns="0" rtlCol="0" anchor="t"/>
          <a:lstStyle/>
          <a:p>
            <a:pPr indent="0" marL="0">
              <a:buNone/>
            </a:pPr>
            <a:r>
              <a:rPr lang="en-US" sz="1200" dirty="0">
                <a:solidFill>
                  <a:srgbClr val="D6E0F5"/>
                </a:solidFill>
                <a:latin typeface="Calibri" pitchFamily="34" charset="0"/>
                <a:ea typeface="Calibri" pitchFamily="34" charset="-122"/>
                <a:cs typeface="Calibri" pitchFamily="34" charset="-120"/>
              </a:rPr>
              <a:t>You are a Trade &amp; Choice Curator -- your job is to help museum visitors learn how to make wise marketplace decisions. Today you'll work the Decision Board to weigh a real choice, then write the panel that teaches visitors how to weigh choices of their own.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975360" y="548640"/>
            <a:ext cx="1024128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VIRTUE SPOTLIGHT</a:t>
            </a:r>
            <a:endParaRPr lang="en-US" sz="1200" dirty="0"/>
          </a:p>
        </p:txBody>
      </p:sp>
      <p:sp>
        <p:nvSpPr>
          <p:cNvPr id="3" name="Text 1"/>
          <p:cNvSpPr/>
          <p:nvPr/>
        </p:nvSpPr>
        <p:spPr>
          <a:xfrm>
            <a:off x="975360" y="1036320"/>
            <a:ext cx="10241280" cy="914400"/>
          </a:xfrm>
          <a:prstGeom prst="rect">
            <a:avLst/>
          </a:prstGeom>
          <a:noFill/>
          <a:ln/>
        </p:spPr>
        <p:txBody>
          <a:bodyPr wrap="square" lIns="0" tIns="0" rIns="0" bIns="0" rtlCol="0" anchor="ctr"/>
          <a:lstStyle/>
          <a:p>
            <a:pPr algn="ctr" indent="0" marL="0">
              <a:buNone/>
            </a:pPr>
            <a:r>
              <a:rPr lang="en-US" sz="3800" b="1" dirty="0">
                <a:solidFill>
                  <a:srgbClr val="D4943A"/>
                </a:solidFill>
                <a:latin typeface="Cambria" pitchFamily="34" charset="0"/>
                <a:ea typeface="Cambria" pitchFamily="34" charset="-122"/>
                <a:cs typeface="Cambria" pitchFamily="34" charset="-120"/>
              </a:rPr>
              <a:t>Self-Governance</a:t>
            </a:r>
            <a:endParaRPr lang="en-US" sz="3800" dirty="0"/>
          </a:p>
        </p:txBody>
      </p:sp>
      <p:sp>
        <p:nvSpPr>
          <p:cNvPr id="4" name="Shape 2"/>
          <p:cNvSpPr/>
          <p:nvPr/>
        </p:nvSpPr>
        <p:spPr>
          <a:xfrm>
            <a:off x="1463040" y="2133600"/>
            <a:ext cx="9265920" cy="1889760"/>
          </a:xfrm>
          <a:prstGeom prst="roundRect">
            <a:avLst>
              <a:gd name="adj" fmla="val 7742"/>
            </a:avLst>
          </a:prstGeom>
          <a:solidFill>
            <a:srgbClr val="1A2D5A"/>
          </a:solidFill>
          <a:ln/>
        </p:spPr>
      </p:sp>
      <p:sp>
        <p:nvSpPr>
          <p:cNvPr id="5" name="Text 3"/>
          <p:cNvSpPr/>
          <p:nvPr/>
        </p:nvSpPr>
        <p:spPr>
          <a:xfrm>
            <a:off x="1828800" y="2377440"/>
            <a:ext cx="8534400" cy="1463040"/>
          </a:xfrm>
          <a:prstGeom prst="rect">
            <a:avLst/>
          </a:prstGeom>
          <a:noFill/>
          <a:ln/>
        </p:spPr>
        <p:txBody>
          <a:bodyPr wrap="square" lIns="0" tIns="0" rIns="0" bIns="0" rtlCol="0" anchor="ctr"/>
          <a:lstStyle/>
          <a:p>
            <a:pPr algn="ctr" indent="0" marL="0">
              <a:buNone/>
            </a:pPr>
            <a:r>
              <a:rPr lang="en-US" sz="1500" i="1" dirty="0">
                <a:solidFill>
                  <a:srgbClr val="FFFFFF"/>
                </a:solidFill>
                <a:latin typeface="Cambria" pitchFamily="34" charset="0"/>
                <a:ea typeface="Cambria" pitchFamily="34" charset="-122"/>
                <a:cs typeface="Cambria" pitchFamily="34" charset="-120"/>
              </a:rPr>
              <a:t>Self-governance means thinking before you act, even when no one is watching. In a marketplace, a self-governed person doesn't just grab what they want -- they look at the costs and the benefits and decide on purpose.</a:t>
            </a:r>
            <a:endParaRPr lang="en-US" sz="1500" dirty="0"/>
          </a:p>
        </p:txBody>
      </p:sp>
      <p:sp>
        <p:nvSpPr>
          <p:cNvPr id="6" name="Text 4"/>
          <p:cNvSpPr/>
          <p:nvPr/>
        </p:nvSpPr>
        <p:spPr>
          <a:xfrm>
            <a:off x="1219200" y="4328160"/>
            <a:ext cx="9753600" cy="1219200"/>
          </a:xfrm>
          <a:prstGeom prst="rect">
            <a:avLst/>
          </a:prstGeom>
          <a:noFill/>
          <a:ln/>
        </p:spPr>
        <p:txBody>
          <a:bodyPr wrap="square" lIns="0" tIns="0" rIns="0" bIns="0" rtlCol="0" anchor="t"/>
          <a:lstStyle/>
          <a:p>
            <a:pPr algn="ctr" indent="0" marL="0">
              <a:buNone/>
            </a:pPr>
            <a:r>
              <a:rPr lang="en-US" sz="1300" dirty="0">
                <a:solidFill>
                  <a:srgbClr val="D6E0F5"/>
                </a:solidFill>
                <a:latin typeface="Calibri" pitchFamily="34" charset="0"/>
                <a:ea typeface="Calibri" pitchFamily="34" charset="-122"/>
                <a:cs typeface="Calibri" pitchFamily="34" charset="-120"/>
              </a:rPr>
              <a:t>Anyone can grab the shiny thing first. A wise person looks at both sides -- what they get, what they give up -- and then chooses. Today, notice how a wise curator slows down long enough to weigh both sides.</a:t>
            </a:r>
            <a:endParaRPr lang="en-US" sz="1300" dirty="0"/>
          </a:p>
        </p:txBody>
      </p:sp>
      <p:sp>
        <p:nvSpPr>
          <p:cNvPr id="7" name="Text 5"/>
          <p:cNvSpPr/>
          <p:nvPr/>
        </p:nvSpPr>
        <p:spPr>
          <a:xfrm>
            <a:off x="1219200" y="5730240"/>
            <a:ext cx="9753600" cy="609600"/>
          </a:xfrm>
          <a:prstGeom prst="rect">
            <a:avLst/>
          </a:prstGeom>
          <a:noFill/>
          <a:ln/>
        </p:spPr>
        <p:txBody>
          <a:bodyPr wrap="square" lIns="0" tIns="0" rIns="0" bIns="0" rtlCol="0" anchor="ctr"/>
          <a:lstStyle/>
          <a:p>
            <a:pPr algn="ctr" indent="0" marL="0">
              <a:buNone/>
            </a:pPr>
            <a:r>
              <a:rPr lang="en-US" sz="1100" i="1" dirty="0">
                <a:solidFill>
                  <a:srgbClr val="1A8A7D"/>
                </a:solidFill>
                <a:latin typeface="Calibri" pitchFamily="34" charset="0"/>
                <a:ea typeface="Calibri" pitchFamily="34" charset="-122"/>
                <a:cs typeface="Calibri" pitchFamily="34" charset="-120"/>
              </a:rPr>
              <a:t>Watch for this connection all lesson long: self-governance is the pause between wanting and choosing.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Clue Box: Enter the Scene</a:t>
            </a:r>
            <a:endParaRPr lang="en-US" sz="2600" dirty="0"/>
          </a:p>
        </p:txBody>
      </p:sp>
      <p:sp>
        <p:nvSpPr>
          <p:cNvPr id="3" name="Shape 1"/>
          <p:cNvSpPr/>
          <p:nvPr/>
        </p:nvSpPr>
        <p:spPr>
          <a:xfrm>
            <a:off x="609600" y="1158240"/>
            <a:ext cx="6096000" cy="3657600"/>
          </a:xfrm>
          <a:prstGeom prst="roundRect">
            <a:avLst>
              <a:gd name="adj" fmla="val 4000"/>
            </a:avLst>
          </a:prstGeom>
          <a:solidFill>
            <a:srgbClr val="E2E8F4"/>
          </a:solidFill>
          <a:ln w="19050">
            <a:solidFill>
              <a:srgbClr val="B0B8CC"/>
            </a:solidFill>
            <a:prstDash val="dash"/>
          </a:ln>
        </p:spPr>
      </p:sp>
      <p:sp>
        <p:nvSpPr>
          <p:cNvPr id="4" name="Text 2"/>
          <p:cNvSpPr/>
          <p:nvPr/>
        </p:nvSpPr>
        <p:spPr>
          <a:xfrm>
            <a:off x="609600" y="115824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792480" y="1524000"/>
            <a:ext cx="5730240" cy="3169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real marketplace decision being made -- a town meeting about trade or markets, a shopkeeper at a ledger weighing accounts, or a town hall scene deciding whether to build a harbor. Should show people thinking carefully together, not a single quick transaction.</a:t>
            </a:r>
            <a:endParaRPr lang="en-US" sz="1100" dirty="0"/>
          </a:p>
        </p:txBody>
      </p:sp>
      <p:sp>
        <p:nvSpPr>
          <p:cNvPr id="6" name="Shape 4"/>
          <p:cNvSpPr/>
          <p:nvPr/>
        </p:nvSpPr>
        <p:spPr>
          <a:xfrm>
            <a:off x="7010400" y="1158240"/>
            <a:ext cx="4206240" cy="1828800"/>
          </a:xfrm>
          <a:prstGeom prst="roundRect">
            <a:avLst>
              <a:gd name="adj" fmla="val 8000"/>
            </a:avLst>
          </a:prstGeom>
          <a:solidFill>
            <a:srgbClr val="F0F2F8"/>
          </a:solidFill>
          <a:ln/>
        </p:spPr>
      </p:sp>
      <p:sp>
        <p:nvSpPr>
          <p:cNvPr id="7" name="Text 5"/>
          <p:cNvSpPr/>
          <p:nvPr/>
        </p:nvSpPr>
        <p:spPr>
          <a:xfrm>
            <a:off x="7254240" y="1341120"/>
            <a:ext cx="3779520" cy="42672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What do I see?</a:t>
            </a:r>
            <a:endParaRPr lang="en-US" sz="1500" dirty="0"/>
          </a:p>
        </p:txBody>
      </p:sp>
      <p:sp>
        <p:nvSpPr>
          <p:cNvPr id="8" name="Text 6"/>
          <p:cNvSpPr/>
          <p:nvPr/>
        </p:nvSpPr>
        <p:spPr>
          <a:xfrm>
            <a:off x="7254240" y="1828800"/>
            <a:ext cx="3779520" cy="103632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Look at the people in the image. What are they doing? Are they grabbing something quickly, or are they thinking and talking together?</a:t>
            </a:r>
            <a:endParaRPr lang="en-US" sz="1200" dirty="0"/>
          </a:p>
        </p:txBody>
      </p:sp>
      <p:sp>
        <p:nvSpPr>
          <p:cNvPr id="9" name="Shape 7"/>
          <p:cNvSpPr/>
          <p:nvPr/>
        </p:nvSpPr>
        <p:spPr>
          <a:xfrm>
            <a:off x="7010400" y="3169920"/>
            <a:ext cx="4206240" cy="1645920"/>
          </a:xfrm>
          <a:prstGeom prst="roundRect">
            <a:avLst>
              <a:gd name="adj" fmla="val 8889"/>
            </a:avLst>
          </a:prstGeom>
          <a:solidFill>
            <a:srgbClr val="FFF3DC"/>
          </a:solidFill>
          <a:ln w="19050">
            <a:solidFill>
              <a:srgbClr val="F5E6C8"/>
            </a:solidFill>
            <a:prstDash val="solid"/>
          </a:ln>
        </p:spPr>
      </p:sp>
      <p:sp>
        <p:nvSpPr>
          <p:cNvPr id="10" name="Text 8"/>
          <p:cNvSpPr/>
          <p:nvPr/>
        </p:nvSpPr>
        <p:spPr>
          <a:xfrm>
            <a:off x="7193280" y="324307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7193280" y="3511296"/>
            <a:ext cx="3840480" cy="1219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 looks like they are..."</a:t>
            </a:r>
            <a:endParaRPr lang="en-US" sz="1200" dirty="0"/>
          </a:p>
        </p:txBody>
      </p:sp>
      <p:sp>
        <p:nvSpPr>
          <p:cNvPr id="12" name="Text 10"/>
          <p:cNvSpPr/>
          <p:nvPr/>
        </p:nvSpPr>
        <p:spPr>
          <a:xfrm>
            <a:off x="609600" y="5059680"/>
            <a:ext cx="1097280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Take 5 quiet seconds. Look closely before you answer.</a:t>
            </a:r>
            <a:endParaRPr lang="en-US" sz="1100" dirty="0"/>
          </a:p>
        </p:txBody>
      </p:sp>
      <p:sp>
        <p:nvSpPr>
          <p:cNvPr id="13" name="Text 11"/>
          <p:cNvSpPr/>
          <p:nvPr/>
        </p:nvSpPr>
        <p:spPr>
          <a:xfrm>
            <a:off x="609600" y="5547360"/>
            <a:ext cx="1097280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Do not name costs or benefits yet -- just observe.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Does It Mean?</a:t>
            </a:r>
            <a:endParaRPr lang="en-US" sz="2800" dirty="0"/>
          </a:p>
        </p:txBody>
      </p:sp>
      <p:sp>
        <p:nvSpPr>
          <p:cNvPr id="3" name="Text 1"/>
          <p:cNvSpPr/>
          <p:nvPr/>
        </p:nvSpPr>
        <p:spPr>
          <a:xfrm>
            <a:off x="609600" y="1158240"/>
            <a:ext cx="6096000" cy="1950720"/>
          </a:xfrm>
          <a:prstGeom prst="rect">
            <a:avLst/>
          </a:prstGeom>
          <a:noFill/>
          <a:ln/>
        </p:spPr>
        <p:txBody>
          <a:bodyPr wrap="square" lIns="0" tIns="0" rIns="0" bIns="0" rtlCol="0" anchor="t"/>
          <a:lstStyle/>
          <a:p>
            <a:pPr indent="0" marL="0">
              <a:buNone/>
            </a:pPr>
            <a:r>
              <a:rPr lang="en-US" sz="1400" dirty="0">
                <a:solidFill>
                  <a:srgbClr val="0E1C42"/>
                </a:solidFill>
                <a:latin typeface="Calibri" pitchFamily="34" charset="0"/>
                <a:ea typeface="Calibri" pitchFamily="34" charset="-122"/>
                <a:cs typeface="Calibri" pitchFamily="34" charset="-120"/>
              </a:rPr>
              <a:t>You noticed people thinking and talking together instead of grabbing something quickly. That's what it looks like when someone weighs a choice carefully -- before they know it, they're already using the same kind of thinking a curator uses at the Decision Board.</a:t>
            </a:r>
            <a:endParaRPr lang="en-US" sz="1400" dirty="0"/>
          </a:p>
        </p:txBody>
      </p:sp>
      <p:sp>
        <p:nvSpPr>
          <p:cNvPr id="4" name="Shape 2"/>
          <p:cNvSpPr/>
          <p:nvPr/>
        </p:nvSpPr>
        <p:spPr>
          <a:xfrm>
            <a:off x="609600" y="3230880"/>
            <a:ext cx="6096000" cy="1950720"/>
          </a:xfrm>
          <a:prstGeom prst="roundRect">
            <a:avLst>
              <a:gd name="adj" fmla="val 7500"/>
            </a:avLst>
          </a:prstGeom>
          <a:solidFill>
            <a:srgbClr val="FFF3DC"/>
          </a:solidFill>
          <a:ln w="19050">
            <a:solidFill>
              <a:srgbClr val="F5E6C8"/>
            </a:solidFill>
            <a:prstDash val="solid"/>
          </a:ln>
        </p:spPr>
      </p:sp>
      <p:sp>
        <p:nvSpPr>
          <p:cNvPr id="5" name="Text 3"/>
          <p:cNvSpPr/>
          <p:nvPr/>
        </p:nvSpPr>
        <p:spPr>
          <a:xfrm>
            <a:off x="792480" y="3304032"/>
            <a:ext cx="573024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6" name="Text 4"/>
          <p:cNvSpPr/>
          <p:nvPr/>
        </p:nvSpPr>
        <p:spPr>
          <a:xfrm>
            <a:off x="792480" y="3572256"/>
            <a:ext cx="5730240" cy="1524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 looks serious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they are weighing..."</a:t>
            </a:r>
            <a:endParaRPr lang="en-US" sz="1200" dirty="0"/>
          </a:p>
        </p:txBody>
      </p:sp>
      <p:sp>
        <p:nvSpPr>
          <p:cNvPr id="7" name="Shape 5"/>
          <p:cNvSpPr/>
          <p:nvPr/>
        </p:nvSpPr>
        <p:spPr>
          <a:xfrm>
            <a:off x="7010400" y="1158240"/>
            <a:ext cx="4206240" cy="4023360"/>
          </a:xfrm>
          <a:prstGeom prst="roundRect">
            <a:avLst>
              <a:gd name="adj" fmla="val 4545"/>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7254240" y="1280160"/>
            <a:ext cx="37185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7254240" y="1621536"/>
            <a:ext cx="3718560" cy="343814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it look like when people stop to weigh a choice carefully?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they look serious or slow instead of quick?</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Have you ever seen grown-ups take their time before a big choice? What were they doing?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975360" y="609600"/>
            <a:ext cx="10241280" cy="609600"/>
          </a:xfrm>
          <a:prstGeom prst="rect">
            <a:avLst/>
          </a:prstGeom>
          <a:noFill/>
          <a:ln/>
        </p:spPr>
        <p:txBody>
          <a:bodyPr wrap="square" lIns="0" tIns="0" rIns="0" bIns="0" rtlCol="0" anchor="ctr"/>
          <a:lstStyle/>
          <a:p>
            <a:pPr algn="ctr" indent="0" marL="0">
              <a:buNone/>
            </a:pPr>
            <a:r>
              <a:rPr lang="en-US" sz="1800" dirty="0">
                <a:solidFill>
                  <a:srgbClr val="55C8E8"/>
                </a:solidFill>
                <a:latin typeface="Calibri" pitchFamily="34" charset="0"/>
                <a:ea typeface="Calibri" pitchFamily="34" charset="-122"/>
                <a:cs typeface="Calibri" pitchFamily="34" charset="-120"/>
              </a:rPr>
              <a:t>You Discovered It:</a:t>
            </a:r>
            <a:endParaRPr lang="en-US" sz="1800" dirty="0"/>
          </a:p>
        </p:txBody>
      </p:sp>
      <p:sp>
        <p:nvSpPr>
          <p:cNvPr id="3" name="Text 1"/>
          <p:cNvSpPr/>
          <p:nvPr/>
        </p:nvSpPr>
        <p:spPr>
          <a:xfrm>
            <a:off x="975360" y="1219200"/>
            <a:ext cx="10241280" cy="914400"/>
          </a:xfrm>
          <a:prstGeom prst="rect">
            <a:avLst/>
          </a:prstGeom>
          <a:noFill/>
          <a:ln/>
        </p:spPr>
        <p:txBody>
          <a:bodyPr wrap="square" lIns="0" tIns="0" rIns="0" bIns="0" rtlCol="0" anchor="ctr"/>
          <a:lstStyle/>
          <a:p>
            <a:pPr algn="ctr" indent="0" marL="0">
              <a:buNone/>
            </a:pPr>
            <a:r>
              <a:rPr lang="en-US" sz="4000" b="1" dirty="0">
                <a:solidFill>
                  <a:srgbClr val="D4943A"/>
                </a:solidFill>
                <a:latin typeface="Cambria" pitchFamily="34" charset="0"/>
                <a:ea typeface="Cambria" pitchFamily="34" charset="-122"/>
                <a:cs typeface="Cambria" pitchFamily="34" charset="-120"/>
              </a:rPr>
              <a:t>Costs &amp; Benefits</a:t>
            </a:r>
            <a:endParaRPr lang="en-US" sz="4000" dirty="0"/>
          </a:p>
        </p:txBody>
      </p:sp>
      <p:sp>
        <p:nvSpPr>
          <p:cNvPr id="4" name="Shape 2"/>
          <p:cNvSpPr/>
          <p:nvPr/>
        </p:nvSpPr>
        <p:spPr>
          <a:xfrm>
            <a:off x="731520" y="2377440"/>
            <a:ext cx="5242560" cy="2560320"/>
          </a:xfrm>
          <a:prstGeom prst="roundRect">
            <a:avLst>
              <a:gd name="adj" fmla="val 5714"/>
            </a:avLst>
          </a:prstGeom>
          <a:solidFill>
            <a:srgbClr val="3A1F22"/>
          </a:solidFill>
          <a:ln/>
        </p:spPr>
      </p:sp>
      <p:sp>
        <p:nvSpPr>
          <p:cNvPr id="5" name="Text 3"/>
          <p:cNvSpPr/>
          <p:nvPr/>
        </p:nvSpPr>
        <p:spPr>
          <a:xfrm>
            <a:off x="1097280" y="2560320"/>
            <a:ext cx="4511040" cy="426720"/>
          </a:xfrm>
          <a:prstGeom prst="rect">
            <a:avLst/>
          </a:prstGeom>
          <a:noFill/>
          <a:ln/>
        </p:spPr>
        <p:txBody>
          <a:bodyPr wrap="square" lIns="0" tIns="0" rIns="0" bIns="0" rtlCol="0" anchor="ctr"/>
          <a:lstStyle/>
          <a:p>
            <a:pPr indent="0" marL="0">
              <a:buNone/>
            </a:pPr>
            <a:r>
              <a:rPr lang="en-US" sz="1400" b="1" spc="150" kern="0" dirty="0">
                <a:solidFill>
                  <a:srgbClr val="E8636B"/>
                </a:solidFill>
                <a:latin typeface="Calibri" pitchFamily="34" charset="0"/>
                <a:ea typeface="Calibri" pitchFamily="34" charset="-122"/>
                <a:cs typeface="Calibri" pitchFamily="34" charset="-120"/>
              </a:rPr>
              <a:t>COST</a:t>
            </a:r>
            <a:endParaRPr lang="en-US" sz="1400" dirty="0"/>
          </a:p>
        </p:txBody>
      </p:sp>
      <p:sp>
        <p:nvSpPr>
          <p:cNvPr id="6" name="Text 4"/>
          <p:cNvSpPr/>
          <p:nvPr/>
        </p:nvSpPr>
        <p:spPr>
          <a:xfrm>
            <a:off x="1097280" y="3048000"/>
            <a:ext cx="4511040" cy="1706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What you give up or put in when you make a choice. Not always money -- it can be time, effort, space, or another opportunity. (The harbor: money, trees, and years of work.)</a:t>
            </a:r>
            <a:endParaRPr lang="en-US" sz="1250" dirty="0"/>
          </a:p>
        </p:txBody>
      </p:sp>
      <p:sp>
        <p:nvSpPr>
          <p:cNvPr id="7" name="Shape 5"/>
          <p:cNvSpPr/>
          <p:nvPr/>
        </p:nvSpPr>
        <p:spPr>
          <a:xfrm>
            <a:off x="6217920" y="2377440"/>
            <a:ext cx="5242560" cy="2560320"/>
          </a:xfrm>
          <a:prstGeom prst="roundRect">
            <a:avLst>
              <a:gd name="adj" fmla="val 5714"/>
            </a:avLst>
          </a:prstGeom>
          <a:solidFill>
            <a:srgbClr val="1E3A2E"/>
          </a:solidFill>
          <a:ln/>
        </p:spPr>
      </p:sp>
      <p:sp>
        <p:nvSpPr>
          <p:cNvPr id="8" name="Text 6"/>
          <p:cNvSpPr/>
          <p:nvPr/>
        </p:nvSpPr>
        <p:spPr>
          <a:xfrm>
            <a:off x="6583680" y="2560320"/>
            <a:ext cx="4511040" cy="426720"/>
          </a:xfrm>
          <a:prstGeom prst="rect">
            <a:avLst/>
          </a:prstGeom>
          <a:noFill/>
          <a:ln/>
        </p:spPr>
        <p:txBody>
          <a:bodyPr wrap="square" lIns="0" tIns="0" rIns="0" bIns="0" rtlCol="0" anchor="ctr"/>
          <a:lstStyle/>
          <a:p>
            <a:pPr indent="0" marL="0">
              <a:buNone/>
            </a:pPr>
            <a:r>
              <a:rPr lang="en-US" sz="1400" b="1" spc="150" kern="0" dirty="0">
                <a:solidFill>
                  <a:srgbClr val="34B76F"/>
                </a:solidFill>
                <a:latin typeface="Calibri" pitchFamily="34" charset="0"/>
                <a:ea typeface="Calibri" pitchFamily="34" charset="-122"/>
                <a:cs typeface="Calibri" pitchFamily="34" charset="-120"/>
              </a:rPr>
              <a:t>BENEFIT</a:t>
            </a:r>
            <a:endParaRPr lang="en-US" sz="1400" dirty="0"/>
          </a:p>
        </p:txBody>
      </p:sp>
      <p:sp>
        <p:nvSpPr>
          <p:cNvPr id="9" name="Text 7"/>
          <p:cNvSpPr/>
          <p:nvPr/>
        </p:nvSpPr>
        <p:spPr>
          <a:xfrm>
            <a:off x="6583680" y="3048000"/>
            <a:ext cx="4511040" cy="1706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What you gain when you make a choice. New goods or services, saved time, more comfort, income, or fun. (The harbor: new jobs, new goods, more travelers.)</a:t>
            </a:r>
            <a:endParaRPr lang="en-US" sz="1250" dirty="0"/>
          </a:p>
        </p:txBody>
      </p:sp>
      <p:sp>
        <p:nvSpPr>
          <p:cNvPr id="10" name="Text 8"/>
          <p:cNvSpPr/>
          <p:nvPr/>
        </p:nvSpPr>
        <p:spPr>
          <a:xfrm>
            <a:off x="731520" y="5303520"/>
            <a:ext cx="10728960" cy="548640"/>
          </a:xfrm>
          <a:prstGeom prst="rect">
            <a:avLst/>
          </a:prstGeom>
          <a:noFill/>
          <a:ln/>
        </p:spPr>
        <p:txBody>
          <a:bodyPr wrap="square" lIns="0" tIns="0" rIns="0" bIns="0" rtlCol="0" anchor="ctr"/>
          <a:lstStyle/>
          <a:p>
            <a:pPr algn="ctr" indent="0" marL="0">
              <a:buNone/>
            </a:pPr>
            <a:r>
              <a:rPr lang="en-US" sz="1200" i="1" dirty="0">
                <a:solidFill>
                  <a:srgbClr val="55C8E8"/>
                </a:solidFill>
                <a:latin typeface="Calibri" pitchFamily="34" charset="0"/>
                <a:ea typeface="Calibri" pitchFamily="34" charset="-122"/>
                <a:cs typeface="Calibri" pitchFamily="34" charset="-120"/>
              </a:rPr>
              <a:t>Retrieval Challenge: Cover your screen. Say a cost and a benefit from memory -- any example.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Clue Box: The Decision Board</a:t>
            </a:r>
            <a:endParaRPr lang="en-US" sz="2600" dirty="0"/>
          </a:p>
        </p:txBody>
      </p:sp>
      <p:sp>
        <p:nvSpPr>
          <p:cNvPr id="3" name="Text 1"/>
          <p:cNvSpPr/>
          <p:nvPr/>
        </p:nvSpPr>
        <p:spPr>
          <a:xfrm>
            <a:off x="609600" y="1036320"/>
            <a:ext cx="10972800" cy="42672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"Should the Town Build a New Harbor?"</a:t>
            </a:r>
            <a:endParaRPr lang="en-US" sz="1400" dirty="0"/>
          </a:p>
        </p:txBody>
      </p:sp>
      <p:sp>
        <p:nvSpPr>
          <p:cNvPr id="4" name="Shape 2"/>
          <p:cNvSpPr/>
          <p:nvPr/>
        </p:nvSpPr>
        <p:spPr>
          <a:xfrm>
            <a:off x="609600" y="1524000"/>
            <a:ext cx="5303520" cy="3535680"/>
          </a:xfrm>
          <a:prstGeom prst="roundRect">
            <a:avLst>
              <a:gd name="adj" fmla="val 3448"/>
            </a:avLst>
          </a:prstGeom>
          <a:solidFill>
            <a:srgbClr val="FBEAEA"/>
          </a:solidFill>
          <a:ln w="19050">
            <a:solidFill>
              <a:srgbClr val="E8636B"/>
            </a:solidFill>
            <a:prstDash val="solid"/>
          </a:ln>
        </p:spPr>
      </p:sp>
      <p:sp>
        <p:nvSpPr>
          <p:cNvPr id="5" name="Text 3"/>
          <p:cNvSpPr/>
          <p:nvPr/>
        </p:nvSpPr>
        <p:spPr>
          <a:xfrm>
            <a:off x="853440" y="1645920"/>
            <a:ext cx="4876800" cy="365760"/>
          </a:xfrm>
          <a:prstGeom prst="rect">
            <a:avLst/>
          </a:prstGeom>
          <a:noFill/>
          <a:ln/>
        </p:spPr>
        <p:txBody>
          <a:bodyPr wrap="square" lIns="0" tIns="0" rIns="0" bIns="0" rtlCol="0" anchor="ctr"/>
          <a:lstStyle/>
          <a:p>
            <a:pPr indent="0" marL="0">
              <a:buNone/>
            </a:pPr>
            <a:r>
              <a:rPr lang="en-US" sz="1200" b="1" dirty="0">
                <a:solidFill>
                  <a:srgbClr val="E8636B"/>
                </a:solidFill>
                <a:latin typeface="Calibri" pitchFamily="34" charset="0"/>
                <a:ea typeface="Calibri" pitchFamily="34" charset="-122"/>
                <a:cs typeface="Calibri" pitchFamily="34" charset="-120"/>
              </a:rPr>
              <a:t>- COSTS (what we give up)</a:t>
            </a:r>
            <a:endParaRPr lang="en-US" sz="1200" dirty="0"/>
          </a:p>
        </p:txBody>
      </p:sp>
      <p:sp>
        <p:nvSpPr>
          <p:cNvPr id="6" name="Text 4"/>
          <p:cNvSpPr/>
          <p:nvPr/>
        </p:nvSpPr>
        <p:spPr>
          <a:xfrm>
            <a:off x="853440" y="2072640"/>
            <a:ext cx="4876800" cy="28651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0E1C42"/>
                </a:solidFill>
                <a:latin typeface="Calibri" pitchFamily="34" charset="0"/>
                <a:ea typeface="Calibri" pitchFamily="34" charset="-122"/>
                <a:cs typeface="Calibri" pitchFamily="34" charset="-120"/>
              </a:rPr>
              <a:t>Money to build the docks and storehouses.</a:t>
            </a:r>
            <a:endParaRPr lang="en-US" sz="1150" dirty="0"/>
          </a:p>
          <a:p>
            <a:pPr marL="342900" indent="-342900">
              <a:spcAft>
                <a:spcPts val="600"/>
              </a:spcAft>
              <a:buSzPct val="100000"/>
              <a:buChar char="•"/>
            </a:pPr>
            <a:r>
              <a:rPr lang="en-US" sz="1150" dirty="0">
                <a:solidFill>
                  <a:srgbClr val="0E1C42"/>
                </a:solidFill>
                <a:latin typeface="Calibri" pitchFamily="34" charset="0"/>
                <a:ea typeface="Calibri" pitchFamily="34" charset="-122"/>
                <a:cs typeface="Calibri" pitchFamily="34" charset="-120"/>
              </a:rPr>
              <a:t>Trees from the forest used for wood.</a:t>
            </a:r>
            <a:endParaRPr lang="en-US" sz="1150" dirty="0"/>
          </a:p>
          <a:p>
            <a:pPr marL="342900" indent="-342900">
              <a:spcAft>
                <a:spcPts val="600"/>
              </a:spcAft>
              <a:buSzPct val="100000"/>
              <a:buChar char="•"/>
            </a:pPr>
            <a:r>
              <a:rPr lang="en-US" sz="1150" dirty="0">
                <a:solidFill>
                  <a:srgbClr val="0E1C42"/>
                </a:solidFill>
                <a:latin typeface="Calibri" pitchFamily="34" charset="0"/>
                <a:ea typeface="Calibri" pitchFamily="34" charset="-122"/>
                <a:cs typeface="Calibri" pitchFamily="34" charset="-120"/>
              </a:rPr>
              <a:t>Years of work before the harbor is ready.</a:t>
            </a:r>
            <a:endParaRPr lang="en-US" sz="1150" dirty="0"/>
          </a:p>
          <a:p>
            <a:pPr marL="342900" indent="-342900">
              <a:spcAft>
                <a:spcPts val="600"/>
              </a:spcAft>
              <a:buSzPct val="100000"/>
              <a:buChar char="•"/>
            </a:pPr>
            <a:r>
              <a:rPr lang="en-US" sz="1150" dirty="0">
                <a:solidFill>
                  <a:srgbClr val="0E1C42"/>
                </a:solidFill>
                <a:latin typeface="Calibri" pitchFamily="34" charset="0"/>
                <a:ea typeface="Calibri" pitchFamily="34" charset="-122"/>
                <a:cs typeface="Calibri" pitchFamily="34" charset="-120"/>
              </a:rPr>
              <a:t>Loud ships, more traffic in town.</a:t>
            </a:r>
            <a:endParaRPr lang="en-US" sz="1150" dirty="0"/>
          </a:p>
        </p:txBody>
      </p:sp>
      <p:sp>
        <p:nvSpPr>
          <p:cNvPr id="7" name="Shape 5"/>
          <p:cNvSpPr/>
          <p:nvPr/>
        </p:nvSpPr>
        <p:spPr>
          <a:xfrm>
            <a:off x="6278880" y="1524000"/>
            <a:ext cx="5303520" cy="3535680"/>
          </a:xfrm>
          <a:prstGeom prst="roundRect">
            <a:avLst>
              <a:gd name="adj" fmla="val 3448"/>
            </a:avLst>
          </a:prstGeom>
          <a:solidFill>
            <a:srgbClr val="E8F7EE"/>
          </a:solidFill>
          <a:ln w="19050">
            <a:solidFill>
              <a:srgbClr val="34B76F"/>
            </a:solidFill>
            <a:prstDash val="solid"/>
          </a:ln>
        </p:spPr>
      </p:sp>
      <p:sp>
        <p:nvSpPr>
          <p:cNvPr id="8" name="Text 6"/>
          <p:cNvSpPr/>
          <p:nvPr/>
        </p:nvSpPr>
        <p:spPr>
          <a:xfrm>
            <a:off x="6522720" y="1645920"/>
            <a:ext cx="4876800" cy="36576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 BENEFITS (what we gain)</a:t>
            </a:r>
            <a:endParaRPr lang="en-US" sz="1200" dirty="0"/>
          </a:p>
        </p:txBody>
      </p:sp>
      <p:sp>
        <p:nvSpPr>
          <p:cNvPr id="9" name="Text 7"/>
          <p:cNvSpPr/>
          <p:nvPr/>
        </p:nvSpPr>
        <p:spPr>
          <a:xfrm>
            <a:off x="6522720" y="2072640"/>
            <a:ext cx="4876800" cy="28651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0E1C42"/>
                </a:solidFill>
                <a:latin typeface="Calibri" pitchFamily="34" charset="0"/>
                <a:ea typeface="Calibri" pitchFamily="34" charset="-122"/>
                <a:cs typeface="Calibri" pitchFamily="34" charset="-120"/>
              </a:rPr>
              <a:t>New jobs building, fishing, and unloading ships.</a:t>
            </a:r>
            <a:endParaRPr lang="en-US" sz="1150" dirty="0"/>
          </a:p>
          <a:p>
            <a:pPr marL="342900" indent="-342900">
              <a:spcAft>
                <a:spcPts val="600"/>
              </a:spcAft>
              <a:buSzPct val="100000"/>
              <a:buChar char="•"/>
            </a:pPr>
            <a:r>
              <a:rPr lang="en-US" sz="1150" dirty="0">
                <a:solidFill>
                  <a:srgbClr val="0E1C42"/>
                </a:solidFill>
                <a:latin typeface="Calibri" pitchFamily="34" charset="0"/>
                <a:ea typeface="Calibri" pitchFamily="34" charset="-122"/>
                <a:cs typeface="Calibri" pitchFamily="34" charset="-120"/>
              </a:rPr>
              <a:t>More goods arrive from far away -- sugar, fish, citrus.</a:t>
            </a:r>
            <a:endParaRPr lang="en-US" sz="1150" dirty="0"/>
          </a:p>
          <a:p>
            <a:pPr marL="342900" indent="-342900">
              <a:spcAft>
                <a:spcPts val="600"/>
              </a:spcAft>
              <a:buSzPct val="100000"/>
              <a:buChar char="•"/>
            </a:pPr>
            <a:r>
              <a:rPr lang="en-US" sz="1150" dirty="0">
                <a:solidFill>
                  <a:srgbClr val="0E1C42"/>
                </a:solidFill>
                <a:latin typeface="Calibri" pitchFamily="34" charset="0"/>
                <a:ea typeface="Calibri" pitchFamily="34" charset="-122"/>
                <a:cs typeface="Calibri" pitchFamily="34" charset="-120"/>
              </a:rPr>
              <a:t>Travelers visit and spend money in town.</a:t>
            </a:r>
            <a:endParaRPr lang="en-US" sz="1150" dirty="0"/>
          </a:p>
          <a:p>
            <a:pPr marL="342900" indent="-342900">
              <a:spcAft>
                <a:spcPts val="600"/>
              </a:spcAft>
              <a:buSzPct val="100000"/>
              <a:buChar char="•"/>
            </a:pPr>
            <a:r>
              <a:rPr lang="en-US" sz="1150" dirty="0">
                <a:solidFill>
                  <a:srgbClr val="0E1C42"/>
                </a:solidFill>
                <a:latin typeface="Calibri" pitchFamily="34" charset="0"/>
                <a:ea typeface="Calibri" pitchFamily="34" charset="-122"/>
                <a:cs typeface="Calibri" pitchFamily="34" charset="-120"/>
              </a:rPr>
              <a:t>Local crafters can ship their goods to other places.</a:t>
            </a:r>
            <a:endParaRPr lang="en-US" sz="1150" dirty="0"/>
          </a:p>
        </p:txBody>
      </p:sp>
      <p:sp>
        <p:nvSpPr>
          <p:cNvPr id="10" name="Text 8"/>
          <p:cNvSpPr/>
          <p:nvPr/>
        </p:nvSpPr>
        <p:spPr>
          <a:xfrm>
            <a:off x="609600" y="5303520"/>
            <a:ext cx="10972800" cy="487680"/>
          </a:xfrm>
          <a:prstGeom prst="rect">
            <a:avLst/>
          </a:prstGeom>
          <a:noFill/>
          <a:ln/>
        </p:spPr>
        <p:txBody>
          <a:bodyPr wrap="square" lIns="0" tIns="0" rIns="0" bIns="0"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Pause &amp; Think: Look at both columns. Which side has more weight? Don't answer out loud yet.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Weighing the Two Sides</a:t>
            </a:r>
            <a:endParaRPr lang="en-US" sz="2800" dirty="0"/>
          </a:p>
        </p:txBody>
      </p:sp>
      <p:sp>
        <p:nvSpPr>
          <p:cNvPr id="3" name="Text 1"/>
          <p:cNvSpPr/>
          <p:nvPr/>
        </p:nvSpPr>
        <p:spPr>
          <a:xfrm>
            <a:off x="609600" y="1158240"/>
            <a:ext cx="6096000" cy="21336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A wise decision means looking at both sides before you choose. If the benefits clearly outweigh the costs, the choice usually makes sense. If the costs outweigh the benefits, it usually doesn't. Sometimes the two are close, and a person has to use their best judgment.</a:t>
            </a:r>
            <a:endParaRPr lang="en-US" sz="1300" dirty="0"/>
          </a:p>
        </p:txBody>
      </p:sp>
      <p:sp>
        <p:nvSpPr>
          <p:cNvPr id="4" name="Shape 2"/>
          <p:cNvSpPr/>
          <p:nvPr/>
        </p:nvSpPr>
        <p:spPr>
          <a:xfrm>
            <a:off x="609600" y="3413760"/>
            <a:ext cx="6096000" cy="1828800"/>
          </a:xfrm>
          <a:prstGeom prst="roundRect">
            <a:avLst>
              <a:gd name="adj" fmla="val 8000"/>
            </a:avLst>
          </a:prstGeom>
          <a:solidFill>
            <a:srgbClr val="FFF3DC"/>
          </a:solidFill>
          <a:ln w="19050">
            <a:solidFill>
              <a:srgbClr val="F5E6C8"/>
            </a:solidFill>
            <a:prstDash val="solid"/>
          </a:ln>
        </p:spPr>
      </p:sp>
      <p:sp>
        <p:nvSpPr>
          <p:cNvPr id="5" name="Text 3"/>
          <p:cNvSpPr/>
          <p:nvPr/>
        </p:nvSpPr>
        <p:spPr>
          <a:xfrm>
            <a:off x="792480" y="3486912"/>
            <a:ext cx="573024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6" name="Text 4"/>
          <p:cNvSpPr/>
          <p:nvPr/>
        </p:nvSpPr>
        <p:spPr>
          <a:xfrm>
            <a:off x="792480" y="3755136"/>
            <a:ext cx="5730240" cy="1402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costs/benefits weigh more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tile that matters most is..."</a:t>
            </a:r>
            <a:endParaRPr lang="en-US" sz="1200" dirty="0"/>
          </a:p>
        </p:txBody>
      </p:sp>
      <p:sp>
        <p:nvSpPr>
          <p:cNvPr id="7" name="Shape 5"/>
          <p:cNvSpPr/>
          <p:nvPr/>
        </p:nvSpPr>
        <p:spPr>
          <a:xfrm>
            <a:off x="7010400" y="1158240"/>
            <a:ext cx="4206240" cy="4084320"/>
          </a:xfrm>
          <a:prstGeom prst="roundRect">
            <a:avLst>
              <a:gd name="adj" fmla="val 4478"/>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7254240" y="1280160"/>
            <a:ext cx="37185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7254240" y="1621536"/>
            <a:ext cx="3718560" cy="34991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side has more weight -- the costs, or the benefits?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there one tile on either side that matters more than the rest?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decide if you were on the town council?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Think of a real choice you made this week -- what was the cost, and what was the benefit?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975360" y="548640"/>
            <a:ext cx="10241280" cy="609600"/>
          </a:xfrm>
          <a:prstGeom prst="rect">
            <a:avLst/>
          </a:prstGeom>
          <a:noFill/>
          <a:ln/>
        </p:spPr>
        <p:txBody>
          <a:bodyPr wrap="square" lIns="0" tIns="0" rIns="0" bIns="0" rtlCol="0" anchor="ctr"/>
          <a:lstStyle/>
          <a:p>
            <a:pPr algn="ctr" indent="0" marL="0">
              <a:buNone/>
            </a:pPr>
            <a:r>
              <a:rPr lang="en-US" sz="1800" dirty="0">
                <a:solidFill>
                  <a:srgbClr val="55C8E8"/>
                </a:solidFill>
                <a:latin typeface="Calibri" pitchFamily="34" charset="0"/>
                <a:ea typeface="Calibri" pitchFamily="34" charset="-122"/>
                <a:cs typeface="Calibri" pitchFamily="34" charset="-120"/>
              </a:rPr>
              <a:t>You Discovered It:</a:t>
            </a:r>
            <a:endParaRPr lang="en-US" sz="1800" dirty="0"/>
          </a:p>
        </p:txBody>
      </p:sp>
      <p:sp>
        <p:nvSpPr>
          <p:cNvPr id="3" name="Text 1"/>
          <p:cNvSpPr/>
          <p:nvPr/>
        </p:nvSpPr>
        <p:spPr>
          <a:xfrm>
            <a:off x="975360" y="1158240"/>
            <a:ext cx="10241280" cy="914400"/>
          </a:xfrm>
          <a:prstGeom prst="rect">
            <a:avLst/>
          </a:prstGeom>
          <a:noFill/>
          <a:ln/>
        </p:spPr>
        <p:txBody>
          <a:bodyPr wrap="square" lIns="0" tIns="0" rIns="0" bIns="0" rtlCol="0" anchor="ctr"/>
          <a:lstStyle/>
          <a:p>
            <a:pPr algn="ctr" indent="0" marL="0">
              <a:buNone/>
            </a:pPr>
            <a:r>
              <a:rPr lang="en-US" sz="3600" b="1" dirty="0">
                <a:solidFill>
                  <a:srgbClr val="D4943A"/>
                </a:solidFill>
                <a:latin typeface="Cambria" pitchFamily="34" charset="0"/>
                <a:ea typeface="Cambria" pitchFamily="34" charset="-122"/>
                <a:cs typeface="Cambria" pitchFamily="34" charset="-120"/>
              </a:rPr>
              <a:t>Weighing Both Sides</a:t>
            </a:r>
            <a:endParaRPr lang="en-US" sz="3600" dirty="0"/>
          </a:p>
        </p:txBody>
      </p:sp>
      <p:sp>
        <p:nvSpPr>
          <p:cNvPr id="4" name="Shape 2"/>
          <p:cNvSpPr/>
          <p:nvPr/>
        </p:nvSpPr>
        <p:spPr>
          <a:xfrm>
            <a:off x="1219200" y="2255520"/>
            <a:ext cx="9753600" cy="2621280"/>
          </a:xfrm>
          <a:prstGeom prst="roundRect">
            <a:avLst>
              <a:gd name="adj" fmla="val 5581"/>
            </a:avLst>
          </a:prstGeom>
          <a:solidFill>
            <a:srgbClr val="1A2D5A"/>
          </a:solidFill>
          <a:ln/>
        </p:spPr>
      </p:sp>
      <p:sp>
        <p:nvSpPr>
          <p:cNvPr id="5" name="Text 3"/>
          <p:cNvSpPr/>
          <p:nvPr/>
        </p:nvSpPr>
        <p:spPr>
          <a:xfrm>
            <a:off x="1584960" y="2499360"/>
            <a:ext cx="9022080" cy="2072640"/>
          </a:xfrm>
          <a:prstGeom prst="rect">
            <a:avLst/>
          </a:prstGeom>
          <a:noFill/>
          <a:ln/>
        </p:spPr>
        <p:txBody>
          <a:bodyPr wrap="square" lIns="0" tIns="0" rIns="0" bIns="0" rtlCol="0" anchor="ctr"/>
          <a:lstStyle/>
          <a:p>
            <a:pPr algn="ctr" indent="0" marL="0">
              <a:buNone/>
            </a:pPr>
            <a:r>
              <a:rPr lang="en-US" sz="1500" i="1" dirty="0">
                <a:solidFill>
                  <a:srgbClr val="FFFFFF"/>
                </a:solidFill>
                <a:latin typeface="Cambria" pitchFamily="34" charset="0"/>
                <a:ea typeface="Cambria" pitchFamily="34" charset="-122"/>
                <a:cs typeface="Cambria" pitchFamily="34" charset="-120"/>
              </a:rPr>
              <a:t>A wise decision looks at BOTH costs and benefits before choosing -- not just the shiny thing you want first. That careful, on-purpose thinking is what the curator calls self-governance, and it's what good marketplace decisions are built on.</a:t>
            </a:r>
            <a:endParaRPr lang="en-US" sz="1500" dirty="0"/>
          </a:p>
        </p:txBody>
      </p:sp>
      <p:sp>
        <p:nvSpPr>
          <p:cNvPr id="6" name="Text 4"/>
          <p:cNvSpPr/>
          <p:nvPr/>
        </p:nvSpPr>
        <p:spPr>
          <a:xfrm>
            <a:off x="853440" y="5181600"/>
            <a:ext cx="10485120" cy="670560"/>
          </a:xfrm>
          <a:prstGeom prst="rect">
            <a:avLst/>
          </a:prstGeom>
          <a:noFill/>
          <a:ln/>
        </p:spPr>
        <p:txBody>
          <a:bodyPr wrap="square" lIns="0" tIns="0" rIns="0" bIns="0" rtlCol="0" anchor="ctr"/>
          <a:lstStyle/>
          <a:p>
            <a:pPr algn="ctr" indent="0" marL="0">
              <a:buNone/>
            </a:pPr>
            <a:r>
              <a:rPr lang="en-US" sz="1150" i="1" dirty="0">
                <a:solidFill>
                  <a:srgbClr val="D6E0F5"/>
                </a:solidFill>
                <a:latin typeface="Calibri" pitchFamily="34" charset="0"/>
                <a:ea typeface="Calibri" pitchFamily="34" charset="-122"/>
                <a:cs typeface="Calibri" pitchFamily="34" charset="-120"/>
              </a:rPr>
              <a:t>Then &amp; Now: Town councils once met for weeks over a chalkboard. Today cities use slideshows -- but the need to weigh both sides never changed.</a:t>
            </a:r>
            <a:endParaRPr lang="en-US" sz="1150" dirty="0"/>
          </a:p>
        </p:txBody>
      </p:sp>
      <p:sp>
        <p:nvSpPr>
          <p:cNvPr id="7" name="Text 5"/>
          <p:cNvSpPr/>
          <p:nvPr/>
        </p:nvSpPr>
        <p:spPr>
          <a:xfrm>
            <a:off x="731520" y="5974080"/>
            <a:ext cx="10728960" cy="487680"/>
          </a:xfrm>
          <a:prstGeom prst="rect">
            <a:avLst/>
          </a:prstGeom>
          <a:noFill/>
          <a:ln/>
        </p:spPr>
        <p:txBody>
          <a:bodyPr wrap="square" lIns="0" tIns="0" rIns="0" bIns="0" rtlCol="0" anchor="ctr"/>
          <a:lstStyle/>
          <a:p>
            <a:pPr algn="ctr" indent="0" marL="0">
              <a:buNone/>
            </a:pPr>
            <a:r>
              <a:rPr lang="en-US" sz="1200" i="1" dirty="0">
                <a:solidFill>
                  <a:srgbClr val="55C8E8"/>
                </a:solidFill>
                <a:latin typeface="Calibri" pitchFamily="34" charset="0"/>
                <a:ea typeface="Calibri" pitchFamily="34" charset="-122"/>
                <a:cs typeface="Calibri" pitchFamily="34" charset="-120"/>
              </a:rPr>
              <a:t>Retrieval Challenge: Name the three questions Opti says to ask before you choose.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Why It Matters</a:t>
            </a:r>
            <a:endParaRPr lang="en-US" sz="2800" dirty="0"/>
          </a:p>
        </p:txBody>
      </p:sp>
      <p:sp>
        <p:nvSpPr>
          <p:cNvPr id="3" name="Shape 1"/>
          <p:cNvSpPr/>
          <p:nvPr/>
        </p:nvSpPr>
        <p:spPr>
          <a:xfrm>
            <a:off x="609600" y="1097280"/>
            <a:ext cx="5364480" cy="2682240"/>
          </a:xfrm>
          <a:prstGeom prst="roundRect">
            <a:avLst>
              <a:gd name="adj" fmla="val 5455"/>
            </a:avLst>
          </a:prstGeom>
          <a:solidFill>
            <a:srgbClr val="E2E8F4"/>
          </a:solidFill>
          <a:ln w="19050">
            <a:solidFill>
              <a:srgbClr val="B0B8CC"/>
            </a:solidFill>
            <a:prstDash val="dash"/>
          </a:ln>
        </p:spPr>
      </p:sp>
      <p:sp>
        <p:nvSpPr>
          <p:cNvPr id="4" name="Text 2"/>
          <p:cNvSpPr/>
          <p:nvPr/>
        </p:nvSpPr>
        <p:spPr>
          <a:xfrm>
            <a:off x="609600" y="1097280"/>
            <a:ext cx="53644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792480" y="1463040"/>
            <a:ext cx="4998720" cy="2194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Side-by-side historical vs. modern comparison -- a 1800s town council meeting around a chalkboard on one side, a modern city council meeting with a laptop and slideshow on the other.</a:t>
            </a:r>
            <a:endParaRPr lang="en-US" sz="1100" dirty="0"/>
          </a:p>
        </p:txBody>
      </p:sp>
      <p:sp>
        <p:nvSpPr>
          <p:cNvPr id="6" name="Shape 4"/>
          <p:cNvSpPr/>
          <p:nvPr/>
        </p:nvSpPr>
        <p:spPr>
          <a:xfrm>
            <a:off x="6278880" y="1097280"/>
            <a:ext cx="4937760" cy="2682240"/>
          </a:xfrm>
          <a:prstGeom prst="roundRect">
            <a:avLst>
              <a:gd name="adj" fmla="val 5455"/>
            </a:avLst>
          </a:prstGeom>
          <a:solidFill>
            <a:srgbClr val="F0E8FF"/>
          </a:solidFill>
          <a:ln/>
        </p:spPr>
      </p:sp>
      <p:sp>
        <p:nvSpPr>
          <p:cNvPr id="7" name="Text 5"/>
          <p:cNvSpPr/>
          <p:nvPr/>
        </p:nvSpPr>
        <p:spPr>
          <a:xfrm>
            <a:off x="6522720" y="1219200"/>
            <a:ext cx="4450080" cy="365760"/>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Opti says:</a:t>
            </a:r>
            <a:endParaRPr lang="en-US" sz="1300" dirty="0"/>
          </a:p>
        </p:txBody>
      </p:sp>
      <p:sp>
        <p:nvSpPr>
          <p:cNvPr id="8" name="Text 6"/>
          <p:cNvSpPr/>
          <p:nvPr/>
        </p:nvSpPr>
        <p:spPr>
          <a:xfrm>
            <a:off x="6522720" y="1645920"/>
            <a:ext cx="4450080" cy="195072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When you're tempted to make a quick choice, ask three quiet questions: "What am I gaining? What am I giving up? Is it worth it?" You don't need a board -- just a pause.</a:t>
            </a:r>
            <a:endParaRPr lang="en-US" sz="1300" dirty="0"/>
          </a:p>
        </p:txBody>
      </p:sp>
      <p:sp>
        <p:nvSpPr>
          <p:cNvPr id="9" name="Text 7"/>
          <p:cNvSpPr/>
          <p:nvPr/>
        </p:nvSpPr>
        <p:spPr>
          <a:xfrm>
            <a:off x="609600" y="4023360"/>
            <a:ext cx="10972800" cy="1341120"/>
          </a:xfrm>
          <a:prstGeom prst="rect">
            <a:avLst/>
          </a:prstGeom>
          <a:noFill/>
          <a:ln/>
        </p:spPr>
        <p:txBody>
          <a:bodyPr wrap="square" lIns="0" tIns="0" rIns="0" bIns="0" rtlCol="0" anchor="t"/>
          <a:lstStyle/>
          <a:p>
            <a:pPr indent="0" marL="0">
              <a:buNone/>
            </a:pPr>
            <a:r>
              <a:rPr lang="en-US" sz="1350" dirty="0">
                <a:solidFill>
                  <a:srgbClr val="0E1C42"/>
                </a:solidFill>
                <a:latin typeface="Calibri" pitchFamily="34" charset="0"/>
                <a:ea typeface="Calibri" pitchFamily="34" charset="-122"/>
                <a:cs typeface="Calibri" pitchFamily="34" charset="-120"/>
              </a:rPr>
              <a:t>This is exactly why the Curator's Question matters: a wise marketplace decision -- for a town, or for a family -- always comes down to weighing what you gain against what you give up, on purpose, using self-governance instead of grabbing the first shiny thing.</a:t>
            </a:r>
            <a:endParaRPr lang="en-US" sz="1350" dirty="0"/>
          </a:p>
        </p:txBody>
      </p:sp>
      <p:sp>
        <p:nvSpPr>
          <p:cNvPr id="10" name="Text 8"/>
          <p:cNvSpPr/>
          <p:nvPr/>
        </p:nvSpPr>
        <p:spPr>
          <a:xfrm>
            <a:off x="609600" y="5547360"/>
            <a:ext cx="10972800" cy="487680"/>
          </a:xfrm>
          <a:prstGeom prst="rect">
            <a:avLst/>
          </a:prstGeom>
          <a:noFill/>
          <a:ln/>
        </p:spPr>
        <p:txBody>
          <a:bodyPr wrap="square" lIns="0" tIns="0" rIns="0" bIns="0" rtlCol="0" anchor="ctr"/>
          <a:lstStyle/>
          <a:p>
            <a:pPr indent="0" marL="0">
              <a:buNone/>
            </a:pPr>
            <a:r>
              <a:rPr lang="en-US" sz="1150" i="1" dirty="0">
                <a:solidFill>
                  <a:srgbClr val="7A88A8"/>
                </a:solidFill>
                <a:latin typeface="Calibri" pitchFamily="34" charset="0"/>
                <a:ea typeface="Calibri" pitchFamily="34" charset="-122"/>
                <a:cs typeface="Calibri" pitchFamily="34" charset="-120"/>
              </a:rPr>
              <a:t>Keep Opti's three questions in mind -- you'll use them for your own evidence answers soon.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Guided Practice: Teacher Models</a:t>
            </a:r>
            <a:endParaRPr lang="en-US" sz="2600" dirty="0"/>
          </a:p>
        </p:txBody>
      </p:sp>
      <p:sp>
        <p:nvSpPr>
          <p:cNvPr id="3" name="Shape 1"/>
          <p:cNvSpPr/>
          <p:nvPr/>
        </p:nvSpPr>
        <p:spPr>
          <a:xfrm>
            <a:off x="609600" y="1097280"/>
            <a:ext cx="4389120" cy="3048000"/>
          </a:xfrm>
          <a:prstGeom prst="roundRect">
            <a:avLst>
              <a:gd name="adj" fmla="val 4800"/>
            </a:avLst>
          </a:prstGeom>
          <a:solidFill>
            <a:srgbClr val="E2E8F4"/>
          </a:solidFill>
          <a:ln w="19050">
            <a:solidFill>
              <a:srgbClr val="B0B8CC"/>
            </a:solidFill>
            <a:prstDash val="dash"/>
          </a:ln>
        </p:spPr>
      </p:sp>
      <p:sp>
        <p:nvSpPr>
          <p:cNvPr id="4" name="Text 2"/>
          <p:cNvSpPr/>
          <p:nvPr/>
        </p:nvSpPr>
        <p:spPr>
          <a:xfrm>
            <a:off x="609600" y="1097280"/>
            <a:ext cx="438912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792480" y="1463040"/>
            <a:ext cx="402336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curator's hand sliding a wooden tile into the Costs or Benefits column of the Decision Board.</a:t>
            </a:r>
            <a:endParaRPr lang="en-US" sz="1100" dirty="0"/>
          </a:p>
        </p:txBody>
      </p:sp>
      <p:sp>
        <p:nvSpPr>
          <p:cNvPr id="6" name="Shape 4"/>
          <p:cNvSpPr/>
          <p:nvPr/>
        </p:nvSpPr>
        <p:spPr>
          <a:xfrm>
            <a:off x="5242560" y="1097280"/>
            <a:ext cx="5974080" cy="3048000"/>
          </a:xfrm>
          <a:prstGeom prst="roundRect">
            <a:avLst>
              <a:gd name="adj" fmla="val 4800"/>
            </a:avLst>
          </a:prstGeom>
          <a:solidFill>
            <a:srgbClr val="EAF8FD"/>
          </a:solidFill>
          <a:ln/>
        </p:spPr>
      </p:sp>
      <p:sp>
        <p:nvSpPr>
          <p:cNvPr id="7" name="Text 5"/>
          <p:cNvSpPr/>
          <p:nvPr/>
        </p:nvSpPr>
        <p:spPr>
          <a:xfrm>
            <a:off x="5486400" y="1280160"/>
            <a:ext cx="5486400" cy="365760"/>
          </a:xfrm>
          <a:prstGeom prst="rect">
            <a:avLst/>
          </a:prstGeom>
          <a:noFill/>
          <a:ln/>
        </p:spPr>
        <p:txBody>
          <a:bodyPr wrap="square" lIns="0" tIns="0" rIns="0" bIns="0" rtlCol="0" anchor="ctr"/>
          <a:lstStyle/>
          <a:p>
            <a:pPr indent="0" marL="0">
              <a:buNone/>
            </a:pPr>
            <a:r>
              <a:rPr lang="en-US" sz="1000" b="1" spc="150" kern="0" dirty="0">
                <a:solidFill>
                  <a:srgbClr val="1B6E8C"/>
                </a:solidFill>
                <a:latin typeface="Calibri" pitchFamily="34" charset="0"/>
                <a:ea typeface="Calibri" pitchFamily="34" charset="-122"/>
                <a:cs typeface="Calibri" pitchFamily="34" charset="-120"/>
              </a:rPr>
              <a:t>THINK-ALOUD SCRIPT</a:t>
            </a:r>
            <a:endParaRPr lang="en-US" sz="1000" dirty="0"/>
          </a:p>
        </p:txBody>
      </p:sp>
      <p:sp>
        <p:nvSpPr>
          <p:cNvPr id="8" name="Text 6"/>
          <p:cNvSpPr/>
          <p:nvPr/>
        </p:nvSpPr>
        <p:spPr>
          <a:xfrm>
            <a:off x="5486400" y="1706880"/>
            <a:ext cx="5486400" cy="2316480"/>
          </a:xfrm>
          <a:prstGeom prst="rect">
            <a:avLst/>
          </a:prstGeom>
          <a:noFill/>
          <a:ln/>
        </p:spPr>
        <p:txBody>
          <a:bodyPr wrap="square" lIns="0" tIns="0" rIns="0" bIns="0" rtlCol="0" anchor="t"/>
          <a:lstStyle/>
          <a:p>
            <a:pPr indent="0" marL="0">
              <a:buNone/>
            </a:pPr>
            <a:r>
              <a:rPr lang="en-US" sz="1250" i="1" dirty="0">
                <a:solidFill>
                  <a:srgbClr val="0E1C42"/>
                </a:solidFill>
                <a:latin typeface="Cambria" pitchFamily="34" charset="0"/>
                <a:ea typeface="Cambria" pitchFamily="34" charset="-122"/>
                <a:cs typeface="Cambria" pitchFamily="34" charset="-120"/>
              </a:rPr>
              <a:t>"A family has $20 for a weekend choice. Should I only think about the price? No -- a cost isn't just money. It can be time or a missed chance too. Let me ask Opti's three questions: what am I gaining, what am I giving up, and is it worth it? That's how I sort each tile before I decide."</a:t>
            </a:r>
            <a:endParaRPr lang="en-US" sz="1250" dirty="0"/>
          </a:p>
        </p:txBody>
      </p:sp>
      <p:sp>
        <p:nvSpPr>
          <p:cNvPr id="9" name="Text 7"/>
          <p:cNvSpPr/>
          <p:nvPr/>
        </p:nvSpPr>
        <p:spPr>
          <a:xfrm>
            <a:off x="609600" y="4389120"/>
            <a:ext cx="10972800" cy="1097280"/>
          </a:xfrm>
          <a:prstGeom prst="rect">
            <a:avLst/>
          </a:prstGeom>
          <a:noFill/>
          <a:ln/>
        </p:spPr>
        <p:txBody>
          <a:bodyPr wrap="square" lIns="0" tIns="0" rIns="0" bIns="0" rtlCol="0" anchor="t"/>
          <a:lstStyle/>
          <a:p>
            <a:pPr indent="0" marL="0">
              <a:buNone/>
            </a:pPr>
            <a:r>
              <a:rPr lang="en-US" sz="1250" dirty="0">
                <a:solidFill>
                  <a:srgbClr val="7A88A8"/>
                </a:solidFill>
                <a:latin typeface="Calibri" pitchFamily="34" charset="0"/>
                <a:ea typeface="Calibri" pitchFamily="34" charset="-122"/>
                <a:cs typeface="Calibri" pitchFamily="34" charset="-120"/>
              </a:rPr>
              <a:t>Notice: the teacher names each thought out loud, sorts one example cost and one example benefit, then pauses before deciding -- exactly like the harbor example.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We Try Together</a:t>
            </a:r>
            <a:endParaRPr lang="en-US" sz="2800" dirty="0"/>
          </a:p>
        </p:txBody>
      </p:sp>
      <p:sp>
        <p:nvSpPr>
          <p:cNvPr id="3" name="Shape 1"/>
          <p:cNvSpPr/>
          <p:nvPr/>
        </p:nvSpPr>
        <p:spPr>
          <a:xfrm>
            <a:off x="609600" y="1158240"/>
            <a:ext cx="5364480" cy="3840480"/>
          </a:xfrm>
          <a:prstGeom prst="roundRect">
            <a:avLst>
              <a:gd name="adj" fmla="val 3810"/>
            </a:avLst>
          </a:prstGeom>
          <a:solidFill>
            <a:srgbClr val="FFFFFF"/>
          </a:solidFill>
          <a:ln w="12700">
            <a:solidFill>
              <a:srgbClr val="D8DEEC"/>
            </a:solidFill>
            <a:prstDash val="solid"/>
          </a:ln>
        </p:spPr>
      </p:sp>
      <p:sp>
        <p:nvSpPr>
          <p:cNvPr id="4" name="Text 2"/>
          <p:cNvSpPr/>
          <p:nvPr/>
        </p:nvSpPr>
        <p:spPr>
          <a:xfrm>
            <a:off x="853440" y="1341120"/>
            <a:ext cx="4876800" cy="60960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New Choice: Walk to school or ride the bus?</a:t>
            </a:r>
            <a:endParaRPr lang="en-US" sz="1400" dirty="0"/>
          </a:p>
        </p:txBody>
      </p:sp>
      <p:sp>
        <p:nvSpPr>
          <p:cNvPr id="5" name="Text 3"/>
          <p:cNvSpPr/>
          <p:nvPr/>
        </p:nvSpPr>
        <p:spPr>
          <a:xfrm>
            <a:off x="853440" y="2011680"/>
            <a:ext cx="4876800" cy="280416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As a class, sort these together:</a:t>
            </a: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 Costs: takes longer, more tiring</a:t>
            </a: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 Benefits: free, gets exercise, sees neighbors</a:t>
            </a:r>
            <a:endParaRPr lang="en-US" sz="1250" dirty="0"/>
          </a:p>
          <a:p>
            <a:pPr indent="0" marL="0">
              <a:buNone/>
            </a:pP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Which side has more weight for a rainy day? For a sunny day?</a:t>
            </a:r>
            <a:endParaRPr lang="en-US" sz="1250" dirty="0"/>
          </a:p>
        </p:txBody>
      </p:sp>
      <p:sp>
        <p:nvSpPr>
          <p:cNvPr id="6" name="Shape 4"/>
          <p:cNvSpPr/>
          <p:nvPr/>
        </p:nvSpPr>
        <p:spPr>
          <a:xfrm>
            <a:off x="6217920" y="1158240"/>
            <a:ext cx="5364480" cy="3840480"/>
          </a:xfrm>
          <a:prstGeom prst="roundRect">
            <a:avLst>
              <a:gd name="adj" fmla="val 4762"/>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6461760" y="1280160"/>
            <a:ext cx="48768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6461760" y="1621536"/>
            <a:ext cx="4876800" cy="32552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this a cost or a benefit -- how do you know?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the weather change which side is heavier?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self-governance look like here -- pausing before deciding?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Your Turn With Support</a:t>
            </a:r>
            <a:endParaRPr lang="en-US" sz="2800" dirty="0"/>
          </a:p>
        </p:txBody>
      </p:sp>
      <p:sp>
        <p:nvSpPr>
          <p:cNvPr id="3" name="Text 1"/>
          <p:cNvSpPr/>
          <p:nvPr/>
        </p:nvSpPr>
        <p:spPr>
          <a:xfrm>
            <a:off x="609600" y="1097280"/>
            <a:ext cx="10972800" cy="60960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New Choice: Spend allowance on a toy now, or save it for something bigger?</a:t>
            </a:r>
            <a:endParaRPr lang="en-US" sz="1500" dirty="0"/>
          </a:p>
        </p:txBody>
      </p:sp>
      <p:sp>
        <p:nvSpPr>
          <p:cNvPr id="4" name="Shape 2"/>
          <p:cNvSpPr/>
          <p:nvPr/>
        </p:nvSpPr>
        <p:spPr>
          <a:xfrm>
            <a:off x="609600" y="1828800"/>
            <a:ext cx="10972800" cy="3352800"/>
          </a:xfrm>
          <a:prstGeom prst="roundRect">
            <a:avLst>
              <a:gd name="adj" fmla="val 4364"/>
            </a:avLst>
          </a:prstGeom>
          <a:solidFill>
            <a:srgbClr val="E3F8ED"/>
          </a:solidFill>
          <a:ln/>
        </p:spPr>
      </p:sp>
      <p:sp>
        <p:nvSpPr>
          <p:cNvPr id="5" name="Text 3"/>
          <p:cNvSpPr/>
          <p:nvPr/>
        </p:nvSpPr>
        <p:spPr>
          <a:xfrm>
            <a:off x="853440" y="2011680"/>
            <a:ext cx="10485120" cy="365760"/>
          </a:xfrm>
          <a:prstGeom prst="rect">
            <a:avLst/>
          </a:prstGeom>
          <a:noFill/>
          <a:ln/>
        </p:spPr>
        <p:txBody>
          <a:bodyPr wrap="square" lIns="0" tIns="0" rIns="0" bIns="0" rtlCol="0" anchor="ctr"/>
          <a:lstStyle/>
          <a:p>
            <a:pPr indent="0" marL="0">
              <a:buNone/>
            </a:pPr>
            <a:r>
              <a:rPr lang="en-US" sz="1100" b="1" spc="120" kern="0" dirty="0">
                <a:solidFill>
                  <a:srgbClr val="34B76F"/>
                </a:solidFill>
                <a:latin typeface="Calibri" pitchFamily="34" charset="0"/>
                <a:ea typeface="Calibri" pitchFamily="34" charset="-122"/>
                <a:cs typeface="Calibri" pitchFamily="34" charset="-120"/>
              </a:rPr>
              <a:t>YOUR CHECKLIST -- with a partner</a:t>
            </a:r>
            <a:endParaRPr lang="en-US" sz="1100" dirty="0"/>
          </a:p>
        </p:txBody>
      </p:sp>
      <p:sp>
        <p:nvSpPr>
          <p:cNvPr id="6" name="Text 4"/>
          <p:cNvSpPr/>
          <p:nvPr/>
        </p:nvSpPr>
        <p:spPr>
          <a:xfrm>
            <a:off x="853440" y="2499360"/>
            <a:ext cx="1048512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Name at least one COST of buying the toy now.</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Name at least one BENEFIT of buying the toy now.</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Ask Opti's three questions: gaining? giving up? worth it?</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Decide, and be ready to say why using a cost or benefit as evidence.</a:t>
            </a:r>
            <a:endParaRPr lang="en-US" sz="1300" dirty="0"/>
          </a:p>
        </p:txBody>
      </p:sp>
      <p:sp>
        <p:nvSpPr>
          <p:cNvPr id="7" name="Text 5"/>
          <p:cNvSpPr/>
          <p:nvPr/>
        </p:nvSpPr>
        <p:spPr>
          <a:xfrm>
            <a:off x="609600" y="5425440"/>
            <a:ext cx="10972800" cy="487680"/>
          </a:xfrm>
          <a:prstGeom prst="rect">
            <a:avLst/>
          </a:prstGeom>
          <a:noFill/>
          <a:ln/>
        </p:spPr>
        <p:txBody>
          <a:bodyPr wrap="square" lIns="0" tIns="0" rIns="0" bIns="0"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Chat your decision and ONE reason using a cost or benefit.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Error Analysis: Find the Mistake</a:t>
            </a:r>
            <a:endParaRPr lang="en-US" sz="2600" dirty="0"/>
          </a:p>
        </p:txBody>
      </p:sp>
      <p:sp>
        <p:nvSpPr>
          <p:cNvPr id="3" name="Shape 1"/>
          <p:cNvSpPr/>
          <p:nvPr/>
        </p:nvSpPr>
        <p:spPr>
          <a:xfrm>
            <a:off x="609600" y="1097280"/>
            <a:ext cx="10972800" cy="2621280"/>
          </a:xfrm>
          <a:prstGeom prst="roundRect">
            <a:avLst>
              <a:gd name="adj" fmla="val 5581"/>
            </a:avLst>
          </a:prstGeom>
          <a:solidFill>
            <a:srgbClr val="FBEAEA"/>
          </a:solidFill>
          <a:ln w="19050">
            <a:solidFill>
              <a:srgbClr val="E8636B"/>
            </a:solidFill>
            <a:prstDash val="solid"/>
          </a:ln>
        </p:spPr>
      </p:sp>
      <p:sp>
        <p:nvSpPr>
          <p:cNvPr id="4" name="Text 2"/>
          <p:cNvSpPr/>
          <p:nvPr/>
        </p:nvSpPr>
        <p:spPr>
          <a:xfrm>
            <a:off x="853440" y="1243584"/>
            <a:ext cx="10485120" cy="365760"/>
          </a:xfrm>
          <a:prstGeom prst="rect">
            <a:avLst/>
          </a:prstGeom>
          <a:noFill/>
          <a:ln/>
        </p:spPr>
        <p:txBody>
          <a:bodyPr wrap="square" lIns="0" tIns="0" rIns="0" bIns="0" rtlCol="0" anchor="ctr"/>
          <a:lstStyle/>
          <a:p>
            <a:pPr indent="0" marL="0">
              <a:buNone/>
            </a:pPr>
            <a:r>
              <a:rPr lang="en-US" sz="1100" b="1" spc="100" kern="0" dirty="0">
                <a:solidFill>
                  <a:srgbClr val="E8636B"/>
                </a:solidFill>
                <a:latin typeface="Calibri" pitchFamily="34" charset="0"/>
                <a:ea typeface="Calibri" pitchFamily="34" charset="-122"/>
                <a:cs typeface="Calibri" pitchFamily="34" charset="-120"/>
              </a:rPr>
              <a:t>A student sorted this tile:</a:t>
            </a:r>
            <a:endParaRPr lang="en-US" sz="1100" dirty="0"/>
          </a:p>
        </p:txBody>
      </p:sp>
      <p:sp>
        <p:nvSpPr>
          <p:cNvPr id="5" name="Text 3"/>
          <p:cNvSpPr/>
          <p:nvPr/>
        </p:nvSpPr>
        <p:spPr>
          <a:xfrm>
            <a:off x="853440" y="1645920"/>
            <a:ext cx="10485120" cy="1889760"/>
          </a:xfrm>
          <a:prstGeom prst="rect">
            <a:avLst/>
          </a:prstGeom>
          <a:noFill/>
          <a:ln/>
        </p:spPr>
        <p:txBody>
          <a:bodyPr wrap="square" lIns="0" tIns="0" rIns="0" bIns="0"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"New jobs building, fishing, and unloading ships" ... the student placed this tile in the COSTS column, saying, "It goes with the harbor stuff, so it must be something we spend."</a:t>
            </a:r>
            <a:endParaRPr lang="en-US" sz="1400" dirty="0"/>
          </a:p>
        </p:txBody>
      </p:sp>
      <p:sp>
        <p:nvSpPr>
          <p:cNvPr id="6" name="Shape 4"/>
          <p:cNvSpPr/>
          <p:nvPr/>
        </p:nvSpPr>
        <p:spPr>
          <a:xfrm>
            <a:off x="609600" y="3901440"/>
            <a:ext cx="10972800" cy="225552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4023360"/>
            <a:ext cx="104851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4364736"/>
            <a:ext cx="10485120" cy="16703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get wrong?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a new job something the town gives up, or something it gains?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could you help this student fix their thinking?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Tricky One</a:t>
            </a:r>
            <a:endParaRPr lang="en-US" sz="2800" dirty="0"/>
          </a:p>
        </p:txBody>
      </p:sp>
      <p:sp>
        <p:nvSpPr>
          <p:cNvPr id="3" name="Shape 1"/>
          <p:cNvSpPr/>
          <p:nvPr/>
        </p:nvSpPr>
        <p:spPr>
          <a:xfrm>
            <a:off x="609600" y="1097280"/>
            <a:ext cx="10972800" cy="1889760"/>
          </a:xfrm>
          <a:prstGeom prst="roundRect">
            <a:avLst>
              <a:gd name="adj" fmla="val 7742"/>
            </a:avLst>
          </a:prstGeom>
          <a:solidFill>
            <a:srgbClr val="F0E8FF"/>
          </a:solidFill>
          <a:ln/>
        </p:spPr>
      </p:sp>
      <p:sp>
        <p:nvSpPr>
          <p:cNvPr id="4" name="Text 2"/>
          <p:cNvSpPr/>
          <p:nvPr/>
        </p:nvSpPr>
        <p:spPr>
          <a:xfrm>
            <a:off x="853440" y="1280160"/>
            <a:ext cx="10485120" cy="1584960"/>
          </a:xfrm>
          <a:prstGeom prst="rect">
            <a:avLst/>
          </a:prstGeom>
          <a:noFill/>
          <a:ln/>
        </p:spPr>
        <p:txBody>
          <a:bodyPr wrap="square" lIns="0" tIns="0" rIns="0" bIns="0"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"Loud ships, more traffic in town" -- is this ALWAYS a cost? Could it ever be a benefit for someone -- a busy street food seller, a curious kid, a shop owner who wants more customers passing by?</a:t>
            </a:r>
            <a:endParaRPr lang="en-US" sz="1400" dirty="0"/>
          </a:p>
        </p:txBody>
      </p:sp>
      <p:sp>
        <p:nvSpPr>
          <p:cNvPr id="5" name="Shape 3"/>
          <p:cNvSpPr/>
          <p:nvPr/>
        </p:nvSpPr>
        <p:spPr>
          <a:xfrm>
            <a:off x="609600" y="3169920"/>
            <a:ext cx="5364480" cy="1950720"/>
          </a:xfrm>
          <a:prstGeom prst="roundRect">
            <a:avLst>
              <a:gd name="adj" fmla="val 7500"/>
            </a:avLst>
          </a:prstGeom>
          <a:solidFill>
            <a:srgbClr val="FFF3DC"/>
          </a:solidFill>
          <a:ln w="19050">
            <a:solidFill>
              <a:srgbClr val="F5E6C8"/>
            </a:solidFill>
            <a:prstDash val="solid"/>
          </a:ln>
        </p:spPr>
      </p:sp>
      <p:sp>
        <p:nvSpPr>
          <p:cNvPr id="6" name="Text 4"/>
          <p:cNvSpPr/>
          <p:nvPr/>
        </p:nvSpPr>
        <p:spPr>
          <a:xfrm>
            <a:off x="792480" y="3243072"/>
            <a:ext cx="49987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7" name="Text 5"/>
          <p:cNvSpPr/>
          <p:nvPr/>
        </p:nvSpPr>
        <p:spPr>
          <a:xfrm>
            <a:off x="792480" y="3511296"/>
            <a:ext cx="4998720" cy="1524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it depends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"For someone like a ___, this could actually be a benefit because..."</a:t>
            </a:r>
            <a:endParaRPr lang="en-US" sz="1200" dirty="0"/>
          </a:p>
        </p:txBody>
      </p:sp>
      <p:sp>
        <p:nvSpPr>
          <p:cNvPr id="8" name="Shape 6"/>
          <p:cNvSpPr/>
          <p:nvPr/>
        </p:nvSpPr>
        <p:spPr>
          <a:xfrm>
            <a:off x="6217920" y="3169920"/>
            <a:ext cx="5364480" cy="1950720"/>
          </a:xfrm>
          <a:prstGeom prst="roundRect">
            <a:avLst>
              <a:gd name="adj" fmla="val 9375"/>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461760" y="3291840"/>
            <a:ext cx="48768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461760" y="3633216"/>
            <a:ext cx="4876800" cy="13655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the same tile be a cost for one person and a benefit for another?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 about this tile?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this mean weighing choices is ever an exact science, or does it take judgment?</a:t>
            </a:r>
            <a:endParaRPr lang="en-US" sz="1100" dirty="0"/>
          </a:p>
        </p:txBody>
      </p:sp>
      <p:sp>
        <p:nvSpPr>
          <p:cNvPr id="11" name="Text 9"/>
          <p:cNvSpPr/>
          <p:nvPr/>
        </p:nvSpPr>
        <p:spPr>
          <a:xfrm>
            <a:off x="609600" y="5303520"/>
            <a:ext cx="10972800" cy="487680"/>
          </a:xfrm>
          <a:prstGeom prst="rect">
            <a:avLst/>
          </a:prstGeom>
          <a:noFill/>
          <a:ln/>
        </p:spPr>
        <p:txBody>
          <a:bodyPr wrap="square" lIns="0" tIns="0" rIns="0" bIns="0" rtlCol="0" anchor="ctr"/>
          <a:lstStyle/>
          <a:p>
            <a:pPr algn="ctr" indent="0" marL="0">
              <a:buNone/>
            </a:pPr>
            <a:r>
              <a:rPr lang="en-US" sz="1150" i="1" dirty="0">
                <a:solidFill>
                  <a:srgbClr val="7A88A8"/>
                </a:solidFill>
                <a:latin typeface="Calibri" pitchFamily="34" charset="0"/>
                <a:ea typeface="Calibri" pitchFamily="34" charset="-122"/>
                <a:cs typeface="Calibri" pitchFamily="34" charset="-120"/>
              </a:rPr>
              <a:t>There's no single right answer here -- that's what makes it tricky, and why weighing choices takes self-governance.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975360" y="609600"/>
            <a:ext cx="1024128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EXHIBIT LABEL</a:t>
            </a:r>
            <a:endParaRPr lang="en-US" sz="1200" dirty="0"/>
          </a:p>
        </p:txBody>
      </p:sp>
      <p:sp>
        <p:nvSpPr>
          <p:cNvPr id="3" name="Shape 1"/>
          <p:cNvSpPr/>
          <p:nvPr/>
        </p:nvSpPr>
        <p:spPr>
          <a:xfrm>
            <a:off x="1219200" y="1219200"/>
            <a:ext cx="9753600" cy="2865120"/>
          </a:xfrm>
          <a:prstGeom prst="roundRect">
            <a:avLst>
              <a:gd name="adj" fmla="val 5106"/>
            </a:avLst>
          </a:prstGeom>
          <a:solidFill>
            <a:srgbClr val="1A2D5A"/>
          </a:solidFill>
          <a:ln/>
        </p:spPr>
      </p:sp>
      <p:sp>
        <p:nvSpPr>
          <p:cNvPr id="4" name="Text 2"/>
          <p:cNvSpPr/>
          <p:nvPr/>
        </p:nvSpPr>
        <p:spPr>
          <a:xfrm>
            <a:off x="1584960" y="1463040"/>
            <a:ext cx="9022080" cy="2377440"/>
          </a:xfrm>
          <a:prstGeom prst="rect">
            <a:avLst/>
          </a:prstGeom>
          <a:noFill/>
          <a:ln/>
        </p:spPr>
        <p:txBody>
          <a:bodyPr wrap="square" lIns="0" tIns="0" rIns="0" bIns="0" rtlCol="0" anchor="ctr"/>
          <a:lstStyle/>
          <a:p>
            <a:pPr algn="ctr" indent="0" marL="0">
              <a:buNone/>
            </a:pPr>
            <a:r>
              <a:rPr lang="en-US" sz="1600" i="1" dirty="0">
                <a:solidFill>
                  <a:srgbClr val="FFFFFF"/>
                </a:solidFill>
                <a:latin typeface="Cambria" pitchFamily="34" charset="0"/>
                <a:ea typeface="Cambria" pitchFamily="34" charset="-122"/>
                <a:cs typeface="Cambria" pitchFamily="34" charset="-120"/>
              </a:rPr>
              <a:t>Every marketplace choice has costs -- what we give up -- and benefits -- what we gain. A wise decision means weighing both sides before choosing. That careful thinking is called self-governance, and it's the heart of every smart economic choice.</a:t>
            </a:r>
            <a:endParaRPr lang="en-US" sz="1600" dirty="0"/>
          </a:p>
        </p:txBody>
      </p:sp>
      <p:sp>
        <p:nvSpPr>
          <p:cNvPr id="5" name="Text 3"/>
          <p:cNvSpPr/>
          <p:nvPr/>
        </p:nvSpPr>
        <p:spPr>
          <a:xfrm>
            <a:off x="975360" y="4328160"/>
            <a:ext cx="10241280" cy="426720"/>
          </a:xfrm>
          <a:prstGeom prst="rect">
            <a:avLst/>
          </a:prstGeom>
          <a:noFill/>
          <a:ln/>
        </p:spPr>
        <p:txBody>
          <a:bodyPr wrap="square" lIns="0" tIns="0" rIns="0" bIns="0"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Opti's Three Quiet Questions</a:t>
            </a:r>
            <a:endParaRPr lang="en-US" sz="1300" dirty="0"/>
          </a:p>
        </p:txBody>
      </p:sp>
      <p:sp>
        <p:nvSpPr>
          <p:cNvPr id="6" name="Text 4"/>
          <p:cNvSpPr/>
          <p:nvPr/>
        </p:nvSpPr>
        <p:spPr>
          <a:xfrm>
            <a:off x="975360" y="4815840"/>
            <a:ext cx="10241280" cy="487680"/>
          </a:xfrm>
          <a:prstGeom prst="rect">
            <a:avLst/>
          </a:prstGeom>
          <a:noFill/>
          <a:ln/>
        </p:spPr>
        <p:txBody>
          <a:bodyPr wrap="square" lIns="0" tIns="0" rIns="0" bIns="0" rtlCol="0" anchor="ctr"/>
          <a:lstStyle/>
          <a:p>
            <a:pPr algn="ctr" indent="0" marL="0">
              <a:buNone/>
            </a:pPr>
            <a:r>
              <a:rPr lang="en-US" sz="1400" i="1" dirty="0">
                <a:solidFill>
                  <a:srgbClr val="D6E0F5"/>
                </a:solidFill>
                <a:latin typeface="Cambria" pitchFamily="34" charset="0"/>
                <a:ea typeface="Cambria" pitchFamily="34" charset="-122"/>
                <a:cs typeface="Cambria" pitchFamily="34" charset="-120"/>
              </a:rPr>
              <a:t>What am I gaining?   What am I giving up?   Is it worth it?</a:t>
            </a:r>
            <a:endParaRPr lang="en-US" sz="1400" dirty="0"/>
          </a:p>
        </p:txBody>
      </p:sp>
      <p:sp>
        <p:nvSpPr>
          <p:cNvPr id="7" name="Text 5"/>
          <p:cNvSpPr/>
          <p:nvPr/>
        </p:nvSpPr>
        <p:spPr>
          <a:xfrm>
            <a:off x="975360" y="5608320"/>
            <a:ext cx="10241280" cy="487680"/>
          </a:xfrm>
          <a:prstGeom prst="rect">
            <a:avLst/>
          </a:prstGeom>
          <a:noFill/>
          <a:ln/>
        </p:spPr>
        <p:txBody>
          <a:bodyPr wrap="square" lIns="0" tIns="0" rIns="0" bIns="0"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You've seen both sides of the board. Let's see how well you can sort costs from benefits.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304800"/>
            <a:ext cx="10972800" cy="5486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Quick Self-Check</a:t>
            </a:r>
            <a:endParaRPr lang="en-US" sz="2600" dirty="0"/>
          </a:p>
        </p:txBody>
      </p:sp>
      <p:sp>
        <p:nvSpPr>
          <p:cNvPr id="3" name="Text 1"/>
          <p:cNvSpPr/>
          <p:nvPr/>
        </p:nvSpPr>
        <p:spPr>
          <a:xfrm>
            <a:off x="609600" y="829056"/>
            <a:ext cx="10972800" cy="365760"/>
          </a:xfrm>
          <a:prstGeom prst="rect">
            <a:avLst/>
          </a:prstGeom>
          <a:noFill/>
          <a:ln/>
        </p:spPr>
        <p:txBody>
          <a:bodyPr wrap="square" lIns="0" tIns="0" rIns="0" bIns="0" rtlCol="0" anchor="ctr"/>
          <a:lstStyle/>
          <a:p>
            <a:pPr indent="0" marL="0">
              <a:buNone/>
            </a:pPr>
            <a:r>
              <a:rPr lang="en-US" sz="1150" i="1" dirty="0">
                <a:solidFill>
                  <a:srgbClr val="7A88A8"/>
                </a:solidFill>
                <a:latin typeface="Calibri" pitchFamily="34" charset="0"/>
                <a:ea typeface="Calibri" pitchFamily="34" charset="-122"/>
                <a:cs typeface="Calibri" pitchFamily="34" charset="-120"/>
              </a:rPr>
              <a:t>Not graded -- just for you! Answers below.</a:t>
            </a:r>
            <a:endParaRPr lang="en-US" sz="1150" dirty="0"/>
          </a:p>
        </p:txBody>
      </p:sp>
      <p:sp>
        <p:nvSpPr>
          <p:cNvPr id="4" name="Shape 2"/>
          <p:cNvSpPr/>
          <p:nvPr/>
        </p:nvSpPr>
        <p:spPr>
          <a:xfrm>
            <a:off x="609600" y="1280160"/>
            <a:ext cx="10972800" cy="1560576"/>
          </a:xfrm>
          <a:prstGeom prst="roundRect">
            <a:avLst>
              <a:gd name="adj" fmla="val 7813"/>
            </a:avLst>
          </a:prstGeom>
          <a:solidFill>
            <a:srgbClr val="F0F2F8"/>
          </a:solidFill>
          <a:ln/>
        </p:spPr>
      </p:sp>
      <p:sp>
        <p:nvSpPr>
          <p:cNvPr id="5" name="Text 3"/>
          <p:cNvSpPr/>
          <p:nvPr/>
        </p:nvSpPr>
        <p:spPr>
          <a:xfrm>
            <a:off x="853440" y="1377696"/>
            <a:ext cx="10485120" cy="39014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 What is a cost in a marketplace decision?</a:t>
            </a:r>
            <a:endParaRPr lang="en-US" sz="1300" dirty="0"/>
          </a:p>
        </p:txBody>
      </p:sp>
      <p:sp>
        <p:nvSpPr>
          <p:cNvPr id="6" name="Text 4"/>
          <p:cNvSpPr/>
          <p:nvPr/>
        </p:nvSpPr>
        <p:spPr>
          <a:xfrm>
            <a:off x="853440" y="1792224"/>
            <a:ext cx="10485120" cy="48768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A. Only the money spent   B. Anything you give up or put in -- money, time, effort, or trees   C. The best thing you bought all week</a:t>
            </a:r>
            <a:endParaRPr lang="en-US" sz="1050" dirty="0"/>
          </a:p>
        </p:txBody>
      </p:sp>
      <p:sp>
        <p:nvSpPr>
          <p:cNvPr id="7" name="Text 5"/>
          <p:cNvSpPr/>
          <p:nvPr/>
        </p:nvSpPr>
        <p:spPr>
          <a:xfrm>
            <a:off x="853440" y="2316480"/>
            <a:ext cx="10485120" cy="426720"/>
          </a:xfrm>
          <a:prstGeom prst="rect">
            <a:avLst/>
          </a:prstGeom>
          <a:noFill/>
          <a:ln/>
        </p:spPr>
        <p:txBody>
          <a:bodyPr wrap="square" lIns="0" tIns="0" rIns="0" bIns="0" rtlCol="0" anchor="ctr"/>
          <a:lstStyle/>
          <a:p>
            <a:pPr indent="0" marL="0">
              <a:buNone/>
            </a:pPr>
            <a:r>
              <a:rPr lang="en-US" sz="1050" b="1" i="1" dirty="0">
                <a:solidFill>
                  <a:srgbClr val="34B76F"/>
                </a:solidFill>
                <a:latin typeface="Calibri" pitchFamily="34" charset="0"/>
                <a:ea typeface="Calibri" pitchFamily="34" charset="-122"/>
                <a:cs typeface="Calibri" pitchFamily="34" charset="-120"/>
              </a:rPr>
              <a:t>Answer: B -- A cost is anything given up, not just money.</a:t>
            </a:r>
            <a:endParaRPr lang="en-US" sz="1050" dirty="0"/>
          </a:p>
        </p:txBody>
      </p:sp>
      <p:sp>
        <p:nvSpPr>
          <p:cNvPr id="8" name="Shape 6"/>
          <p:cNvSpPr/>
          <p:nvPr/>
        </p:nvSpPr>
        <p:spPr>
          <a:xfrm>
            <a:off x="609600" y="3011424"/>
            <a:ext cx="10972800" cy="1560576"/>
          </a:xfrm>
          <a:prstGeom prst="roundRect">
            <a:avLst>
              <a:gd name="adj" fmla="val 7813"/>
            </a:avLst>
          </a:prstGeom>
          <a:solidFill>
            <a:srgbClr val="F0F2F8"/>
          </a:solidFill>
          <a:ln/>
        </p:spPr>
      </p:sp>
      <p:sp>
        <p:nvSpPr>
          <p:cNvPr id="9" name="Text 7"/>
          <p:cNvSpPr/>
          <p:nvPr/>
        </p:nvSpPr>
        <p:spPr>
          <a:xfrm>
            <a:off x="853440" y="3108960"/>
            <a:ext cx="10485120" cy="39014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Which of these is a benefit of building a new harbor?</a:t>
            </a:r>
            <a:endParaRPr lang="en-US" sz="1300" dirty="0"/>
          </a:p>
        </p:txBody>
      </p:sp>
      <p:sp>
        <p:nvSpPr>
          <p:cNvPr id="10" name="Text 8"/>
          <p:cNvSpPr/>
          <p:nvPr/>
        </p:nvSpPr>
        <p:spPr>
          <a:xfrm>
            <a:off x="853440" y="3523488"/>
            <a:ext cx="10485120" cy="48768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A. The years of work to build it   B. The money spent on the docks   C. New jobs and goods arriving from far away</a:t>
            </a:r>
            <a:endParaRPr lang="en-US" sz="1050" dirty="0"/>
          </a:p>
        </p:txBody>
      </p:sp>
      <p:sp>
        <p:nvSpPr>
          <p:cNvPr id="11" name="Text 9"/>
          <p:cNvSpPr/>
          <p:nvPr/>
        </p:nvSpPr>
        <p:spPr>
          <a:xfrm>
            <a:off x="853440" y="4047744"/>
            <a:ext cx="10485120" cy="426720"/>
          </a:xfrm>
          <a:prstGeom prst="rect">
            <a:avLst/>
          </a:prstGeom>
          <a:noFill/>
          <a:ln/>
        </p:spPr>
        <p:txBody>
          <a:bodyPr wrap="square" lIns="0" tIns="0" rIns="0" bIns="0" rtlCol="0" anchor="ctr"/>
          <a:lstStyle/>
          <a:p>
            <a:pPr indent="0" marL="0">
              <a:buNone/>
            </a:pPr>
            <a:r>
              <a:rPr lang="en-US" sz="1050" b="1" i="1" dirty="0">
                <a:solidFill>
                  <a:srgbClr val="34B76F"/>
                </a:solidFill>
                <a:latin typeface="Calibri" pitchFamily="34" charset="0"/>
                <a:ea typeface="Calibri" pitchFamily="34" charset="-122"/>
                <a:cs typeface="Calibri" pitchFamily="34" charset="-120"/>
              </a:rPr>
              <a:t>Answer: C -- Benefits are what people gain.</a:t>
            </a:r>
            <a:endParaRPr lang="en-US" sz="1050" dirty="0"/>
          </a:p>
        </p:txBody>
      </p:sp>
      <p:sp>
        <p:nvSpPr>
          <p:cNvPr id="12" name="Shape 10"/>
          <p:cNvSpPr/>
          <p:nvPr/>
        </p:nvSpPr>
        <p:spPr>
          <a:xfrm>
            <a:off x="609600" y="4742688"/>
            <a:ext cx="10972800" cy="1560576"/>
          </a:xfrm>
          <a:prstGeom prst="roundRect">
            <a:avLst>
              <a:gd name="adj" fmla="val 7813"/>
            </a:avLst>
          </a:prstGeom>
          <a:solidFill>
            <a:srgbClr val="F0F2F8"/>
          </a:solidFill>
          <a:ln/>
        </p:spPr>
      </p:sp>
      <p:sp>
        <p:nvSpPr>
          <p:cNvPr id="13" name="Text 11"/>
          <p:cNvSpPr/>
          <p:nvPr/>
        </p:nvSpPr>
        <p:spPr>
          <a:xfrm>
            <a:off x="853440" y="4840224"/>
            <a:ext cx="10485120" cy="39014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What does self-governance mean for a marketplace decision?</a:t>
            </a:r>
            <a:endParaRPr lang="en-US" sz="1300" dirty="0"/>
          </a:p>
        </p:txBody>
      </p:sp>
      <p:sp>
        <p:nvSpPr>
          <p:cNvPr id="14" name="Text 12"/>
          <p:cNvSpPr/>
          <p:nvPr/>
        </p:nvSpPr>
        <p:spPr>
          <a:xfrm>
            <a:off x="853440" y="5254752"/>
            <a:ext cx="10485120" cy="48768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A. Stopping to weigh both costs and benefits before deciding   B. Always picking the cheapest thing   C. Letting someone else decide for you</a:t>
            </a:r>
            <a:endParaRPr lang="en-US" sz="1050" dirty="0"/>
          </a:p>
        </p:txBody>
      </p:sp>
      <p:sp>
        <p:nvSpPr>
          <p:cNvPr id="15" name="Text 13"/>
          <p:cNvSpPr/>
          <p:nvPr/>
        </p:nvSpPr>
        <p:spPr>
          <a:xfrm>
            <a:off x="853440" y="5779008"/>
            <a:ext cx="10485120" cy="426720"/>
          </a:xfrm>
          <a:prstGeom prst="rect">
            <a:avLst/>
          </a:prstGeom>
          <a:noFill/>
          <a:ln/>
        </p:spPr>
        <p:txBody>
          <a:bodyPr wrap="square" lIns="0" tIns="0" rIns="0" bIns="0" rtlCol="0" anchor="ctr"/>
          <a:lstStyle/>
          <a:p>
            <a:pPr indent="0" marL="0">
              <a:buNone/>
            </a:pPr>
            <a:r>
              <a:rPr lang="en-US" sz="1050" b="1" i="1" dirty="0">
                <a:solidFill>
                  <a:srgbClr val="34B76F"/>
                </a:solidFill>
                <a:latin typeface="Calibri" pitchFamily="34" charset="0"/>
                <a:ea typeface="Calibri" pitchFamily="34" charset="-122"/>
                <a:cs typeface="Calibri" pitchFamily="34" charset="-120"/>
              </a:rPr>
              <a:t>Answer: A -- Self-governance is the pause and careful thinking that turns a reaction into a wise choice.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8F0"/>
        </a:solidFill>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Evidence &amp; Assignment</a:t>
            </a:r>
            <a:endParaRPr lang="en-US" sz="2600" dirty="0"/>
          </a:p>
        </p:txBody>
      </p:sp>
      <p:sp>
        <p:nvSpPr>
          <p:cNvPr id="3" name="Text 1"/>
          <p:cNvSpPr/>
          <p:nvPr/>
        </p:nvSpPr>
        <p:spPr>
          <a:xfrm>
            <a:off x="609600" y="950976"/>
            <a:ext cx="10972800" cy="426720"/>
          </a:xfrm>
          <a:prstGeom prst="rect">
            <a:avLst/>
          </a:prstGeom>
          <a:noFill/>
          <a:ln/>
        </p:spPr>
        <p:txBody>
          <a:bodyPr wrap="square" lIns="0" tIns="0" rIns="0" bIns="0" rtlCol="0" anchor="ctr"/>
          <a:lstStyle/>
          <a:p>
            <a:pPr indent="0" marL="0">
              <a:buNone/>
            </a:pPr>
            <a:r>
              <a:rPr lang="en-US" sz="1250" i="1" dirty="0">
                <a:solidFill>
                  <a:srgbClr val="7A88A8"/>
                </a:solidFill>
                <a:latin typeface="Calibri" pitchFamily="34" charset="0"/>
                <a:ea typeface="Calibri" pitchFamily="34" charset="-122"/>
                <a:cs typeface="Calibri" pitchFamily="34" charset="-120"/>
              </a:rPr>
              <a:t>Evidence Questions -- answer using details from the lesson.</a:t>
            </a:r>
            <a:endParaRPr lang="en-US" sz="1250" dirty="0"/>
          </a:p>
        </p:txBody>
      </p:sp>
      <p:sp>
        <p:nvSpPr>
          <p:cNvPr id="4" name="Shape 2"/>
          <p:cNvSpPr/>
          <p:nvPr/>
        </p:nvSpPr>
        <p:spPr>
          <a:xfrm>
            <a:off x="609600" y="1524000"/>
            <a:ext cx="10972800" cy="2133600"/>
          </a:xfrm>
          <a:prstGeom prst="roundRect">
            <a:avLst>
              <a:gd name="adj" fmla="val 6857"/>
            </a:avLst>
          </a:prstGeom>
          <a:solidFill>
            <a:srgbClr val="FFFFFF"/>
          </a:solidFill>
          <a:ln w="12700">
            <a:solidFill>
              <a:srgbClr val="E6D9C4"/>
            </a:solidFill>
            <a:prstDash val="solid"/>
          </a:ln>
        </p:spPr>
      </p:sp>
      <p:sp>
        <p:nvSpPr>
          <p:cNvPr id="5" name="Text 3"/>
          <p:cNvSpPr/>
          <p:nvPr/>
        </p:nvSpPr>
        <p:spPr>
          <a:xfrm>
            <a:off x="853440" y="1706880"/>
            <a:ext cx="487680" cy="487680"/>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341120" y="1706880"/>
            <a:ext cx="9997440" cy="1828800"/>
          </a:xfrm>
          <a:prstGeom prst="rect">
            <a:avLst/>
          </a:prstGeom>
          <a:noFill/>
          <a:ln/>
        </p:spPr>
        <p:txBody>
          <a:bodyPr wrap="square" lIns="0" tIns="0" rIns="0" bIns="0" rtlCol="0" anchor="t"/>
          <a:lstStyle/>
          <a:p>
            <a:pPr indent="0" marL="0">
              <a:buNone/>
            </a:pPr>
            <a:r>
              <a:rPr lang="en-US" sz="1400" dirty="0">
                <a:solidFill>
                  <a:srgbClr val="0E1C42"/>
                </a:solidFill>
                <a:latin typeface="Calibri" pitchFamily="34" charset="0"/>
                <a:ea typeface="Calibri" pitchFamily="34" charset="-122"/>
                <a:cs typeface="Calibri" pitchFamily="34" charset="-120"/>
              </a:rPr>
              <a:t>In your own words, what is the difference between a cost and a benefit? Use the harbor example to show one of each.</a:t>
            </a:r>
            <a:endParaRPr lang="en-US" sz="1400" dirty="0"/>
          </a:p>
        </p:txBody>
      </p:sp>
      <p:sp>
        <p:nvSpPr>
          <p:cNvPr id="7" name="Shape 5"/>
          <p:cNvSpPr/>
          <p:nvPr/>
        </p:nvSpPr>
        <p:spPr>
          <a:xfrm>
            <a:off x="609600" y="3840480"/>
            <a:ext cx="10972800" cy="2316480"/>
          </a:xfrm>
          <a:prstGeom prst="roundRect">
            <a:avLst>
              <a:gd name="adj" fmla="val 6316"/>
            </a:avLst>
          </a:prstGeom>
          <a:solidFill>
            <a:srgbClr val="FFFFFF"/>
          </a:solidFill>
          <a:ln w="12700">
            <a:solidFill>
              <a:srgbClr val="E6D9C4"/>
            </a:solidFill>
            <a:prstDash val="solid"/>
          </a:ln>
        </p:spPr>
      </p:sp>
      <p:sp>
        <p:nvSpPr>
          <p:cNvPr id="8" name="Text 6"/>
          <p:cNvSpPr/>
          <p:nvPr/>
        </p:nvSpPr>
        <p:spPr>
          <a:xfrm>
            <a:off x="853440" y="4023360"/>
            <a:ext cx="487680" cy="487680"/>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341120" y="4023360"/>
            <a:ext cx="9997440" cy="1950720"/>
          </a:xfrm>
          <a:prstGeom prst="rect">
            <a:avLst/>
          </a:prstGeom>
          <a:noFill/>
          <a:ln/>
        </p:spPr>
        <p:txBody>
          <a:bodyPr wrap="square" lIns="0" tIns="0" rIns="0" bIns="0" rtlCol="0" anchor="t"/>
          <a:lstStyle/>
          <a:p>
            <a:pPr indent="0" marL="0">
              <a:buNone/>
            </a:pPr>
            <a:r>
              <a:rPr lang="en-US" sz="1400" dirty="0">
                <a:solidFill>
                  <a:srgbClr val="0E1C42"/>
                </a:solidFill>
                <a:latin typeface="Calibri" pitchFamily="34" charset="0"/>
                <a:ea typeface="Calibri" pitchFamily="34" charset="-122"/>
                <a:cs typeface="Calibri" pitchFamily="34" charset="-120"/>
              </a:rPr>
              <a:t>Why is it wise to stop and weigh both costs and benefits before making a marketplace choice? Use the virtue of self-governance.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8F0"/>
        </a:solidFill>
      </p:bgPr>
    </p:bg>
    <p:spTree>
      <p:nvGrpSpPr>
        <p:cNvPr id="1" name=""/>
        <p:cNvGrpSpPr/>
        <p:nvPr/>
      </p:nvGrpSpPr>
      <p:grpSpPr>
        <a:xfrm>
          <a:off x="0" y="0"/>
          <a:ext cx="0" cy="0"/>
          <a:chOff x="0" y="0"/>
          <a:chExt cx="0" cy="0"/>
        </a:xfrm>
      </p:grpSpPr>
      <p:sp>
        <p:nvSpPr>
          <p:cNvPr id="2" name="Text 0"/>
          <p:cNvSpPr/>
          <p:nvPr/>
        </p:nvSpPr>
        <p:spPr>
          <a:xfrm>
            <a:off x="609600" y="341376"/>
            <a:ext cx="10972800" cy="6096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Curator Task: Weigh a Real Choice</a:t>
            </a:r>
            <a:endParaRPr lang="en-US" sz="2400" dirty="0"/>
          </a:p>
        </p:txBody>
      </p:sp>
      <p:sp>
        <p:nvSpPr>
          <p:cNvPr id="3" name="Text 1"/>
          <p:cNvSpPr/>
          <p:nvPr/>
        </p:nvSpPr>
        <p:spPr>
          <a:xfrm>
            <a:off x="609600" y="877824"/>
            <a:ext cx="10972800" cy="365760"/>
          </a:xfrm>
          <a:prstGeom prst="rect">
            <a:avLst/>
          </a:prstGeom>
          <a:noFill/>
          <a:ln/>
        </p:spPr>
        <p:txBody>
          <a:bodyPr wrap="square" lIns="0" tIns="0" rIns="0" bIns="0" rtlCol="0" anchor="ctr"/>
          <a:lstStyle/>
          <a:p>
            <a:pPr indent="0" marL="0">
              <a:buNone/>
            </a:pPr>
            <a:r>
              <a:rPr lang="en-US" sz="1250" i="1" dirty="0">
                <a:solidFill>
                  <a:srgbClr val="7A88A8"/>
                </a:solidFill>
                <a:latin typeface="Calibri" pitchFamily="34" charset="0"/>
                <a:ea typeface="Calibri" pitchFamily="34" charset="-122"/>
                <a:cs typeface="Calibri" pitchFamily="34" charset="-120"/>
              </a:rPr>
              <a:t>Use the Decision Board on a family's $20 choice.</a:t>
            </a:r>
            <a:endParaRPr lang="en-US" sz="1250" dirty="0"/>
          </a:p>
        </p:txBody>
      </p:sp>
      <p:sp>
        <p:nvSpPr>
          <p:cNvPr id="4" name="Shape 2"/>
          <p:cNvSpPr/>
          <p:nvPr/>
        </p:nvSpPr>
        <p:spPr>
          <a:xfrm>
            <a:off x="609600" y="1280160"/>
            <a:ext cx="10972800" cy="1158240"/>
          </a:xfrm>
          <a:prstGeom prst="roundRect">
            <a:avLst>
              <a:gd name="adj" fmla="val 10526"/>
            </a:avLst>
          </a:prstGeom>
          <a:solidFill>
            <a:srgbClr val="FFF3DC"/>
          </a:solidFill>
          <a:ln/>
        </p:spPr>
      </p:sp>
      <p:sp>
        <p:nvSpPr>
          <p:cNvPr id="5" name="Text 3"/>
          <p:cNvSpPr/>
          <p:nvPr/>
        </p:nvSpPr>
        <p:spPr>
          <a:xfrm>
            <a:off x="853440" y="1402080"/>
            <a:ext cx="10485120" cy="914400"/>
          </a:xfrm>
          <a:prstGeom prst="rect">
            <a:avLst/>
          </a:prstGeom>
          <a:noFill/>
          <a:ln/>
        </p:spPr>
        <p:txBody>
          <a:bodyPr wrap="square" lIns="0" tIns="0" rIns="0" bIns="0" rtlCol="0" anchor="t"/>
          <a:lstStyle/>
          <a:p>
            <a:pPr indent="0" marL="0">
              <a:buNone/>
            </a:pPr>
            <a:r>
              <a:rPr lang="en-US" sz="1300" i="1" dirty="0">
                <a:solidFill>
                  <a:srgbClr val="5A4A3A"/>
                </a:solidFill>
                <a:latin typeface="Cambria" pitchFamily="34" charset="0"/>
                <a:ea typeface="Cambria" pitchFamily="34" charset="-122"/>
                <a:cs typeface="Cambria" pitchFamily="34" charset="-120"/>
              </a:rPr>
              <a:t>The choice: A family has $20 to spend this weekend. They can spend it on fresh fruit and vegetables for the week OR on a new board game. They can't do both.</a:t>
            </a:r>
            <a:endParaRPr lang="en-US" sz="1300" dirty="0"/>
          </a:p>
        </p:txBody>
      </p:sp>
      <p:sp>
        <p:nvSpPr>
          <p:cNvPr id="6" name="Text 4"/>
          <p:cNvSpPr/>
          <p:nvPr/>
        </p:nvSpPr>
        <p:spPr>
          <a:xfrm>
            <a:off x="609600" y="2560320"/>
            <a:ext cx="10972800" cy="2865120"/>
          </a:xfrm>
          <a:prstGeom prst="rect">
            <a:avLst/>
          </a:prstGeom>
          <a:noFill/>
          <a:ln/>
        </p:spPr>
        <p:txBody>
          <a:bodyPr wrap="square" lIns="0" tIns="0" rIns="0" bIns="0" rtlCol="0" anchor="t"/>
          <a:lstStyle/>
          <a:p>
            <a:pPr indent="0" marL="0">
              <a:spcAft>
                <a:spcPts val="1400"/>
              </a:spcAft>
              <a:buNone/>
            </a:pPr>
            <a:r>
              <a:rPr lang="en-US" sz="1300" b="1" dirty="0">
                <a:solidFill>
                  <a:srgbClr val="0E1C42"/>
                </a:solidFill>
                <a:latin typeface="Calibri" pitchFamily="34" charset="0"/>
                <a:ea typeface="Calibri" pitchFamily="34" charset="-122"/>
                <a:cs typeface="Calibri" pitchFamily="34" charset="-120"/>
              </a:rPr>
              <a:t>Costs -- list at least two things the family gives up if they pick the fruit and vegetables:</a:t>
            </a:r>
            <a:endParaRPr lang="en-US" sz="1300" dirty="0"/>
          </a:p>
          <a:p>
            <a:pPr indent="0" marL="0">
              <a:spcAft>
                <a:spcPts val="1400"/>
              </a:spcAft>
              <a:buNone/>
            </a:pPr>
            <a:r>
              <a:rPr lang="en-US" sz="1300" b="1" dirty="0">
                <a:solidFill>
                  <a:srgbClr val="0E1C42"/>
                </a:solidFill>
                <a:latin typeface="Calibri" pitchFamily="34" charset="0"/>
                <a:ea typeface="Calibri" pitchFamily="34" charset="-122"/>
                <a:cs typeface="Calibri" pitchFamily="34" charset="-120"/>
              </a:rPr>
              <a:t>Benefits -- list at least two things the family gains if they pick the fruit and vegetables:</a:t>
            </a:r>
            <a:endParaRPr lang="en-US" sz="1300" dirty="0"/>
          </a:p>
          <a:p>
            <a:pPr indent="0" marL="0">
              <a:spcAft>
                <a:spcPts val="1400"/>
              </a:spcAft>
              <a:buNone/>
            </a:pPr>
            <a:r>
              <a:rPr lang="en-US" sz="1300" b="1" dirty="0">
                <a:solidFill>
                  <a:srgbClr val="0E1C42"/>
                </a:solidFill>
                <a:latin typeface="Calibri" pitchFamily="34" charset="0"/>
                <a:ea typeface="Calibri" pitchFamily="34" charset="-122"/>
                <a:cs typeface="Calibri" pitchFamily="34" charset="-120"/>
              </a:rPr>
              <a:t>Your Decision -- What should the family pick, and why? Use at least one cost and one benefit from your lists to defend your choice. (2-3 sentences)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609600" y="487680"/>
            <a:ext cx="10972800" cy="609600"/>
          </a:xfrm>
          <a:prstGeom prst="rect">
            <a:avLst/>
          </a:prstGeom>
          <a:noFill/>
          <a:ln/>
        </p:spPr>
        <p:txBody>
          <a:bodyPr wrap="square" lIns="0" tIns="0" rIns="0" bIns="0" rtlCol="0" anchor="ctr"/>
          <a:lstStyle/>
          <a:p>
            <a:pPr algn="ctr" indent="0" marL="0">
              <a:buNone/>
            </a:pPr>
            <a:r>
              <a:rPr lang="en-US" sz="3000" b="1" dirty="0">
                <a:solidFill>
                  <a:srgbClr val="0E1C42"/>
                </a:solidFill>
                <a:latin typeface="Cambria" pitchFamily="34" charset="0"/>
                <a:ea typeface="Cambria" pitchFamily="34" charset="-122"/>
                <a:cs typeface="Cambria" pitchFamily="34" charset="-120"/>
              </a:rPr>
              <a:t>Curator's Chronicle</a:t>
            </a:r>
            <a:endParaRPr lang="en-US" sz="3000" dirty="0"/>
          </a:p>
        </p:txBody>
      </p:sp>
      <p:sp>
        <p:nvSpPr>
          <p:cNvPr id="3" name="Text 1"/>
          <p:cNvSpPr/>
          <p:nvPr/>
        </p:nvSpPr>
        <p:spPr>
          <a:xfrm>
            <a:off x="609600" y="1158240"/>
            <a:ext cx="10972800" cy="426720"/>
          </a:xfrm>
          <a:prstGeom prst="rect">
            <a:avLst/>
          </a:prstGeom>
          <a:noFill/>
          <a:ln/>
        </p:spPr>
        <p:txBody>
          <a:bodyPr wrap="square" lIns="0" tIns="0" rIns="0" bIns="0" rtlCol="0" anchor="ctr"/>
          <a:lstStyle/>
          <a:p>
            <a:pPr algn="ctr" indent="0" marL="0">
              <a:buNone/>
            </a:pPr>
            <a:r>
              <a:rPr lang="en-US" sz="1300" i="1" dirty="0">
                <a:solidFill>
                  <a:srgbClr val="7A88A8"/>
                </a:solidFill>
                <a:latin typeface="Calibri" pitchFamily="34" charset="0"/>
                <a:ea typeface="Calibri" pitchFamily="34" charset="-122"/>
                <a:cs typeface="Calibri" pitchFamily="34" charset="-120"/>
              </a:rPr>
              <a:t>One sentence to capture today's exhibit work.</a:t>
            </a:r>
            <a:endParaRPr lang="en-US" sz="1300" dirty="0"/>
          </a:p>
        </p:txBody>
      </p:sp>
      <p:sp>
        <p:nvSpPr>
          <p:cNvPr id="4" name="Shape 2"/>
          <p:cNvSpPr/>
          <p:nvPr/>
        </p:nvSpPr>
        <p:spPr>
          <a:xfrm>
            <a:off x="1219200" y="1950720"/>
            <a:ext cx="9753600" cy="2255520"/>
          </a:xfrm>
          <a:prstGeom prst="roundRect">
            <a:avLst>
              <a:gd name="adj" fmla="val 8108"/>
            </a:avLst>
          </a:prstGeom>
          <a:solidFill>
            <a:srgbClr val="FFFFFF"/>
          </a:solidFill>
          <a:ln w="25400">
            <a:solidFill>
              <a:srgbClr val="D4943A"/>
            </a:solidFill>
            <a:prstDash val="solid"/>
          </a:ln>
        </p:spPr>
      </p:sp>
      <p:sp>
        <p:nvSpPr>
          <p:cNvPr id="5" name="Text 3"/>
          <p:cNvSpPr/>
          <p:nvPr/>
        </p:nvSpPr>
        <p:spPr>
          <a:xfrm>
            <a:off x="1584960" y="2194560"/>
            <a:ext cx="9022080" cy="1767840"/>
          </a:xfrm>
          <a:prstGeom prst="rect">
            <a:avLst/>
          </a:prstGeom>
          <a:noFill/>
          <a:ln/>
        </p:spPr>
        <p:txBody>
          <a:bodyPr wrap="square" lIns="0" tIns="0" rIns="0" bIns="0" rtlCol="0" anchor="ctr"/>
          <a:lstStyle/>
          <a:p>
            <a:pPr algn="ctr" indent="0" marL="0">
              <a:buNone/>
            </a:pPr>
            <a:r>
              <a:rPr lang="en-US" sz="1900" i="1" dirty="0">
                <a:solidFill>
                  <a:srgbClr val="0E1C42"/>
                </a:solidFill>
                <a:latin typeface="Cambria" pitchFamily="34" charset="0"/>
                <a:ea typeface="Cambria" pitchFamily="34" charset="-122"/>
                <a:cs typeface="Cambria" pitchFamily="34" charset="-120"/>
              </a:rPr>
              <a:t>In this exhibit, I learned that ______ because ______.</a:t>
            </a:r>
            <a:endParaRPr lang="en-US" sz="1900" dirty="0"/>
          </a:p>
        </p:txBody>
      </p:sp>
      <p:sp>
        <p:nvSpPr>
          <p:cNvPr id="6" name="Text 4"/>
          <p:cNvSpPr/>
          <p:nvPr/>
        </p:nvSpPr>
        <p:spPr>
          <a:xfrm>
            <a:off x="1219200" y="4511040"/>
            <a:ext cx="9753600" cy="426720"/>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Turn-In Checklist</a:t>
            </a:r>
            <a:endParaRPr lang="en-US" sz="1300" dirty="0"/>
          </a:p>
        </p:txBody>
      </p:sp>
      <p:sp>
        <p:nvSpPr>
          <p:cNvPr id="7" name="Text 5"/>
          <p:cNvSpPr/>
          <p:nvPr/>
        </p:nvSpPr>
        <p:spPr>
          <a:xfrm>
            <a:off x="1219200" y="4937760"/>
            <a:ext cx="9753600"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0E1C42"/>
                </a:solidFill>
                <a:latin typeface="Calibri" pitchFamily="34" charset="0"/>
                <a:ea typeface="Calibri" pitchFamily="34" charset="-122"/>
                <a:cs typeface="Calibri" pitchFamily="34" charset="-120"/>
              </a:rPr>
              <a:t>I answered the evidence questions.</a:t>
            </a:r>
            <a:endParaRPr lang="en-US" sz="1150" dirty="0"/>
          </a:p>
          <a:p>
            <a:pPr marL="342900" indent="-342900">
              <a:spcAft>
                <a:spcPts val="400"/>
              </a:spcAft>
              <a:buSzPct val="100000"/>
              <a:buChar char="•"/>
            </a:pPr>
            <a:r>
              <a:rPr lang="en-US" sz="1150" dirty="0">
                <a:solidFill>
                  <a:srgbClr val="0E1C42"/>
                </a:solidFill>
                <a:latin typeface="Calibri" pitchFamily="34" charset="0"/>
                <a:ea typeface="Calibri" pitchFamily="34" charset="-122"/>
                <a:cs typeface="Calibri" pitchFamily="34" charset="-120"/>
              </a:rPr>
              <a:t>I listed at least two costs and two benefits and explained my decision.</a:t>
            </a:r>
            <a:endParaRPr lang="en-US" sz="1150" dirty="0"/>
          </a:p>
          <a:p>
            <a:pPr marL="342900" indent="-342900">
              <a:spcAft>
                <a:spcPts val="400"/>
              </a:spcAft>
              <a:buSzPct val="100000"/>
              <a:buChar char="•"/>
            </a:pPr>
            <a:r>
              <a:rPr lang="en-US" sz="1150" dirty="0">
                <a:solidFill>
                  <a:srgbClr val="0E1C42"/>
                </a:solidFill>
                <a:latin typeface="Calibri" pitchFamily="34" charset="0"/>
                <a:ea typeface="Calibri" pitchFamily="34" charset="-122"/>
                <a:cs typeface="Calibri" pitchFamily="34" charset="-120"/>
              </a:rPr>
              <a:t>I wrote my Curator's Chronicle.</a:t>
            </a:r>
            <a:endParaRPr lang="en-US" sz="1150" dirty="0"/>
          </a:p>
          <a:p>
            <a:pPr marL="342900" indent="-342900">
              <a:spcAft>
                <a:spcPts val="400"/>
              </a:spcAft>
              <a:buSzPct val="100000"/>
              <a:buChar char="•"/>
            </a:pPr>
            <a:r>
              <a:rPr lang="en-US" sz="1150" dirty="0">
                <a:solidFill>
                  <a:srgbClr val="0E1C42"/>
                </a:solidFill>
                <a:latin typeface="Calibri" pitchFamily="34" charset="0"/>
                <a:ea typeface="Calibri" pitchFamily="34" charset="-122"/>
                <a:cs typeface="Calibri" pitchFamily="34" charset="-120"/>
              </a:rPr>
              <a:t>I copied or downloaded my work and submitted to Canvas.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828800"/>
            <a:ext cx="10241280" cy="914400"/>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Great Work, Trade &amp; Choice Curator!</a:t>
            </a:r>
            <a:endParaRPr lang="en-US" sz="3200" dirty="0"/>
          </a:p>
        </p:txBody>
      </p:sp>
      <p:sp>
        <p:nvSpPr>
          <p:cNvPr id="6" name="Text 3"/>
          <p:cNvSpPr/>
          <p:nvPr/>
        </p:nvSpPr>
        <p:spPr>
          <a:xfrm>
            <a:off x="1463040" y="2926080"/>
            <a:ext cx="9265920" cy="121920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You weighed a real choice with costs and benefits. You used self-governance to think before you decided -- and you can defend a marketplace choice with real reasons.</a:t>
            </a:r>
            <a:endParaRPr lang="en-US" sz="1500" dirty="0"/>
          </a:p>
        </p:txBody>
      </p:sp>
      <p:sp>
        <p:nvSpPr>
          <p:cNvPr id="7" name="Shape 4"/>
          <p:cNvSpPr/>
          <p:nvPr/>
        </p:nvSpPr>
        <p:spPr>
          <a:xfrm>
            <a:off x="1828800" y="4389120"/>
            <a:ext cx="8534400" cy="1402080"/>
          </a:xfrm>
          <a:prstGeom prst="roundRect">
            <a:avLst>
              <a:gd name="adj" fmla="val 10435"/>
            </a:avLst>
          </a:prstGeom>
          <a:solidFill>
            <a:srgbClr val="1A2D5A"/>
          </a:solidFill>
          <a:ln/>
        </p:spPr>
      </p:sp>
      <p:sp>
        <p:nvSpPr>
          <p:cNvPr id="8" name="Text 5"/>
          <p:cNvSpPr/>
          <p:nvPr/>
        </p:nvSpPr>
        <p:spPr>
          <a:xfrm>
            <a:off x="2072640" y="4535424"/>
            <a:ext cx="804672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COMING NEXT</a:t>
            </a:r>
            <a:endParaRPr lang="en-US" sz="1100" dirty="0"/>
          </a:p>
        </p:txBody>
      </p:sp>
      <p:sp>
        <p:nvSpPr>
          <p:cNvPr id="9" name="Text 6"/>
          <p:cNvSpPr/>
          <p:nvPr/>
        </p:nvSpPr>
        <p:spPr>
          <a:xfrm>
            <a:off x="2072640" y="4876800"/>
            <a:ext cx="8046720" cy="853440"/>
          </a:xfrm>
          <a:prstGeom prst="rect">
            <a:avLst/>
          </a:prstGeom>
          <a:noFill/>
          <a:ln/>
        </p:spPr>
        <p:txBody>
          <a:bodyPr wrap="square" lIns="0" tIns="0" rIns="0" bIns="0" rtlCol="0" anchor="t"/>
          <a:lstStyle/>
          <a:p>
            <a:pPr algn="ctr" indent="0" marL="0">
              <a:buNone/>
            </a:pPr>
            <a:r>
              <a:rPr lang="en-US" sz="1300" i="1" dirty="0">
                <a:solidFill>
                  <a:srgbClr val="D6E0F5"/>
                </a:solidFill>
                <a:latin typeface="Cambria" pitchFamily="34" charset="0"/>
                <a:ea typeface="Cambria" pitchFamily="34" charset="-122"/>
                <a:cs typeface="Cambria" pitchFamily="34" charset="-120"/>
              </a:rPr>
              <a:t>The Marketplace Hall is almost complete. Tomorrow you'll write the final panel of the unit -- and earn your Wise Trader badge!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2026-07-11T19:12:09Z</dcterms:created>
  <dcterms:modified xsi:type="dcterms:W3CDTF">2026-07-11T19:12:09Z</dcterms:modified>
</cp:coreProperties>
</file>