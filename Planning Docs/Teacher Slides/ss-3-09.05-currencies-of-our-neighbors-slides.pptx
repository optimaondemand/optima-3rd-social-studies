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grand marketplace hall entrance with a wide glass currency case newly expanded to show coins and bills from the United States, Canada, Mexico, and Caribbean nations side by side, warm museum lighting, welcoming and dignified.Teacher: Welcome students. Today the money case in the Marketplace Hall got wider -- three new sections have appeared: Canada, Mexico, and the Caribbean. Read the Curator's Question aloud. This lesson practices courtesy: we describe other countries' money the way their own people would describe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museum display case being expanded, a curator's hands adding new velvet-lined trays labeled Canada, Mexico, and The Caribbean, each holding unfamiliar coins and colorful bills.Say: 'Yesterday you tested chocolate bars against the four rules of good money. Today the case got wider.' Read the curator's words aloud with suspense. Connect back to the North America &amp; Caribbean Gallery from earlier this year.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curator gently, respectfully placing a Canadian dollar coin into a labeled display case, calm and careful hands, soft respectful lighting -- visual metaphor for courtesy.Introduce courtesy explicitly: 'When we look at someone else's money, we use the same four rules. We don't make fun of the words or the pictures. The people who use that money trust it, just like we trust ours. That's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 seconds of silence to look at the currency image before discussing. Do NOT name any currency yet -- only observe colors, pictures, symbols. 3-5 minutes total for the Explore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whole class. Do not yet reveal the word 'loonie' or 'toonie' -- let students guess and describe first. Chat responses should focus on colors, pictures,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Split-panel museum label: left side U.S. dollar bills and coins clearly labeled, right side Canadian dollar bills with a gold loonie coin and silver toonie coin clearly labeled, elegant museum typography.Name the U.S. dollar and Canadian dollar as what students just discovered. Emphasize the loonie/toonie nicknames -- these are fun, memorable facts students will use later in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quiet observation time. The Pause &amp; Think prompt sets up self-check Q2 and evidence Q2 -- let students wrestle with the 'same word, different money' idea before it is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scaffolds evidence Q2 (how are the four currencies the same) and self-check Q2 (why dollar in Canada and U.S. are not the same money). Let students debate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label panel showing the Mexican peso with its name and meaning, and three Caribbean currencies -- Jamaican dollar, Cuban peso, Eastern Caribbean dollar -- each labeled with its country flag icon.Name the Mexican peso and the three Caribbean currencies. Stress that peso means 'weight' and that the Caribbean has multiple currencies,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evidence Q2 (currencies are the same because they follow the four rules) and the Curator Task closing sentence. Read Opti's fact aloud and connect it to the courtesy virtue: every country's trust in its own money deserves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exact structure students need for Evidence Question 1: name the currency + one supporting detail. Point out that this model uses the wording pattern they'll need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oral practice. Build a shared example sentence naming the Canadian dollar plus a detail (loonie/toonie), then a Caribbean currency, then connect to one of the four rules -- rehearsing the exact structure of Evidence Questions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practice orally in pairs using the checklist. Circulate and listen for accurate currency names and one supporting detail before moving to independent writing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catch: (1) 'Mexican loonie' mixes up Mexico and Canada -- the loonie is Canadian. (2) A Canadian dollar and U.S. dollar are not the same value. This directly targets the common misconception behind self-check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debate connects the virtue of courtesy directly to precise, respectful vocabulary -- exactly what self-check Q3 and the Curator Task require. Let genuine disagreement happen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Ask each question aloud, take answers via chat or poll, then reveal the correct answer shown on the slide. Celebrate a perfect score; if missed, review the four rules and the courtesy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Both questions were fully scaffolded across the discovery and guided-practice slides -- students should feel ready, not surprised.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aloud exactly as written. Students have already discussed a fact for each currency (reveal slides 6 and 9) and the four rules of money (slide 10), so every part of this task has been scaffolded.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share their Chronicle sentence in chat before submitting. This is their personal reflection -- accept varied but accurate connections between a currency fact and the four rules or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warmly lit museum hall with the newly completed currency case fully stocked and glowing, a small crowd of visitor silhouettes admiring it, a folded trade-routes map faintly visible on a nearby desk hinting at tomorrow's lesson.Celebrate warmly under 1 minute. Tease the trade-routes map lesson: tomorrow students read a map like an economist, tracing goods from where they grow to where they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MARKETPLACE HALL . LESSON 3.09.05</a:t>
            </a:r>
            <a:endParaRPr lang="en-US" sz="1200" dirty="0"/>
          </a:p>
        </p:txBody>
      </p:sp>
      <p:sp>
        <p:nvSpPr>
          <p:cNvPr id="6" name="Text 3"/>
          <p:cNvSpPr/>
          <p:nvPr/>
        </p:nvSpPr>
        <p:spPr>
          <a:xfrm>
            <a:off x="853440" y="1828800"/>
            <a:ext cx="10485120" cy="975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Currencies of Our Neighbors</a:t>
            </a:r>
            <a:endParaRPr lang="en-US" sz="3400" dirty="0"/>
          </a:p>
        </p:txBody>
      </p:sp>
      <p:sp>
        <p:nvSpPr>
          <p:cNvPr id="7" name="Text 4"/>
          <p:cNvSpPr/>
          <p:nvPr/>
        </p:nvSpPr>
        <p:spPr>
          <a:xfrm>
            <a:off x="853440" y="3291840"/>
            <a:ext cx="10241280" cy="1463040"/>
          </a:xfrm>
          <a:prstGeom prst="rect">
            <a:avLst/>
          </a:prstGeom>
          <a:noFill/>
          <a:ln/>
        </p:spPr>
        <p:txBody>
          <a:bodyPr wrap="square" lIns="0" tIns="0" rIns="0" bIns="0" rtlCol="0" anchor="t"/>
          <a:lstStyle/>
          <a:p>
            <a:pPr indent="0" marL="0">
              <a:buNone/>
            </a:pPr>
            <a:r>
              <a:rPr lang="en-US" sz="1600" i="1" dirty="0">
                <a:solidFill>
                  <a:srgbClr val="55C8E8"/>
                </a:solidFill>
                <a:latin typeface="Calibri" pitchFamily="34" charset="0"/>
                <a:ea typeface="Calibri" pitchFamily="34" charset="-122"/>
                <a:cs typeface="Calibri" pitchFamily="34" charset="-120"/>
              </a:rPr>
              <a:t>How is the money used in Canada, Mexico, and the Caribbean similar to the U.S. dollar -- and what makes each one its own?</a:t>
            </a:r>
            <a:endParaRPr lang="en-US" sz="1600" dirty="0"/>
          </a:p>
        </p:txBody>
      </p:sp>
      <p:sp>
        <p:nvSpPr>
          <p:cNvPr id="8" name="Text 5"/>
          <p:cNvSpPr/>
          <p:nvPr/>
        </p:nvSpPr>
        <p:spPr>
          <a:xfrm>
            <a:off x="853440" y="4998720"/>
            <a:ext cx="10241280" cy="487680"/>
          </a:xfrm>
          <a:prstGeom prst="rect">
            <a:avLst/>
          </a:prstGeom>
          <a:noFill/>
          <a:ln/>
        </p:spPr>
        <p:txBody>
          <a:bodyPr wrap="square" lIns="0" tIns="0" rIns="0" bIns="0" rtlCol="0" anchor="t"/>
          <a:lstStyle/>
          <a:p>
            <a:pPr indent="0" marL="0">
              <a:buNone/>
            </a:pPr>
            <a:r>
              <a:rPr lang="en-US" sz="1400" b="1" dirty="0">
                <a:solidFill>
                  <a:srgbClr val="D4943A"/>
                </a:solidFill>
                <a:latin typeface="Calibri" pitchFamily="34" charset="0"/>
                <a:ea typeface="Calibri" pitchFamily="34" charset="-122"/>
                <a:cs typeface="Calibri" pitchFamily="34" charset="-120"/>
              </a:rPr>
              <a:t>Today's Role: Trade &amp; Choice Curator</a:t>
            </a:r>
            <a:endParaRPr lang="en-US" sz="1400" dirty="0"/>
          </a:p>
        </p:txBody>
      </p:sp>
      <p:sp>
        <p:nvSpPr>
          <p:cNvPr id="9" name="Text 6"/>
          <p:cNvSpPr/>
          <p:nvPr/>
        </p:nvSpPr>
        <p:spPr>
          <a:xfrm>
            <a:off x="853440" y="5547360"/>
            <a:ext cx="10241280" cy="487680"/>
          </a:xfrm>
          <a:prstGeom prst="rect">
            <a:avLst/>
          </a:prstGeom>
          <a:noFill/>
          <a:ln/>
        </p:spPr>
        <p:txBody>
          <a:bodyPr wrap="square" lIns="0" tIns="0" rIns="0" bIns="0" rtlCol="0" anchor="t"/>
          <a:lstStyle/>
          <a:p>
            <a:pPr indent="0" marL="0">
              <a:buNone/>
            </a:pPr>
            <a:r>
              <a:rPr lang="en-US" sz="1200" dirty="0">
                <a:solidFill>
                  <a:srgbClr val="C8D4EE"/>
                </a:solidFill>
                <a:latin typeface="Calibri" pitchFamily="34" charset="0"/>
                <a:ea typeface="Calibri" pitchFamily="34" charset="-122"/>
                <a:cs typeface="Calibri" pitchFamily="34" charset="-120"/>
              </a:rPr>
              <a:t>Routine: Enter the Scene   |   Virtue: Courtesy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ENTER THE SCENE</a:t>
            </a:r>
            <a:endParaRPr lang="en-US" sz="1200" dirty="0"/>
          </a:p>
        </p:txBody>
      </p:sp>
      <p:sp>
        <p:nvSpPr>
          <p:cNvPr id="6" name="Text 3"/>
          <p:cNvSpPr/>
          <p:nvPr/>
        </p:nvSpPr>
        <p:spPr>
          <a:xfrm>
            <a:off x="853440" y="487680"/>
            <a:ext cx="10485120" cy="975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Wider Money Case</a:t>
            </a:r>
            <a:endParaRPr lang="en-US" sz="2800" dirty="0"/>
          </a:p>
        </p:txBody>
      </p:sp>
      <p:sp>
        <p:nvSpPr>
          <p:cNvPr id="7" name="Text 4"/>
          <p:cNvSpPr/>
          <p:nvPr/>
        </p:nvSpPr>
        <p:spPr>
          <a:xfrm>
            <a:off x="853440" y="1950720"/>
            <a:ext cx="10241280" cy="15849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money case is wider this morning," the head curator says. He has added three new sections -- labeled Canada, Mexico, and The Caribbean -- and inside each one sit unfamiliar coins and colorful bills.</a:t>
            </a:r>
            <a:endParaRPr lang="en-US" sz="1500" dirty="0"/>
          </a:p>
        </p:txBody>
      </p:sp>
      <p:sp>
        <p:nvSpPr>
          <p:cNvPr id="8" name="Text 5"/>
          <p:cNvSpPr/>
          <p:nvPr/>
        </p:nvSpPr>
        <p:spPr>
          <a:xfrm>
            <a:off x="853440" y="3596640"/>
            <a:ext cx="10241280" cy="1402080"/>
          </a:xfrm>
          <a:prstGeom prst="rect">
            <a:avLst/>
          </a:prstGeom>
          <a:noFill/>
          <a:ln/>
        </p:spPr>
        <p:txBody>
          <a:bodyPr wrap="square" lIns="0" tIns="0" rIns="0" bIns="0" rtlCol="0" anchor="t"/>
          <a:lstStyle/>
          <a:p>
            <a:pPr indent="0" marL="0">
              <a:buNone/>
            </a:pPr>
            <a:r>
              <a:rPr lang="en-US" sz="1500" i="1" dirty="0">
                <a:solidFill>
                  <a:srgbClr val="D6E4FA"/>
                </a:solidFill>
                <a:latin typeface="Calibri" pitchFamily="34" charset="0"/>
                <a:ea typeface="Calibri" pitchFamily="34" charset="-122"/>
                <a:cs typeface="Calibri" pitchFamily="34" charset="-120"/>
              </a:rPr>
              <a:t>"Same four rules," he says. "Different countries, different names, different pictures. The people who use this money care about it the way you care about a U.S. dollar."</a:t>
            </a:r>
            <a:endParaRPr lang="en-US" sz="1500" dirty="0"/>
          </a:p>
        </p:txBody>
      </p:sp>
      <p:sp>
        <p:nvSpPr>
          <p:cNvPr id="9" name="Text 6"/>
          <p:cNvSpPr/>
          <p:nvPr/>
        </p:nvSpPr>
        <p:spPr>
          <a:xfrm>
            <a:off x="853440" y="5181600"/>
            <a:ext cx="10241280" cy="109728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Your Job Today: Compare the currencies of our North American and Caribbean neighbors -- then write a respectful display panel for the new sections.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VIRTUE SPOTLIGHT</a:t>
            </a:r>
            <a:endParaRPr lang="en-US" sz="1200" dirty="0"/>
          </a:p>
        </p:txBody>
      </p:sp>
      <p:sp>
        <p:nvSpPr>
          <p:cNvPr id="6" name="Text 3"/>
          <p:cNvSpPr/>
          <p:nvPr/>
        </p:nvSpPr>
        <p:spPr>
          <a:xfrm>
            <a:off x="853440" y="487680"/>
            <a:ext cx="10485120" cy="975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Courtesy</a:t>
            </a:r>
            <a:endParaRPr lang="en-US" sz="3400" dirty="0"/>
          </a:p>
        </p:txBody>
      </p:sp>
      <p:sp>
        <p:nvSpPr>
          <p:cNvPr id="7" name="Text 4"/>
          <p:cNvSpPr/>
          <p:nvPr/>
        </p:nvSpPr>
        <p:spPr>
          <a:xfrm>
            <a:off x="853440" y="2072640"/>
            <a:ext cx="10241280" cy="17068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respectful curator never laughs at someone else's money. The pictures, the words, and even the colors on a Canadian dollar or a Mexican peso were chosen carefully by people who care about their country.</a:t>
            </a:r>
            <a:endParaRPr lang="en-US" sz="1500" dirty="0"/>
          </a:p>
        </p:txBody>
      </p:sp>
      <p:sp>
        <p:nvSpPr>
          <p:cNvPr id="8" name="Text 5"/>
          <p:cNvSpPr/>
          <p:nvPr/>
        </p:nvSpPr>
        <p:spPr>
          <a:xfrm>
            <a:off x="853440" y="3840480"/>
            <a:ext cx="10241280" cy="853440"/>
          </a:xfrm>
          <a:prstGeom prst="rect">
            <a:avLst/>
          </a:prstGeom>
          <a:noFill/>
          <a:ln/>
        </p:spPr>
        <p:txBody>
          <a:bodyPr wrap="square" lIns="0" tIns="0" rIns="0" bIns="0" rtlCol="0" anchor="t"/>
          <a:lstStyle/>
          <a:p>
            <a:pPr indent="0" marL="0">
              <a:buNone/>
            </a:pPr>
            <a:r>
              <a:rPr lang="en-US" sz="1500" i="1" dirty="0">
                <a:solidFill>
                  <a:srgbClr val="55C8E8"/>
                </a:solidFill>
                <a:latin typeface="Calibri" pitchFamily="34" charset="0"/>
                <a:ea typeface="Calibri" pitchFamily="34" charset="-122"/>
                <a:cs typeface="Calibri" pitchFamily="34" charset="-120"/>
              </a:rPr>
              <a:t>Today, notice how a courteous curator describes each currency the way its own people would describe it.</a:t>
            </a:r>
            <a:endParaRPr lang="en-US" sz="1500" dirty="0"/>
          </a:p>
        </p:txBody>
      </p:sp>
      <p:sp>
        <p:nvSpPr>
          <p:cNvPr id="9" name="Text 6"/>
          <p:cNvSpPr/>
          <p:nvPr/>
        </p:nvSpPr>
        <p:spPr>
          <a:xfrm>
            <a:off x="853440" y="4876800"/>
            <a:ext cx="10241280" cy="121920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Your Role Today: You are a Trade &amp; Choice Curator -- your job is to help museum visitors understand the money used by our nearest neighbors.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CLUE BOX 1 . ENTER THE SCENE</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Four Neighbors, Four Currencies</a:t>
            </a:r>
            <a:endParaRPr lang="en-US" sz="2800" dirty="0"/>
          </a:p>
        </p:txBody>
      </p:sp>
      <p:sp>
        <p:nvSpPr>
          <p:cNvPr id="4" name="Shape 2"/>
          <p:cNvSpPr/>
          <p:nvPr/>
        </p:nvSpPr>
        <p:spPr>
          <a:xfrm>
            <a:off x="609600" y="1341120"/>
            <a:ext cx="560832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609600" y="1341120"/>
            <a:ext cx="56083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706880"/>
            <a:ext cx="524256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Real currency from the United States, Canada, Mexico, and at least one Caribbean country (Jamaica, Cuba, or Eastern Caribbean) shown side by side. File: source-3-09-05-neighbor-currencies.jpg</a:t>
            </a:r>
            <a:endParaRPr lang="en-US" sz="1100" dirty="0"/>
          </a:p>
        </p:txBody>
      </p:sp>
      <p:sp>
        <p:nvSpPr>
          <p:cNvPr id="7" name="Shape 5"/>
          <p:cNvSpPr/>
          <p:nvPr/>
        </p:nvSpPr>
        <p:spPr>
          <a:xfrm>
            <a:off x="6461760" y="1341120"/>
            <a:ext cx="4876800" cy="3657600"/>
          </a:xfrm>
          <a:prstGeom prst="roundRect">
            <a:avLst>
              <a:gd name="adj" fmla="val 4000"/>
            </a:avLst>
          </a:prstGeom>
          <a:solidFill>
            <a:srgbClr val="FFFFFF"/>
          </a:solidFill>
          <a:ln w="12700">
            <a:solidFill>
              <a:srgbClr val="D6DCEC"/>
            </a:solidFill>
            <a:prstDash val="solid"/>
          </a:ln>
        </p:spPr>
      </p:sp>
      <p:sp>
        <p:nvSpPr>
          <p:cNvPr id="8" name="Text 6"/>
          <p:cNvSpPr/>
          <p:nvPr/>
        </p:nvSpPr>
        <p:spPr>
          <a:xfrm>
            <a:off x="6705600" y="1524000"/>
            <a:ext cx="4389120" cy="42672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What do I see?</a:t>
            </a:r>
            <a:endParaRPr lang="en-US" sz="1300" dirty="0"/>
          </a:p>
        </p:txBody>
      </p:sp>
      <p:sp>
        <p:nvSpPr>
          <p:cNvPr id="9" name="Text 7"/>
          <p:cNvSpPr/>
          <p:nvPr/>
        </p:nvSpPr>
        <p:spPr>
          <a:xfrm>
            <a:off x="6705600" y="1975104"/>
            <a:ext cx="4389120" cy="13411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each currency. What colors do you notice? What pictures, numbers, or symbols are on each one? Can you spot the country name?</a:t>
            </a:r>
            <a:endParaRPr lang="en-US" sz="1200" dirty="0"/>
          </a:p>
        </p:txBody>
      </p:sp>
      <p:sp>
        <p:nvSpPr>
          <p:cNvPr id="10" name="Text 8"/>
          <p:cNvSpPr/>
          <p:nvPr/>
        </p:nvSpPr>
        <p:spPr>
          <a:xfrm>
            <a:off x="6705600" y="3352800"/>
            <a:ext cx="4389120" cy="42672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What does it mean?</a:t>
            </a:r>
            <a:endParaRPr lang="en-US" sz="1300" dirty="0"/>
          </a:p>
        </p:txBody>
      </p:sp>
      <p:sp>
        <p:nvSpPr>
          <p:cNvPr id="11" name="Text 9"/>
          <p:cNvSpPr/>
          <p:nvPr/>
        </p:nvSpPr>
        <p:spPr>
          <a:xfrm>
            <a:off x="6705600" y="3803904"/>
            <a:ext cx="4389120" cy="11582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Each country chose those pictures on purpose. Why might a country put a famous person, a building, or an animal on its money?</a:t>
            </a:r>
            <a:endParaRPr lang="en-US" sz="1200" dirty="0"/>
          </a:p>
        </p:txBody>
      </p:sp>
      <p:sp>
        <p:nvSpPr>
          <p:cNvPr id="12" name="Text 10"/>
          <p:cNvSpPr/>
          <p:nvPr/>
        </p:nvSpPr>
        <p:spPr>
          <a:xfrm>
            <a:off x="609600" y="5303520"/>
            <a:ext cx="10728960" cy="609600"/>
          </a:xfrm>
          <a:prstGeom prst="rect">
            <a:avLst/>
          </a:prstGeom>
          <a:noFill/>
          <a:ln/>
        </p:spPr>
        <p:txBody>
          <a:bodyPr wrap="square" lIns="0" tIns="0" rIns="0" bIns="0"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Take 5 quiet seconds to look before we talk. Type one observation in the chat.</a:t>
            </a:r>
            <a:endParaRPr lang="en-US" sz="1200" dirty="0"/>
          </a:p>
        </p:txBody>
      </p:sp>
      <p:sp>
        <p:nvSpPr>
          <p:cNvPr id="13" name="Text 11"/>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DISCUSSION . TALK LIKE A CURATOR</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Did You Notice?</a:t>
            </a:r>
            <a:endParaRPr lang="en-US" sz="2800" dirty="0"/>
          </a:p>
        </p:txBody>
      </p:sp>
      <p:sp>
        <p:nvSpPr>
          <p:cNvPr id="4" name="Shape 2"/>
          <p:cNvSpPr/>
          <p:nvPr/>
        </p:nvSpPr>
        <p:spPr>
          <a:xfrm>
            <a:off x="609600" y="1402080"/>
            <a:ext cx="5486400" cy="36576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5240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865376"/>
            <a:ext cx="4998720" cy="3072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colors and pictures do you see on the U.S. bills? On the Canadian bills?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notice is different between a U.S. coin and a Canadian coin?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country put an animal, like a loon, on its money?</a:t>
            </a:r>
            <a:endParaRPr lang="en-US" sz="1100" dirty="0"/>
          </a:p>
        </p:txBody>
      </p:sp>
      <p:sp>
        <p:nvSpPr>
          <p:cNvPr id="7" name="Shape 5"/>
          <p:cNvSpPr/>
          <p:nvPr/>
        </p:nvSpPr>
        <p:spPr>
          <a:xfrm>
            <a:off x="6339840" y="1402080"/>
            <a:ext cx="4998720" cy="3657600"/>
          </a:xfrm>
          <a:prstGeom prst="roundRect">
            <a:avLst>
              <a:gd name="adj" fmla="val 4000"/>
            </a:avLst>
          </a:prstGeom>
          <a:solidFill>
            <a:srgbClr val="FFF3DC"/>
          </a:solidFill>
          <a:ln w="19050">
            <a:solidFill>
              <a:srgbClr val="F5E6C8"/>
            </a:solidFill>
            <a:prstDash val="solid"/>
          </a:ln>
        </p:spPr>
      </p:sp>
      <p:sp>
        <p:nvSpPr>
          <p:cNvPr id="8" name="Text 6"/>
          <p:cNvSpPr/>
          <p:nvPr/>
        </p:nvSpPr>
        <p:spPr>
          <a:xfrm>
            <a:off x="6522720" y="1475232"/>
            <a:ext cx="46329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522720" y="1743456"/>
            <a:ext cx="4632960" cy="3230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U.S. bills are... but the Canadian bills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coin with the bird might be called..."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a:t>
            </a:r>
            <a:endParaRPr lang="en-US" sz="1200" dirty="0"/>
          </a:p>
        </p:txBody>
      </p:sp>
      <p:sp>
        <p:nvSpPr>
          <p:cNvPr id="10" name="Text 8"/>
          <p:cNvSpPr/>
          <p:nvPr/>
        </p:nvSpPr>
        <p:spPr>
          <a:xfrm>
            <a:off x="609600" y="5242560"/>
            <a:ext cx="10728960" cy="487680"/>
          </a:xfrm>
          <a:prstGeom prst="rect">
            <a:avLst/>
          </a:prstGeom>
          <a:noFill/>
          <a:ln/>
        </p:spPr>
        <p:txBody>
          <a:bodyPr wrap="square" lIns="0" tIns="0" rIns="0" bIns="0"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Focus: comparing the United States and Canada first.</a:t>
            </a:r>
            <a:endParaRPr lang="en-US" sz="1200" dirty="0"/>
          </a:p>
        </p:txBody>
      </p:sp>
      <p:sp>
        <p:nvSpPr>
          <p:cNvPr id="11" name="Text 9"/>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REVEAL . YOU DISCOVERED IT</a:t>
            </a:r>
            <a:endParaRPr lang="en-US" sz="1200" dirty="0"/>
          </a:p>
        </p:txBody>
      </p:sp>
      <p:sp>
        <p:nvSpPr>
          <p:cNvPr id="6" name="Text 3"/>
          <p:cNvSpPr/>
          <p:nvPr/>
        </p:nvSpPr>
        <p:spPr>
          <a:xfrm>
            <a:off x="853440" y="487680"/>
            <a:ext cx="10485120" cy="975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U.S. Dollar &amp; The Canadian Dollar</a:t>
            </a:r>
            <a:endParaRPr lang="en-US" sz="2600" dirty="0"/>
          </a:p>
        </p:txBody>
      </p:sp>
      <p:sp>
        <p:nvSpPr>
          <p:cNvPr id="7" name="Text 4"/>
          <p:cNvSpPr/>
          <p:nvPr/>
        </p:nvSpPr>
        <p:spPr>
          <a:xfrm>
            <a:off x="853440" y="2011680"/>
            <a:ext cx="10241280" cy="1219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United States: the U.S. dollar. Bills are green and show presidents. Coins come in cents -- pennies, nickels, dimes, and quarters.</a:t>
            </a:r>
            <a:endParaRPr lang="en-US" sz="1400" dirty="0"/>
          </a:p>
        </p:txBody>
      </p:sp>
      <p:sp>
        <p:nvSpPr>
          <p:cNvPr id="8" name="Text 5"/>
          <p:cNvSpPr/>
          <p:nvPr/>
        </p:nvSpPr>
        <p:spPr>
          <a:xfrm>
            <a:off x="853440" y="3352800"/>
            <a:ext cx="10241280" cy="1584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Canada: the Canadian dollar. Bills are colorful plastic. The one-dollar coin is nicknamed the "loonie" -- named for the loon bird on the back. The two-dollar coin is the "toonie."</a:t>
            </a:r>
            <a:endParaRPr lang="en-US" sz="1400" dirty="0"/>
          </a:p>
        </p:txBody>
      </p:sp>
      <p:sp>
        <p:nvSpPr>
          <p:cNvPr id="9" name="Text 6"/>
          <p:cNvSpPr/>
          <p:nvPr/>
        </p:nvSpPr>
        <p:spPr>
          <a:xfrm>
            <a:off x="853440" y="5242560"/>
            <a:ext cx="10241280" cy="853440"/>
          </a:xfrm>
          <a:prstGeom prst="rect">
            <a:avLst/>
          </a:prstGeom>
          <a:noFill/>
          <a:ln/>
        </p:spPr>
        <p:txBody>
          <a:bodyPr wrap="square" lIns="0" tIns="0" rIns="0" bIns="0" rtlCol="0" anchor="t"/>
          <a:lstStyle/>
          <a:p>
            <a:pPr indent="0" marL="0">
              <a:buNone/>
            </a:pPr>
            <a:r>
              <a:rPr lang="en-US" sz="1200" i="1" dirty="0">
                <a:solidFill>
                  <a:srgbClr val="D4943A"/>
                </a:solidFill>
                <a:latin typeface="Calibri" pitchFamily="34" charset="0"/>
                <a:ea typeface="Calibri" pitchFamily="34" charset="-122"/>
                <a:cs typeface="Calibri" pitchFamily="34" charset="-120"/>
              </a:rPr>
              <a:t>Retrieval Challenge: Cover your screen. Name the two currencies and one nickname from memory.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CLUE BOX 2 . KEEP LOOKING</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Two More Neighbors</a:t>
            </a:r>
            <a:endParaRPr lang="en-US" sz="2800" dirty="0"/>
          </a:p>
        </p:txBody>
      </p:sp>
      <p:sp>
        <p:nvSpPr>
          <p:cNvPr id="4" name="Shape 2"/>
          <p:cNvSpPr/>
          <p:nvPr/>
        </p:nvSpPr>
        <p:spPr>
          <a:xfrm>
            <a:off x="609600" y="1341120"/>
            <a:ext cx="560832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609600" y="1341120"/>
            <a:ext cx="56083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706880"/>
            <a:ext cx="524256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Mexican peso bills and coins alongside Jamaican dollar, Cuban peso, and Eastern Caribbean dollar bills, arranged for comparison.</a:t>
            </a:r>
            <a:endParaRPr lang="en-US" sz="1100" dirty="0"/>
          </a:p>
        </p:txBody>
      </p:sp>
      <p:sp>
        <p:nvSpPr>
          <p:cNvPr id="7" name="Shape 5"/>
          <p:cNvSpPr/>
          <p:nvPr/>
        </p:nvSpPr>
        <p:spPr>
          <a:xfrm>
            <a:off x="6461760" y="1341120"/>
            <a:ext cx="4876800" cy="3657600"/>
          </a:xfrm>
          <a:prstGeom prst="roundRect">
            <a:avLst>
              <a:gd name="adj" fmla="val 4000"/>
            </a:avLst>
          </a:prstGeom>
          <a:solidFill>
            <a:srgbClr val="FFFFFF"/>
          </a:solidFill>
          <a:ln w="12700">
            <a:solidFill>
              <a:srgbClr val="D6DCEC"/>
            </a:solidFill>
            <a:prstDash val="solid"/>
          </a:ln>
        </p:spPr>
      </p:sp>
      <p:sp>
        <p:nvSpPr>
          <p:cNvPr id="8" name="Text 6"/>
          <p:cNvSpPr/>
          <p:nvPr/>
        </p:nvSpPr>
        <p:spPr>
          <a:xfrm>
            <a:off x="6705600" y="1524000"/>
            <a:ext cx="4389120" cy="42672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What do I see?</a:t>
            </a:r>
            <a:endParaRPr lang="en-US" sz="1300" dirty="0"/>
          </a:p>
        </p:txBody>
      </p:sp>
      <p:sp>
        <p:nvSpPr>
          <p:cNvPr id="9" name="Text 7"/>
          <p:cNvSpPr/>
          <p:nvPr/>
        </p:nvSpPr>
        <p:spPr>
          <a:xfrm>
            <a:off x="6705600" y="1975104"/>
            <a:ext cx="4389120" cy="12801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Mexican bills and coins, and the Caribbean bills. What words on them look unfamiliar? What colors stand out?</a:t>
            </a:r>
            <a:endParaRPr lang="en-US" sz="1200" dirty="0"/>
          </a:p>
        </p:txBody>
      </p:sp>
      <p:sp>
        <p:nvSpPr>
          <p:cNvPr id="10" name="Text 8"/>
          <p:cNvSpPr/>
          <p:nvPr/>
        </p:nvSpPr>
        <p:spPr>
          <a:xfrm>
            <a:off x="6705600" y="3291840"/>
            <a:ext cx="4389120" cy="42672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Pause &amp; Think</a:t>
            </a:r>
            <a:endParaRPr lang="en-US" sz="1300" dirty="0"/>
          </a:p>
        </p:txBody>
      </p:sp>
      <p:sp>
        <p:nvSpPr>
          <p:cNvPr id="11" name="Text 9"/>
          <p:cNvSpPr/>
          <p:nvPr/>
        </p:nvSpPr>
        <p:spPr>
          <a:xfrm>
            <a:off x="6705600" y="3742944"/>
            <a:ext cx="4389120" cy="12192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Three of these currencies are called "dollars," but they are not the same. Why might several different countries call their money by similar names but still have their own value?</a:t>
            </a:r>
            <a:endParaRPr lang="en-US" sz="1200" dirty="0"/>
          </a:p>
        </p:txBody>
      </p:sp>
      <p:sp>
        <p:nvSpPr>
          <p:cNvPr id="12" name="Text 10"/>
          <p:cNvSpPr/>
          <p:nvPr/>
        </p:nvSpPr>
        <p:spPr>
          <a:xfrm>
            <a:off x="609600" y="5303520"/>
            <a:ext cx="10728960" cy="609600"/>
          </a:xfrm>
          <a:prstGeom prst="rect">
            <a:avLst/>
          </a:prstGeom>
          <a:noFill/>
          <a:ln/>
        </p:spPr>
        <p:txBody>
          <a:bodyPr wrap="square" lIns="0" tIns="0" rIns="0" bIns="0"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5 seconds of quiet looking. Then type what you notice in the chat.</a:t>
            </a:r>
            <a:endParaRPr lang="en-US" sz="1200" dirty="0"/>
          </a:p>
        </p:txBody>
      </p:sp>
      <p:sp>
        <p:nvSpPr>
          <p:cNvPr id="13" name="Text 11"/>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DISCUSSION . TALK LIKE A CURATOR</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Same Name, Different Money?</a:t>
            </a:r>
            <a:endParaRPr lang="en-US" sz="2800" dirty="0"/>
          </a:p>
        </p:txBody>
      </p:sp>
      <p:sp>
        <p:nvSpPr>
          <p:cNvPr id="4" name="Shape 2"/>
          <p:cNvSpPr/>
          <p:nvPr/>
        </p:nvSpPr>
        <p:spPr>
          <a:xfrm>
            <a:off x="609600" y="1402080"/>
            <a:ext cx="5486400" cy="36576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5240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865376"/>
            <a:ext cx="4998720" cy="3072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Canada and the U.S. both say "dollar," are they worth the same amount? What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the word "peso" tell us about how old Mexican coins were once valued?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Jamaica, Cuba, and the Eastern Caribbean nations each need their own currency?</a:t>
            </a:r>
            <a:endParaRPr lang="en-US" sz="1100" dirty="0"/>
          </a:p>
        </p:txBody>
      </p:sp>
      <p:sp>
        <p:nvSpPr>
          <p:cNvPr id="7" name="Shape 5"/>
          <p:cNvSpPr/>
          <p:nvPr/>
        </p:nvSpPr>
        <p:spPr>
          <a:xfrm>
            <a:off x="6339840" y="1402080"/>
            <a:ext cx="4998720" cy="3657600"/>
          </a:xfrm>
          <a:prstGeom prst="roundRect">
            <a:avLst>
              <a:gd name="adj" fmla="val 4000"/>
            </a:avLst>
          </a:prstGeom>
          <a:solidFill>
            <a:srgbClr val="FFF3DC"/>
          </a:solidFill>
          <a:ln w="19050">
            <a:solidFill>
              <a:srgbClr val="F5E6C8"/>
            </a:solidFill>
            <a:prstDash val="solid"/>
          </a:ln>
        </p:spPr>
      </p:sp>
      <p:sp>
        <p:nvSpPr>
          <p:cNvPr id="8" name="Text 6"/>
          <p:cNvSpPr/>
          <p:nvPr/>
        </p:nvSpPr>
        <p:spPr>
          <a:xfrm>
            <a:off x="6522720" y="1475232"/>
            <a:ext cx="46329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522720" y="1743456"/>
            <a:ext cx="4632960" cy="3230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two 'dollars' are different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peso meant... but now I think..."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a:t>
            </a:r>
            <a:endParaRPr lang="en-US" sz="1200" dirty="0"/>
          </a:p>
        </p:txBody>
      </p:sp>
      <p:sp>
        <p:nvSpPr>
          <p:cNvPr id="10" name="Text 8"/>
          <p:cNvSpPr/>
          <p:nvPr/>
        </p:nvSpPr>
        <p:spPr>
          <a:xfrm>
            <a:off x="609600" y="5181600"/>
            <a:ext cx="10728960" cy="731520"/>
          </a:xfrm>
          <a:prstGeom prst="rect">
            <a:avLst/>
          </a:prstGeom>
          <a:noFill/>
          <a:ln/>
        </p:spPr>
        <p:txBody>
          <a:bodyPr wrap="square" lIns="0" tIns="0" rIns="0" bIns="0" rtlCol="0" anchor="t"/>
          <a:lstStyle/>
          <a:p>
            <a:pPr indent="0" marL="0">
              <a:buNone/>
            </a:pPr>
            <a:r>
              <a:rPr lang="en-US" sz="1100" i="1" dirty="0">
                <a:solidFill>
                  <a:srgbClr val="7A88A8"/>
                </a:solidFill>
                <a:latin typeface="Calibri" pitchFamily="34" charset="0"/>
                <a:ea typeface="Calibri" pitchFamily="34" charset="-122"/>
                <a:cs typeface="Calibri" pitchFamily="34" charset="-120"/>
              </a:rPr>
              <a:t>Then &amp; Now: Long ago, travelers found a money-changer at the border. Today, people use apps and banks. What stayed the same about needing to switch currencies?</a:t>
            </a:r>
            <a:endParaRPr lang="en-US" sz="1100" dirty="0"/>
          </a:p>
        </p:txBody>
      </p:sp>
      <p:sp>
        <p:nvSpPr>
          <p:cNvPr id="11" name="Text 9"/>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REVEAL . YOU DISCOVERED IT</a:t>
            </a:r>
            <a:endParaRPr lang="en-US" sz="1200" dirty="0"/>
          </a:p>
        </p:txBody>
      </p:sp>
      <p:sp>
        <p:nvSpPr>
          <p:cNvPr id="6" name="Text 3"/>
          <p:cNvSpPr/>
          <p:nvPr/>
        </p:nvSpPr>
        <p:spPr>
          <a:xfrm>
            <a:off x="853440" y="487680"/>
            <a:ext cx="10485120" cy="975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Mexican Peso &amp; Caribbean Currencies</a:t>
            </a:r>
            <a:endParaRPr lang="en-US" sz="2400" dirty="0"/>
          </a:p>
        </p:txBody>
      </p:sp>
      <p:sp>
        <p:nvSpPr>
          <p:cNvPr id="7" name="Text 4"/>
          <p:cNvSpPr/>
          <p:nvPr/>
        </p:nvSpPr>
        <p:spPr>
          <a:xfrm>
            <a:off x="853440" y="1950720"/>
            <a:ext cx="10241280" cy="1219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Mexico: the Mexican peso. The word peso means "weight" in Spanish -- a reminder of older times when coins were valued by how much they weighed.</a:t>
            </a:r>
            <a:endParaRPr lang="en-US" sz="1400" dirty="0"/>
          </a:p>
        </p:txBody>
      </p:sp>
      <p:sp>
        <p:nvSpPr>
          <p:cNvPr id="8" name="Text 5"/>
          <p:cNvSpPr/>
          <p:nvPr/>
        </p:nvSpPr>
        <p:spPr>
          <a:xfrm>
            <a:off x="853440" y="3291840"/>
            <a:ext cx="1024128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The Caribbean: Jamaica uses the Jamaican dollar. Cuba uses the Cuban peso. Eight smaller island nations share one currency called the Eastern Caribbean dollar.</a:t>
            </a:r>
            <a:endParaRPr lang="en-US" sz="1400" dirty="0"/>
          </a:p>
        </p:txBody>
      </p:sp>
      <p:sp>
        <p:nvSpPr>
          <p:cNvPr id="9" name="Text 6"/>
          <p:cNvSpPr/>
          <p:nvPr/>
        </p:nvSpPr>
        <p:spPr>
          <a:xfrm>
            <a:off x="853440" y="5120640"/>
            <a:ext cx="10241280" cy="731520"/>
          </a:xfrm>
          <a:prstGeom prst="rect">
            <a:avLst/>
          </a:prstGeom>
          <a:noFill/>
          <a:ln/>
        </p:spPr>
        <p:txBody>
          <a:bodyPr wrap="square" lIns="0" tIns="0" rIns="0" bIns="0" rtlCol="0" anchor="t"/>
          <a:lstStyle/>
          <a:p>
            <a:pPr indent="0" marL="0">
              <a:buNone/>
            </a:pPr>
            <a:r>
              <a:rPr lang="en-US" sz="1200" i="1" dirty="0">
                <a:solidFill>
                  <a:srgbClr val="D4943A"/>
                </a:solidFill>
                <a:latin typeface="Calibri" pitchFamily="34" charset="0"/>
                <a:ea typeface="Calibri" pitchFamily="34" charset="-122"/>
                <a:cs typeface="Calibri" pitchFamily="34" charset="-120"/>
              </a:rPr>
              <a:t>Retrieval Challenge: Cover your screen. Name all four currencies from memory.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BIG PICTURE . WHY IT MATTERS</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Same Four Rules, Every Time</a:t>
            </a:r>
            <a:endParaRPr lang="en-US" sz="2800" dirty="0"/>
          </a:p>
        </p:txBody>
      </p:sp>
      <p:sp>
        <p:nvSpPr>
          <p:cNvPr id="4" name="Text 2"/>
          <p:cNvSpPr/>
          <p:nvPr/>
        </p:nvSpPr>
        <p:spPr>
          <a:xfrm>
            <a:off x="609600" y="1341120"/>
            <a:ext cx="10728960" cy="10363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Every currency we compared today -- the U.S. dollar, the Canadian dollar, the Mexican peso, and the Caribbean currencies -- follows the same four rules of good money:</a:t>
            </a:r>
            <a:endParaRPr lang="en-US" sz="1300" dirty="0"/>
          </a:p>
        </p:txBody>
      </p:sp>
      <p:sp>
        <p:nvSpPr>
          <p:cNvPr id="5" name="Shape 3"/>
          <p:cNvSpPr/>
          <p:nvPr/>
        </p:nvSpPr>
        <p:spPr>
          <a:xfrm>
            <a:off x="609600" y="2438400"/>
            <a:ext cx="4876800" cy="1402080"/>
          </a:xfrm>
          <a:prstGeom prst="roundRect">
            <a:avLst>
              <a:gd name="adj" fmla="val 10435"/>
            </a:avLst>
          </a:prstGeom>
          <a:solidFill>
            <a:srgbClr val="E3F8ED"/>
          </a:solidFill>
          <a:ln w="12700">
            <a:solidFill>
              <a:srgbClr val="D6DCEC"/>
            </a:solidFill>
            <a:prstDash val="solid"/>
          </a:ln>
        </p:spPr>
      </p:sp>
      <p:sp>
        <p:nvSpPr>
          <p:cNvPr id="6" name="Text 4"/>
          <p:cNvSpPr/>
          <p:nvPr/>
        </p:nvSpPr>
        <p:spPr>
          <a:xfrm>
            <a:off x="853440" y="2621280"/>
            <a:ext cx="4389120" cy="1036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1. It lasts.</a:t>
            </a:r>
            <a:endParaRPr lang="en-US" sz="1300" dirty="0"/>
          </a:p>
          <a:p>
            <a:pPr indent="0" marL="0">
              <a:buNone/>
            </a:pPr>
            <a:r>
              <a:rPr lang="en-US" sz="1300" b="1" dirty="0">
                <a:solidFill>
                  <a:srgbClr val="0E1C42"/>
                </a:solidFill>
                <a:latin typeface="Calibri" pitchFamily="34" charset="0"/>
                <a:ea typeface="Calibri" pitchFamily="34" charset="-122"/>
                <a:cs typeface="Calibri" pitchFamily="34" charset="-120"/>
              </a:rPr>
              <a:t>2. It's easy to carry.</a:t>
            </a:r>
            <a:endParaRPr lang="en-US" sz="1300" dirty="0"/>
          </a:p>
        </p:txBody>
      </p:sp>
      <p:sp>
        <p:nvSpPr>
          <p:cNvPr id="7" name="Shape 5"/>
          <p:cNvSpPr/>
          <p:nvPr/>
        </p:nvSpPr>
        <p:spPr>
          <a:xfrm>
            <a:off x="5730240" y="2438400"/>
            <a:ext cx="5608320" cy="1402080"/>
          </a:xfrm>
          <a:prstGeom prst="roundRect">
            <a:avLst>
              <a:gd name="adj" fmla="val 10435"/>
            </a:avLst>
          </a:prstGeom>
          <a:solidFill>
            <a:srgbClr val="E3F8ED"/>
          </a:solidFill>
          <a:ln w="12700">
            <a:solidFill>
              <a:srgbClr val="D6DCEC"/>
            </a:solidFill>
            <a:prstDash val="solid"/>
          </a:ln>
        </p:spPr>
      </p:sp>
      <p:sp>
        <p:nvSpPr>
          <p:cNvPr id="8" name="Text 6"/>
          <p:cNvSpPr/>
          <p:nvPr/>
        </p:nvSpPr>
        <p:spPr>
          <a:xfrm>
            <a:off x="5974080" y="2621280"/>
            <a:ext cx="5120640" cy="1036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3. It's easy to count.</a:t>
            </a:r>
            <a:endParaRPr lang="en-US" sz="1300" dirty="0"/>
          </a:p>
          <a:p>
            <a:pPr indent="0" marL="0">
              <a:buNone/>
            </a:pPr>
            <a:r>
              <a:rPr lang="en-US" sz="1300" b="1" dirty="0">
                <a:solidFill>
                  <a:srgbClr val="0E1C42"/>
                </a:solidFill>
                <a:latin typeface="Calibri" pitchFamily="34" charset="0"/>
                <a:ea typeface="Calibri" pitchFamily="34" charset="-122"/>
                <a:cs typeface="Calibri" pitchFamily="34" charset="-120"/>
              </a:rPr>
              <a:t>4. It's trusted by the people who use it.</a:t>
            </a:r>
            <a:endParaRPr lang="en-US" sz="1300" dirty="0"/>
          </a:p>
        </p:txBody>
      </p:sp>
      <p:sp>
        <p:nvSpPr>
          <p:cNvPr id="9" name="Shape 7"/>
          <p:cNvSpPr/>
          <p:nvPr/>
        </p:nvSpPr>
        <p:spPr>
          <a:xfrm>
            <a:off x="609600" y="4023360"/>
            <a:ext cx="10728960" cy="2072640"/>
          </a:xfrm>
          <a:prstGeom prst="roundRect">
            <a:avLst>
              <a:gd name="adj" fmla="val 7059"/>
            </a:avLst>
          </a:prstGeom>
          <a:solidFill>
            <a:srgbClr val="EAF8FD"/>
          </a:solidFill>
          <a:ln w="12700">
            <a:solidFill>
              <a:srgbClr val="D6DCEC"/>
            </a:solidFill>
            <a:prstDash val="solid"/>
          </a:ln>
        </p:spPr>
      </p:sp>
      <p:sp>
        <p:nvSpPr>
          <p:cNvPr id="10" name="Text 8"/>
          <p:cNvSpPr/>
          <p:nvPr/>
        </p:nvSpPr>
        <p:spPr>
          <a:xfrm>
            <a:off x="853440" y="4206240"/>
            <a:ext cx="10241280" cy="170688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Opti says: A single U.S. dollar and a single Canadian dollar are NOT worth the same amount. Their values change every day -- that's why travelers exchange money instead of just spending it across the border. Different countries can share a name like "dollar" and still be trusted only in their own country.</a:t>
            </a:r>
            <a:endParaRPr lang="en-US" sz="1300" dirty="0"/>
          </a:p>
        </p:txBody>
      </p:sp>
      <p:sp>
        <p:nvSpPr>
          <p:cNvPr id="11" name="Text 9"/>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GUIDED PRACTICE . TEACHER MODELS</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Watch Me Think Like a Curator</a:t>
            </a:r>
            <a:endParaRPr lang="en-US" sz="2800" dirty="0"/>
          </a:p>
        </p:txBody>
      </p:sp>
      <p:sp>
        <p:nvSpPr>
          <p:cNvPr id="4" name="Shape 2"/>
          <p:cNvSpPr/>
          <p:nvPr/>
        </p:nvSpPr>
        <p:spPr>
          <a:xfrm>
            <a:off x="609600" y="1402080"/>
            <a:ext cx="10728960" cy="3169920"/>
          </a:xfrm>
          <a:prstGeom prst="roundRect">
            <a:avLst>
              <a:gd name="adj" fmla="val 4615"/>
            </a:avLst>
          </a:prstGeom>
          <a:solidFill>
            <a:srgbClr val="FFFFFF"/>
          </a:solidFill>
          <a:ln w="12700">
            <a:solidFill>
              <a:srgbClr val="D6DCEC"/>
            </a:solidFill>
            <a:prstDash val="solid"/>
          </a:ln>
        </p:spPr>
      </p:sp>
      <p:sp>
        <p:nvSpPr>
          <p:cNvPr id="5" name="Text 3"/>
          <p:cNvSpPr/>
          <p:nvPr/>
        </p:nvSpPr>
        <p:spPr>
          <a:xfrm>
            <a:off x="914400" y="1645920"/>
            <a:ext cx="10119360" cy="42672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Teacher think-aloud:</a:t>
            </a:r>
            <a:endParaRPr lang="en-US" sz="1300" dirty="0"/>
          </a:p>
        </p:txBody>
      </p:sp>
      <p:sp>
        <p:nvSpPr>
          <p:cNvPr id="6" name="Text 4"/>
          <p:cNvSpPr/>
          <p:nvPr/>
        </p:nvSpPr>
        <p:spPr>
          <a:xfrm>
            <a:off x="914400" y="2133600"/>
            <a:ext cx="10119360" cy="231648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"Mexico uses the peso. I remember the word means 'weight' in Spanish -- that's a detail straight from the lesson. It's a clue from when coins were valued by how heavy they were. So if I were answering the evidence question about Mexico, I'd write: Mexico uses the Mexican peso, and the word peso means weight in Spanish because coins used to be valued by how much they weighed."</a:t>
            </a:r>
            <a:endParaRPr lang="en-US" sz="1300" dirty="0"/>
          </a:p>
        </p:txBody>
      </p:sp>
      <p:sp>
        <p:nvSpPr>
          <p:cNvPr id="7" name="Text 5"/>
          <p:cNvSpPr/>
          <p:nvPr/>
        </p:nvSpPr>
        <p:spPr>
          <a:xfrm>
            <a:off x="609600" y="4815840"/>
            <a:ext cx="10728960" cy="853440"/>
          </a:xfrm>
          <a:prstGeom prst="rect">
            <a:avLst/>
          </a:prstGeom>
          <a:noFill/>
          <a:ln/>
        </p:spPr>
        <p:txBody>
          <a:bodyPr wrap="square" lIns="0" tIns="0" rIns="0" bIns="0" rtlCol="0" anchor="t"/>
          <a:lstStyle/>
          <a:p>
            <a:pPr indent="0" marL="0">
              <a:buNone/>
            </a:pPr>
            <a:r>
              <a:rPr lang="en-US" sz="1200" dirty="0">
                <a:solidFill>
                  <a:srgbClr val="7A88A8"/>
                </a:solidFill>
                <a:latin typeface="Calibri" pitchFamily="34" charset="0"/>
                <a:ea typeface="Calibri" pitchFamily="34" charset="-122"/>
                <a:cs typeface="Calibri" pitchFamily="34" charset="-120"/>
              </a:rPr>
              <a:t>Notice: I named the currency AND gave one detail from the lesson -- exactly what Evidence Question 1 will ask for.</a:t>
            </a:r>
            <a:endParaRPr lang="en-US" sz="1200" dirty="0"/>
          </a:p>
        </p:txBody>
      </p:sp>
      <p:sp>
        <p:nvSpPr>
          <p:cNvPr id="8" name="Text 6"/>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WE TRY TOGETHER</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Let's Build One Together</a:t>
            </a:r>
            <a:endParaRPr lang="en-US" sz="2800" dirty="0"/>
          </a:p>
        </p:txBody>
      </p:sp>
      <p:sp>
        <p:nvSpPr>
          <p:cNvPr id="4" name="Shape 2"/>
          <p:cNvSpPr/>
          <p:nvPr/>
        </p:nvSpPr>
        <p:spPr>
          <a:xfrm>
            <a:off x="609600" y="1402080"/>
            <a:ext cx="5486400" cy="36576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5240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865376"/>
            <a:ext cx="4998720" cy="3072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currency used in Canada? What detail from the lesson could we add?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currency used in Jamaica, Cuba, or the Eastern Caribbean nations?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four rules of money could explain why all these currencies work?</a:t>
            </a:r>
            <a:endParaRPr lang="en-US" sz="1100" dirty="0"/>
          </a:p>
        </p:txBody>
      </p:sp>
      <p:sp>
        <p:nvSpPr>
          <p:cNvPr id="7" name="Shape 5"/>
          <p:cNvSpPr/>
          <p:nvPr/>
        </p:nvSpPr>
        <p:spPr>
          <a:xfrm>
            <a:off x="6339840" y="1402080"/>
            <a:ext cx="4998720" cy="3657600"/>
          </a:xfrm>
          <a:prstGeom prst="roundRect">
            <a:avLst>
              <a:gd name="adj" fmla="val 4000"/>
            </a:avLst>
          </a:prstGeom>
          <a:solidFill>
            <a:srgbClr val="FFF3DC"/>
          </a:solidFill>
          <a:ln w="19050">
            <a:solidFill>
              <a:srgbClr val="F5E6C8"/>
            </a:solidFill>
            <a:prstDash val="solid"/>
          </a:ln>
        </p:spPr>
      </p:sp>
      <p:sp>
        <p:nvSpPr>
          <p:cNvPr id="8" name="Text 6"/>
          <p:cNvSpPr/>
          <p:nvPr/>
        </p:nvSpPr>
        <p:spPr>
          <a:xfrm>
            <a:off x="6522720" y="1475232"/>
            <a:ext cx="46329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522720" y="1743456"/>
            <a:ext cx="4632960" cy="3230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"Canada uses the... and one fact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Caribbean currency is... and it is used in..."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"These currencies are the same because..."</a:t>
            </a:r>
            <a:endParaRPr lang="en-US" sz="1200" dirty="0"/>
          </a:p>
        </p:txBody>
      </p:sp>
      <p:sp>
        <p:nvSpPr>
          <p:cNvPr id="10" name="Text 8"/>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GUIDED PRACTICE . YOUR TURN</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Try It With Your Partner</a:t>
            </a:r>
            <a:endParaRPr lang="en-US" sz="2800" dirty="0"/>
          </a:p>
        </p:txBody>
      </p:sp>
      <p:sp>
        <p:nvSpPr>
          <p:cNvPr id="4" name="Shape 2"/>
          <p:cNvSpPr/>
          <p:nvPr/>
        </p:nvSpPr>
        <p:spPr>
          <a:xfrm>
            <a:off x="609600" y="1402080"/>
            <a:ext cx="10728960" cy="3535680"/>
          </a:xfrm>
          <a:prstGeom prst="roundRect">
            <a:avLst>
              <a:gd name="adj" fmla="val 4138"/>
            </a:avLst>
          </a:prstGeom>
          <a:solidFill>
            <a:srgbClr val="FFFFFF"/>
          </a:solidFill>
          <a:ln w="12700">
            <a:solidFill>
              <a:srgbClr val="D6DCEC"/>
            </a:solidFill>
            <a:prstDash val="solid"/>
          </a:ln>
        </p:spPr>
      </p:sp>
      <p:sp>
        <p:nvSpPr>
          <p:cNvPr id="5" name="Text 3"/>
          <p:cNvSpPr/>
          <p:nvPr/>
        </p:nvSpPr>
        <p:spPr>
          <a:xfrm>
            <a:off x="914400" y="1645920"/>
            <a:ext cx="10119360" cy="4876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With a partner or on your own, practice saying (not yet writing):</a:t>
            </a:r>
            <a:endParaRPr lang="en-US" sz="1300" dirty="0"/>
          </a:p>
        </p:txBody>
      </p:sp>
      <p:sp>
        <p:nvSpPr>
          <p:cNvPr id="6" name="Text 4"/>
          <p:cNvSpPr/>
          <p:nvPr/>
        </p:nvSpPr>
        <p:spPr>
          <a:xfrm>
            <a:off x="914400" y="2255520"/>
            <a:ext cx="10119360" cy="24384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Checklist for a strong answer:</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1. Did I name the currency correctly (U.S. dollar, Canadian dollar, Mexican peso, or a Caribbean currency)?</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2. Did I add one real detail from the lesson?</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3. Did I use a respectful, courteous description -- the way that country's own people would describe it?</a:t>
            </a:r>
            <a:endParaRPr lang="en-US" sz="1300" dirty="0"/>
          </a:p>
        </p:txBody>
      </p:sp>
      <p:sp>
        <p:nvSpPr>
          <p:cNvPr id="7" name="Text 5"/>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ERROR ANALYSIS</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Find the Curator's Mistake</a:t>
            </a:r>
            <a:endParaRPr lang="en-US" sz="2800" dirty="0"/>
          </a:p>
        </p:txBody>
      </p:sp>
      <p:sp>
        <p:nvSpPr>
          <p:cNvPr id="4" name="Shape 2"/>
          <p:cNvSpPr/>
          <p:nvPr/>
        </p:nvSpPr>
        <p:spPr>
          <a:xfrm>
            <a:off x="609600" y="1402080"/>
            <a:ext cx="10728960" cy="1828800"/>
          </a:xfrm>
          <a:prstGeom prst="roundRect">
            <a:avLst>
              <a:gd name="adj" fmla="val 8000"/>
            </a:avLst>
          </a:prstGeom>
          <a:solidFill>
            <a:srgbClr val="FCE9E9"/>
          </a:solidFill>
          <a:ln w="12700">
            <a:solidFill>
              <a:srgbClr val="D6DCEC"/>
            </a:solidFill>
            <a:prstDash val="solid"/>
          </a:ln>
        </p:spPr>
      </p:sp>
      <p:sp>
        <p:nvSpPr>
          <p:cNvPr id="5" name="Text 3"/>
          <p:cNvSpPr/>
          <p:nvPr/>
        </p:nvSpPr>
        <p:spPr>
          <a:xfrm>
            <a:off x="914400" y="1584960"/>
            <a:ext cx="10119360" cy="426720"/>
          </a:xfrm>
          <a:prstGeom prst="rect">
            <a:avLst/>
          </a:prstGeom>
          <a:noFill/>
          <a:ln/>
        </p:spPr>
        <p:txBody>
          <a:bodyPr wrap="square" lIns="0" tIns="0" rIns="0" bIns="0" rtlCol="0" anchor="t"/>
          <a:lstStyle/>
          <a:p>
            <a:pPr indent="0" marL="0">
              <a:buNone/>
            </a:pPr>
            <a:r>
              <a:rPr lang="en-US" sz="1200" b="1" dirty="0">
                <a:solidFill>
                  <a:srgbClr val="E8636B"/>
                </a:solidFill>
                <a:latin typeface="Calibri" pitchFamily="34" charset="0"/>
                <a:ea typeface="Calibri" pitchFamily="34" charset="-122"/>
                <a:cs typeface="Calibri" pitchFamily="34" charset="-120"/>
              </a:rPr>
              <a:t>A student curator wrote this display card:</a:t>
            </a:r>
            <a:endParaRPr lang="en-US" sz="1200" dirty="0"/>
          </a:p>
        </p:txBody>
      </p:sp>
      <p:sp>
        <p:nvSpPr>
          <p:cNvPr id="6" name="Text 4"/>
          <p:cNvSpPr/>
          <p:nvPr/>
        </p:nvSpPr>
        <p:spPr>
          <a:xfrm>
            <a:off x="914400" y="2072640"/>
            <a:ext cx="10119360" cy="1036320"/>
          </a:xfrm>
          <a:prstGeom prst="rect">
            <a:avLst/>
          </a:prstGeom>
          <a:noFill/>
          <a:ln/>
        </p:spPr>
        <p:txBody>
          <a:bodyPr wrap="square" lIns="0" tIns="0" rIns="0" bIns="0" rtlCol="0" anchor="t"/>
          <a:lstStyle/>
          <a:p>
            <a:pPr indent="0" marL="0">
              <a:buNone/>
            </a:pPr>
            <a:r>
              <a:rPr lang="en-US" sz="1400" i="1" dirty="0">
                <a:solidFill>
                  <a:srgbClr val="E8636B"/>
                </a:solidFill>
                <a:latin typeface="Calibri" pitchFamily="34" charset="0"/>
                <a:ea typeface="Calibri" pitchFamily="34" charset="-122"/>
                <a:cs typeface="Calibri" pitchFamily="34" charset="-120"/>
              </a:rPr>
              <a:t>"Canada uses the Mexican loonie, which is worth the exact same amount as a U.S. dollar."</a:t>
            </a:r>
            <a:endParaRPr lang="en-US" sz="1400" dirty="0"/>
          </a:p>
        </p:txBody>
      </p:sp>
      <p:sp>
        <p:nvSpPr>
          <p:cNvPr id="7" name="Shape 5"/>
          <p:cNvSpPr/>
          <p:nvPr/>
        </p:nvSpPr>
        <p:spPr>
          <a:xfrm>
            <a:off x="609600" y="3474720"/>
            <a:ext cx="10728960" cy="195072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853440" y="3596640"/>
            <a:ext cx="102412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853440" y="3938016"/>
            <a:ext cx="10241280" cy="13655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two mistakes do you notice in this sentence?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correct name for Canada's currency and its coin nickname?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not accurate to say a Canadian dollar equals a U.S. dollar?</a:t>
            </a:r>
            <a:endParaRPr lang="en-US" sz="1100" dirty="0"/>
          </a:p>
        </p:txBody>
      </p:sp>
      <p:sp>
        <p:nvSpPr>
          <p:cNvPr id="10" name="Text 8"/>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GUIDED PRACTICE . THE TRICKY ONE</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Debate: Same Word, Different Money</a:t>
            </a:r>
            <a:endParaRPr lang="en-US" sz="2800" dirty="0"/>
          </a:p>
        </p:txBody>
      </p:sp>
      <p:sp>
        <p:nvSpPr>
          <p:cNvPr id="4" name="Text 2"/>
          <p:cNvSpPr/>
          <p:nvPr/>
        </p:nvSpPr>
        <p:spPr>
          <a:xfrm>
            <a:off x="609600" y="1402080"/>
            <a:ext cx="10728960" cy="12192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United States, Canada, and several Caribbean nations all use the word "dollar" for their money. But a U.S. dollar, a Canadian dollar, and a Jamaican dollar are not worth the same amount.</a:t>
            </a:r>
            <a:endParaRPr lang="en-US" sz="1300" dirty="0"/>
          </a:p>
        </p:txBody>
      </p:sp>
      <p:sp>
        <p:nvSpPr>
          <p:cNvPr id="5" name="Shape 3"/>
          <p:cNvSpPr/>
          <p:nvPr/>
        </p:nvSpPr>
        <p:spPr>
          <a:xfrm>
            <a:off x="609600" y="2621280"/>
            <a:ext cx="10728960" cy="24384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743200"/>
            <a:ext cx="102412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3084576"/>
            <a:ext cx="10241280" cy="18531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courteous to call all of these "the same money" just because they share a name?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change someone's mind about whether sharing a name matters?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reason countries chose similar names for their currencies?</a:t>
            </a:r>
            <a:endParaRPr lang="en-US" sz="1100" dirty="0"/>
          </a:p>
        </p:txBody>
      </p:sp>
      <p:sp>
        <p:nvSpPr>
          <p:cNvPr id="8" name="Text 6"/>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QUICK SELF-CHECK</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How Much Stuck?</a:t>
            </a:r>
            <a:endParaRPr lang="en-US" sz="2800" dirty="0"/>
          </a:p>
        </p:txBody>
      </p:sp>
      <p:sp>
        <p:nvSpPr>
          <p:cNvPr id="4" name="Shape 2"/>
          <p:cNvSpPr/>
          <p:nvPr/>
        </p:nvSpPr>
        <p:spPr>
          <a:xfrm>
            <a:off x="609600" y="1341120"/>
            <a:ext cx="10728960" cy="1463040"/>
          </a:xfrm>
          <a:prstGeom prst="roundRect">
            <a:avLst>
              <a:gd name="adj" fmla="val 10000"/>
            </a:avLst>
          </a:prstGeom>
          <a:solidFill>
            <a:srgbClr val="FFFFFF"/>
          </a:solidFill>
          <a:ln w="12700">
            <a:solidFill>
              <a:srgbClr val="D6DCEC"/>
            </a:solidFill>
            <a:prstDash val="solid"/>
          </a:ln>
        </p:spPr>
      </p:sp>
      <p:sp>
        <p:nvSpPr>
          <p:cNvPr id="5" name="Text 3"/>
          <p:cNvSpPr/>
          <p:nvPr/>
        </p:nvSpPr>
        <p:spPr>
          <a:xfrm>
            <a:off x="853440" y="1524000"/>
            <a:ext cx="10241280" cy="8534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1. What is the name of the currency used in Mexico?</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The Mexican dollar   B. The Mexican peso   C. The Mexican loonie</a:t>
            </a:r>
            <a:endParaRPr lang="en-US" sz="1200" dirty="0"/>
          </a:p>
        </p:txBody>
      </p:sp>
      <p:sp>
        <p:nvSpPr>
          <p:cNvPr id="6" name="Text 4"/>
          <p:cNvSpPr/>
          <p:nvPr/>
        </p:nvSpPr>
        <p:spPr>
          <a:xfrm>
            <a:off x="853440" y="2255520"/>
            <a:ext cx="10241280" cy="426720"/>
          </a:xfrm>
          <a:prstGeom prst="rect">
            <a:avLst/>
          </a:prstGeom>
          <a:noFill/>
          <a:ln/>
        </p:spPr>
        <p:txBody>
          <a:bodyPr wrap="square" lIns="0" tIns="0" rIns="0" bIns="0" rtlCol="0" anchor="t"/>
          <a:lstStyle/>
          <a:p>
            <a:pPr indent="0" marL="0">
              <a:buNone/>
            </a:pPr>
            <a:r>
              <a:rPr lang="en-US" sz="1100" b="1" dirty="0">
                <a:solidFill>
                  <a:srgbClr val="34B76F"/>
                </a:solidFill>
                <a:latin typeface="Calibri" pitchFamily="34" charset="0"/>
                <a:ea typeface="Calibri" pitchFamily="34" charset="-122"/>
                <a:cs typeface="Calibri" pitchFamily="34" charset="-120"/>
              </a:rPr>
              <a:t>Answer: B -- The Mexican peso. The word peso means "weight" in Spanish.</a:t>
            </a:r>
            <a:endParaRPr lang="en-US" sz="1100" dirty="0"/>
          </a:p>
        </p:txBody>
      </p:sp>
      <p:sp>
        <p:nvSpPr>
          <p:cNvPr id="7" name="Shape 5"/>
          <p:cNvSpPr/>
          <p:nvPr/>
        </p:nvSpPr>
        <p:spPr>
          <a:xfrm>
            <a:off x="609600" y="2987040"/>
            <a:ext cx="10728960" cy="1645920"/>
          </a:xfrm>
          <a:prstGeom prst="roundRect">
            <a:avLst>
              <a:gd name="adj" fmla="val 8889"/>
            </a:avLst>
          </a:prstGeom>
          <a:solidFill>
            <a:srgbClr val="FFFFFF"/>
          </a:solidFill>
          <a:ln w="12700">
            <a:solidFill>
              <a:srgbClr val="D6DCEC"/>
            </a:solidFill>
            <a:prstDash val="solid"/>
          </a:ln>
        </p:spPr>
      </p:sp>
      <p:sp>
        <p:nvSpPr>
          <p:cNvPr id="8" name="Text 6"/>
          <p:cNvSpPr/>
          <p:nvPr/>
        </p:nvSpPr>
        <p:spPr>
          <a:xfrm>
            <a:off x="853440" y="3169920"/>
            <a:ext cx="10241280" cy="11582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2. Even though Canada and the U.S. both use "dollars," why are they not the same currency?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Bills are the same size   B. They share one government   C. Each country prints and trusts its own money -- they look different and can be worth different amounts</a:t>
            </a:r>
            <a:endParaRPr lang="en-US" sz="1200" dirty="0"/>
          </a:p>
        </p:txBody>
      </p:sp>
      <p:sp>
        <p:nvSpPr>
          <p:cNvPr id="9" name="Text 7"/>
          <p:cNvSpPr/>
          <p:nvPr/>
        </p:nvSpPr>
        <p:spPr>
          <a:xfrm>
            <a:off x="853440" y="4389120"/>
            <a:ext cx="10241280" cy="365760"/>
          </a:xfrm>
          <a:prstGeom prst="rect">
            <a:avLst/>
          </a:prstGeom>
          <a:noFill/>
          <a:ln/>
        </p:spPr>
        <p:txBody>
          <a:bodyPr wrap="square" lIns="0" tIns="0" rIns="0" bIns="0" rtlCol="0" anchor="t"/>
          <a:lstStyle/>
          <a:p>
            <a:pPr indent="0" marL="0">
              <a:buNone/>
            </a:pPr>
            <a:r>
              <a:rPr lang="en-US" sz="1100" b="1" dirty="0">
                <a:solidFill>
                  <a:srgbClr val="34B76F"/>
                </a:solidFill>
                <a:latin typeface="Calibri" pitchFamily="34" charset="0"/>
                <a:ea typeface="Calibri" pitchFamily="34" charset="-122"/>
                <a:cs typeface="Calibri" pitchFamily="34" charset="-120"/>
              </a:rPr>
              <a:t>Answer: C -- Same word, different country, different money.</a:t>
            </a:r>
            <a:endParaRPr lang="en-US" sz="1100" dirty="0"/>
          </a:p>
        </p:txBody>
      </p:sp>
      <p:sp>
        <p:nvSpPr>
          <p:cNvPr id="10" name="Shape 8"/>
          <p:cNvSpPr/>
          <p:nvPr/>
        </p:nvSpPr>
        <p:spPr>
          <a:xfrm>
            <a:off x="609600" y="4876800"/>
            <a:ext cx="10728960" cy="1645920"/>
          </a:xfrm>
          <a:prstGeom prst="roundRect">
            <a:avLst>
              <a:gd name="adj" fmla="val 8889"/>
            </a:avLst>
          </a:prstGeom>
          <a:solidFill>
            <a:srgbClr val="FFFFFF"/>
          </a:solidFill>
          <a:ln w="12700">
            <a:solidFill>
              <a:srgbClr val="D6DCEC"/>
            </a:solidFill>
            <a:prstDash val="solid"/>
          </a:ln>
        </p:spPr>
      </p:sp>
      <p:sp>
        <p:nvSpPr>
          <p:cNvPr id="11" name="Text 9"/>
          <p:cNvSpPr/>
          <p:nvPr/>
        </p:nvSpPr>
        <p:spPr>
          <a:xfrm>
            <a:off x="853440" y="5059680"/>
            <a:ext cx="10241280" cy="11582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3. What is courteous about the way a curator describes another country's money?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Uses the country's own name and respects the pictures on it   B. Tries to convince visitors one currency is better   C. Changes the color of the bills</a:t>
            </a:r>
            <a:endParaRPr lang="en-US" sz="1200" dirty="0"/>
          </a:p>
        </p:txBody>
      </p:sp>
      <p:sp>
        <p:nvSpPr>
          <p:cNvPr id="12" name="Text 10"/>
          <p:cNvSpPr/>
          <p:nvPr/>
        </p:nvSpPr>
        <p:spPr>
          <a:xfrm>
            <a:off x="853440" y="6278880"/>
            <a:ext cx="10241280" cy="365760"/>
          </a:xfrm>
          <a:prstGeom prst="rect">
            <a:avLst/>
          </a:prstGeom>
          <a:noFill/>
          <a:ln/>
        </p:spPr>
        <p:txBody>
          <a:bodyPr wrap="square" lIns="0" tIns="0" rIns="0" bIns="0" rtlCol="0" anchor="t"/>
          <a:lstStyle/>
          <a:p>
            <a:pPr indent="0" marL="0">
              <a:buNone/>
            </a:pPr>
            <a:r>
              <a:rPr lang="en-US" sz="1100" b="1" dirty="0">
                <a:solidFill>
                  <a:srgbClr val="34B76F"/>
                </a:solidFill>
                <a:latin typeface="Calibri" pitchFamily="34" charset="0"/>
                <a:ea typeface="Calibri" pitchFamily="34" charset="-122"/>
                <a:cs typeface="Calibri" pitchFamily="34" charset="-120"/>
              </a:rPr>
              <a:t>Answer: A -- Uses correct names and treats every country's money with respect.</a:t>
            </a:r>
            <a:endParaRPr lang="en-US" sz="1100" dirty="0"/>
          </a:p>
        </p:txBody>
      </p:sp>
      <p:sp>
        <p:nvSpPr>
          <p:cNvPr id="13" name="Text 11"/>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EVIDENCE &amp; ASSIGNMENT</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You'll Turn In: Evidence Questions</a:t>
            </a:r>
            <a:endParaRPr lang="en-US" sz="2800" dirty="0"/>
          </a:p>
        </p:txBody>
      </p:sp>
      <p:sp>
        <p:nvSpPr>
          <p:cNvPr id="4" name="Shape 2"/>
          <p:cNvSpPr/>
          <p:nvPr/>
        </p:nvSpPr>
        <p:spPr>
          <a:xfrm>
            <a:off x="609600" y="1402080"/>
            <a:ext cx="10728960" cy="2072640"/>
          </a:xfrm>
          <a:prstGeom prst="roundRect">
            <a:avLst>
              <a:gd name="adj" fmla="val 7059"/>
            </a:avLst>
          </a:prstGeom>
          <a:solidFill>
            <a:srgbClr val="FFFFFF"/>
          </a:solidFill>
          <a:ln w="12700">
            <a:solidFill>
              <a:srgbClr val="D6DCEC"/>
            </a:solidFill>
            <a:prstDash val="solid"/>
          </a:ln>
        </p:spPr>
      </p:sp>
      <p:sp>
        <p:nvSpPr>
          <p:cNvPr id="5" name="Text 3"/>
          <p:cNvSpPr/>
          <p:nvPr/>
        </p:nvSpPr>
        <p:spPr>
          <a:xfrm>
            <a:off x="914400" y="1584960"/>
            <a:ext cx="10119360" cy="390144"/>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Evidence Question 1:</a:t>
            </a:r>
            <a:endParaRPr lang="en-US" sz="1300" dirty="0"/>
          </a:p>
        </p:txBody>
      </p:sp>
      <p:sp>
        <p:nvSpPr>
          <p:cNvPr id="6" name="Text 4"/>
          <p:cNvSpPr/>
          <p:nvPr/>
        </p:nvSpPr>
        <p:spPr>
          <a:xfrm>
            <a:off x="914400" y="2011680"/>
            <a:ext cx="10119360" cy="134112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"Name the currency used in each country: the United States, Canada, Mexico, and one Caribbean country. Use a detail from the lesson about one of them."</a:t>
            </a:r>
            <a:endParaRPr lang="en-US" sz="1300" dirty="0"/>
          </a:p>
        </p:txBody>
      </p:sp>
      <p:sp>
        <p:nvSpPr>
          <p:cNvPr id="7" name="Shape 5"/>
          <p:cNvSpPr/>
          <p:nvPr/>
        </p:nvSpPr>
        <p:spPr>
          <a:xfrm>
            <a:off x="609600" y="3657600"/>
            <a:ext cx="10728960" cy="2133600"/>
          </a:xfrm>
          <a:prstGeom prst="roundRect">
            <a:avLst>
              <a:gd name="adj" fmla="val 6857"/>
            </a:avLst>
          </a:prstGeom>
          <a:solidFill>
            <a:srgbClr val="FFFFFF"/>
          </a:solidFill>
          <a:ln w="12700">
            <a:solidFill>
              <a:srgbClr val="D6DCEC"/>
            </a:solidFill>
            <a:prstDash val="solid"/>
          </a:ln>
        </p:spPr>
      </p:sp>
      <p:sp>
        <p:nvSpPr>
          <p:cNvPr id="8" name="Text 6"/>
          <p:cNvSpPr/>
          <p:nvPr/>
        </p:nvSpPr>
        <p:spPr>
          <a:xfrm>
            <a:off x="914400" y="3840480"/>
            <a:ext cx="10119360" cy="390144"/>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Evidence Question 2:</a:t>
            </a:r>
            <a:endParaRPr lang="en-US" sz="1300" dirty="0"/>
          </a:p>
        </p:txBody>
      </p:sp>
      <p:sp>
        <p:nvSpPr>
          <p:cNvPr id="9" name="Text 7"/>
          <p:cNvSpPr/>
          <p:nvPr/>
        </p:nvSpPr>
        <p:spPr>
          <a:xfrm>
            <a:off x="914400" y="4267200"/>
            <a:ext cx="10119360" cy="134112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"How are these four currencies the same? Use one of the four rules of money from yesterday's lesson in your answer."</a:t>
            </a:r>
            <a:endParaRPr lang="en-US" sz="1300" dirty="0"/>
          </a:p>
        </p:txBody>
      </p:sp>
      <p:sp>
        <p:nvSpPr>
          <p:cNvPr id="10" name="Text 8"/>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EVIDENCE &amp; ASSIGNMENT . CURATOR TASK</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Neighbors' Money Display Panel</a:t>
            </a:r>
            <a:endParaRPr lang="en-US" sz="2800" dirty="0"/>
          </a:p>
        </p:txBody>
      </p:sp>
      <p:sp>
        <p:nvSpPr>
          <p:cNvPr id="4" name="Text 2"/>
          <p:cNvSpPr/>
          <p:nvPr/>
        </p:nvSpPr>
        <p:spPr>
          <a:xfrm>
            <a:off x="609600" y="1341120"/>
            <a:ext cx="10728960" cy="1950720"/>
          </a:xfrm>
          <a:prstGeom prst="rect">
            <a:avLst/>
          </a:prstGeom>
          <a:noFill/>
          <a:ln/>
        </p:spPr>
        <p:txBody>
          <a:bodyPr wrap="square" lIns="0" tIns="0" rIns="0" bIns="0"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"Write the panel for the three new sections of the money case. The head curator needs a respectful display panel that introduces visitors to the money of our neighbors. Write a short sentence for each of the three new sections below, naming the currency and giving one fact a visitor would find interesting. Then write a closing sentence that uses the four rules of money to show why every one works."</a:t>
            </a:r>
            <a:endParaRPr lang="en-US" sz="1200" dirty="0"/>
          </a:p>
        </p:txBody>
      </p:sp>
      <p:sp>
        <p:nvSpPr>
          <p:cNvPr id="5" name="Shape 3"/>
          <p:cNvSpPr/>
          <p:nvPr/>
        </p:nvSpPr>
        <p:spPr>
          <a:xfrm>
            <a:off x="609600" y="3352800"/>
            <a:ext cx="10728960" cy="2316480"/>
          </a:xfrm>
          <a:prstGeom prst="roundRect">
            <a:avLst>
              <a:gd name="adj" fmla="val 6316"/>
            </a:avLst>
          </a:prstGeom>
          <a:solidFill>
            <a:srgbClr val="FFFFFF"/>
          </a:solidFill>
          <a:ln w="12700">
            <a:solidFill>
              <a:srgbClr val="D6DCEC"/>
            </a:solidFill>
            <a:prstDash val="solid"/>
          </a:ln>
        </p:spPr>
      </p:sp>
      <p:sp>
        <p:nvSpPr>
          <p:cNvPr id="6" name="Text 4"/>
          <p:cNvSpPr/>
          <p:nvPr/>
        </p:nvSpPr>
        <p:spPr>
          <a:xfrm>
            <a:off x="914400" y="3535680"/>
            <a:ext cx="10119360" cy="18897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Section 1 -- Canada: ____________________________</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Section 2 -- Mexico: ____________________________</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Section 3 -- The Caribbean: ____________________________</a:t>
            </a:r>
            <a:endParaRPr lang="en-US" sz="1200" dirty="0"/>
          </a:p>
        </p:txBody>
      </p:sp>
      <p:sp>
        <p:nvSpPr>
          <p:cNvPr id="7" name="Text 5"/>
          <p:cNvSpPr/>
          <p:nvPr/>
        </p:nvSpPr>
        <p:spPr>
          <a:xfrm>
            <a:off x="609600" y="5791200"/>
            <a:ext cx="10728960" cy="67056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Closing sentence -- Why does every one of these currencies work? (Use at least one of the four rules of money.)</a:t>
            </a:r>
            <a:endParaRPr lang="en-US" sz="1100" dirty="0"/>
          </a:p>
        </p:txBody>
      </p:sp>
      <p:sp>
        <p:nvSpPr>
          <p:cNvPr id="8" name="Text 6"/>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97536"/>
            <a:ext cx="97536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CURATOR'S CHRONICLE</a:t>
            </a:r>
            <a:endParaRPr lang="en-US" sz="1100" dirty="0"/>
          </a:p>
        </p:txBody>
      </p:sp>
      <p:sp>
        <p:nvSpPr>
          <p:cNvPr id="3" name="Text 1"/>
          <p:cNvSpPr/>
          <p:nvPr/>
        </p:nvSpPr>
        <p:spPr>
          <a:xfrm>
            <a:off x="60960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One Sentence to Capture Today</a:t>
            </a:r>
            <a:endParaRPr lang="en-US" sz="2800" dirty="0"/>
          </a:p>
        </p:txBody>
      </p:sp>
      <p:sp>
        <p:nvSpPr>
          <p:cNvPr id="4" name="Shape 2"/>
          <p:cNvSpPr/>
          <p:nvPr/>
        </p:nvSpPr>
        <p:spPr>
          <a:xfrm>
            <a:off x="609600" y="1584960"/>
            <a:ext cx="10728960" cy="1950720"/>
          </a:xfrm>
          <a:prstGeom prst="roundRect">
            <a:avLst>
              <a:gd name="adj" fmla="val 7500"/>
            </a:avLst>
          </a:prstGeom>
          <a:solidFill>
            <a:srgbClr val="FFFFFF"/>
          </a:solidFill>
          <a:ln w="12700">
            <a:solidFill>
              <a:srgbClr val="D6DCEC"/>
            </a:solidFill>
            <a:prstDash val="solid"/>
          </a:ln>
        </p:spPr>
      </p:sp>
      <p:sp>
        <p:nvSpPr>
          <p:cNvPr id="5" name="Text 3"/>
          <p:cNvSpPr/>
          <p:nvPr/>
        </p:nvSpPr>
        <p:spPr>
          <a:xfrm>
            <a:off x="914400" y="1828800"/>
            <a:ext cx="10119360" cy="487680"/>
          </a:xfrm>
          <a:prstGeom prst="rect">
            <a:avLst/>
          </a:prstGeom>
          <a:noFill/>
          <a:ln/>
        </p:spPr>
        <p:txBody>
          <a:bodyPr wrap="square" lIns="0" tIns="0" rIns="0" bIns="0"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Finish this sentence in your own words:</a:t>
            </a:r>
            <a:endParaRPr lang="en-US" sz="1300" dirty="0"/>
          </a:p>
        </p:txBody>
      </p:sp>
      <p:sp>
        <p:nvSpPr>
          <p:cNvPr id="6" name="Text 4"/>
          <p:cNvSpPr/>
          <p:nvPr/>
        </p:nvSpPr>
        <p:spPr>
          <a:xfrm>
            <a:off x="914400" y="2438400"/>
            <a:ext cx="10119360" cy="914400"/>
          </a:xfrm>
          <a:prstGeom prst="rect">
            <a:avLst/>
          </a:prstGeom>
          <a:noFill/>
          <a:ln/>
        </p:spPr>
        <p:txBody>
          <a:bodyPr wrap="square" lIns="0" tIns="0" rIns="0" bIns="0" rtlCol="0" anchor="t"/>
          <a:lstStyle/>
          <a:p>
            <a:pPr algn="ctr" indent="0" marL="0">
              <a:buNone/>
            </a:pPr>
            <a:r>
              <a:rPr lang="en-US" sz="1800" i="1" dirty="0">
                <a:solidFill>
                  <a:srgbClr val="0E1C42"/>
                </a:solidFill>
                <a:latin typeface="Calibri" pitchFamily="34" charset="0"/>
                <a:ea typeface="Calibri" pitchFamily="34" charset="-122"/>
                <a:cs typeface="Calibri" pitchFamily="34" charset="-120"/>
              </a:rPr>
              <a:t>"In this exhibit, I learned that ______ because ______."</a:t>
            </a:r>
            <a:endParaRPr lang="en-US" sz="1800" dirty="0"/>
          </a:p>
        </p:txBody>
      </p:sp>
      <p:sp>
        <p:nvSpPr>
          <p:cNvPr id="7" name="Shape 5"/>
          <p:cNvSpPr/>
          <p:nvPr/>
        </p:nvSpPr>
        <p:spPr>
          <a:xfrm>
            <a:off x="609600" y="3840480"/>
            <a:ext cx="10728960" cy="1828800"/>
          </a:xfrm>
          <a:prstGeom prst="roundRect">
            <a:avLst>
              <a:gd name="adj" fmla="val 8000"/>
            </a:avLst>
          </a:prstGeom>
          <a:solidFill>
            <a:srgbClr val="FFF3DC"/>
          </a:solidFill>
          <a:ln w="19050">
            <a:solidFill>
              <a:srgbClr val="F5E6C8"/>
            </a:solidFill>
            <a:prstDash val="solid"/>
          </a:ln>
        </p:spPr>
      </p:sp>
      <p:sp>
        <p:nvSpPr>
          <p:cNvPr id="8" name="Text 6"/>
          <p:cNvSpPr/>
          <p:nvPr/>
        </p:nvSpPr>
        <p:spPr>
          <a:xfrm>
            <a:off x="792480" y="3913632"/>
            <a:ext cx="10363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4181856"/>
            <a:ext cx="1036320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I'll remember about being courteous is..."</a:t>
            </a:r>
            <a:endParaRPr lang="en-US" sz="1200" dirty="0"/>
          </a:p>
        </p:txBody>
      </p:sp>
      <p:sp>
        <p:nvSpPr>
          <p:cNvPr id="10" name="Text 8"/>
          <p:cNvSpPr/>
          <p:nvPr/>
        </p:nvSpPr>
        <p:spPr>
          <a:xfrm>
            <a:off x="609600" y="6486144"/>
            <a:ext cx="10972800" cy="268224"/>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OAO . Grade 3 Social Studies . Lesson 3.09.05 . Marketplace Hall</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82880"/>
            <a:ext cx="9753600" cy="341376"/>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853440" y="487680"/>
            <a:ext cx="10485120" cy="975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Great Work, Trade &amp; Choice Curator!</a:t>
            </a:r>
            <a:endParaRPr lang="en-US" sz="2800" dirty="0"/>
          </a:p>
        </p:txBody>
      </p:sp>
      <p:sp>
        <p:nvSpPr>
          <p:cNvPr id="7" name="Text 4"/>
          <p:cNvSpPr/>
          <p:nvPr/>
        </p:nvSpPr>
        <p:spPr>
          <a:xfrm>
            <a:off x="853440" y="2072640"/>
            <a:ext cx="10241280" cy="17068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You compared four currencies and wrote a respectful display panel. You can now name the U.S. dollar, the Canadian dollar, the Mexican peso, and at least one Caribbean currency -- and explain why all of them work.</a:t>
            </a:r>
            <a:endParaRPr lang="en-US" sz="1400" dirty="0"/>
          </a:p>
        </p:txBody>
      </p:sp>
      <p:sp>
        <p:nvSpPr>
          <p:cNvPr id="8" name="Shape 5"/>
          <p:cNvSpPr/>
          <p:nvPr/>
        </p:nvSpPr>
        <p:spPr>
          <a:xfrm>
            <a:off x="853440" y="4023360"/>
            <a:ext cx="10241280" cy="1950720"/>
          </a:xfrm>
          <a:prstGeom prst="roundRect">
            <a:avLst>
              <a:gd name="adj" fmla="val 7500"/>
            </a:avLst>
          </a:prstGeom>
          <a:solidFill>
            <a:srgbClr val="12224A"/>
          </a:solidFill>
          <a:ln w="12700">
            <a:solidFill>
              <a:srgbClr val="D6DCEC"/>
            </a:solidFill>
            <a:prstDash val="solid"/>
          </a:ln>
        </p:spPr>
      </p:sp>
      <p:sp>
        <p:nvSpPr>
          <p:cNvPr id="9" name="Text 6"/>
          <p:cNvSpPr/>
          <p:nvPr/>
        </p:nvSpPr>
        <p:spPr>
          <a:xfrm>
            <a:off x="1097280" y="4206240"/>
            <a:ext cx="9753600" cy="426720"/>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Coming Next...</a:t>
            </a:r>
            <a:endParaRPr lang="en-US" sz="1200" dirty="0"/>
          </a:p>
        </p:txBody>
      </p:sp>
      <p:sp>
        <p:nvSpPr>
          <p:cNvPr id="10" name="Text 7"/>
          <p:cNvSpPr/>
          <p:nvPr/>
        </p:nvSpPr>
        <p:spPr>
          <a:xfrm>
            <a:off x="1097280" y="4693920"/>
            <a:ext cx="9753600" cy="1219200"/>
          </a:xfrm>
          <a:prstGeom prst="rect">
            <a:avLst/>
          </a:prstGeom>
          <a:noFill/>
          <a:ln/>
        </p:spPr>
        <p:txBody>
          <a:bodyPr wrap="square" lIns="0" tIns="0" rIns="0" bIns="0" rtlCol="0" anchor="t"/>
          <a:lstStyle/>
          <a:p>
            <a:pPr indent="0" marL="0">
              <a:buNone/>
            </a:pPr>
            <a:r>
              <a:rPr lang="en-US" sz="1200" dirty="0">
                <a:solidFill>
                  <a:srgbClr val="D6E4FA"/>
                </a:solidFill>
                <a:latin typeface="Calibri" pitchFamily="34" charset="0"/>
                <a:ea typeface="Calibri" pitchFamily="34" charset="-122"/>
                <a:cs typeface="Calibri" pitchFamily="34" charset="-120"/>
              </a:rPr>
              <a:t>A large folded map appeared on the curator's desk overnight, with thin arrows drawn between regions of North America and the Caribbean. Tomorrow you'll trace the arrows -- and find out why oranges, wheat, oil, and sugar all travel further than you might think.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2026-07-11T19:11:34Z</dcterms:created>
  <dcterms:modified xsi:type="dcterms:W3CDTF">2026-07-11T19:11:34Z</dcterms:modified>
</cp:coreProperties>
</file>